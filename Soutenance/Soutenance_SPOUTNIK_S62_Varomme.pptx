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B3D5C"/>
                </a:solidFill>
                <a:latin typeface="Arial"/>
              </a:defRPr>
            </a:pPr>
            <a:r>
              <a:rPr sz="1100" b="0" i="0" u="none" strike="noStrike">
                <a:solidFill>
                  <a:srgbClr val="0B3D5C"/>
                </a:solidFill>
                <a:latin typeface="Arial"/>
              </a:rPr>
              <a:t>CAC vs LTV — équilibre fragile</a:t>
            </a:r>
          </a:p>
        </c:rich>
      </c:tx>
      <c:layout/>
      <c:overlay val="0"/>
    </c:title>
    <c:autoTitleDeleted val="0"/>
    <c:plotArea>
      <c:layout/>
      <c:barChart>
        <c:barDir val="col"/>
        <c:grouping val="clustered"/>
        <c:varyColors val="0"/>
        <c:ser>
          <c:idx val="0"/>
          <c:order val="0"/>
          <c:tx>
            <c:strRef>
              <c:f>Sheet1!$B$1</c:f>
              <c:strCache>
                <c:ptCount val="1"/>
                <c:pt idx="0">
                  <c:v>Montant (€)</c:v>
                </c:pt>
              </c:strCache>
            </c:strRef>
          </c:tx>
          <c:spPr>
            <a:solidFill>
              <a:srgbClr val="E8743B"/>
            </a:solidFill>
            <a:effectLst/>
          </c:spPr>
          <c:invertIfNegative val="0"/>
          <c:dLbls>
            <c:numFmt formatCode="#,##0" sourceLinked="0"/>
            <c:txPr>
              <a:bodyPr/>
              <a:lstStyle/>
              <a:p>
                <a:pPr>
                  <a:defRPr b="0" i="0" strike="noStrike" sz="1100" u="none">
                    <a:solidFill>
                      <a:srgbClr val="0B3D5C"/>
                    </a:solidFill>
                    <a:latin typeface="Arial"/>
                  </a:defRPr>
                </a:pPr>
              </a:p>
            </c:txPr>
            <c:showLegendKey val="0"/>
            <c:showVal val="1"/>
            <c:showCatName val="0"/>
            <c:showSerName val="0"/>
            <c:showPercent val="0"/>
            <c:showBubbleSize val="0"/>
            <c:showLeaderLines val="0"/>
          </c:dLbls>
          <c:dPt>
            <c:idx val="0"/>
            <c:invertIfNegative val="0"/>
            <c:bubble3D val="0"/>
            <c:spPr>
              <a:solidFill>
                <a:srgbClr val="E8743B"/>
              </a:solidFill>
              <a:effectLst/>
            </c:spPr>
          </c:dPt>
          <c:dPt>
            <c:idx val="1"/>
            <c:invertIfNegative val="0"/>
            <c:bubble3D val="0"/>
            <c:spPr>
              <a:solidFill>
                <a:srgbClr val="1C7293"/>
              </a:solidFill>
              <a:effectLst/>
            </c:spPr>
          </c:dPt>
          <c:cat>
            <c:multiLvlStrRef>
              <c:f>Sheet1!$A$2:$A$3</c:f>
              <c:multiLvlStrCache>
                <c:ptCount val="2"/>
                <c:lvl>
                  <c:pt idx="0">
                    <c:v>CAC cold calling</c:v>
                  </c:pt>
                  <c:pt idx="1">
                    <c:v>LTV nette (14 mois)</c:v>
                  </c:pt>
                </c:lvl>
              </c:multiLvlStrCache>
            </c:multiLvlStrRef>
          </c:cat>
          <c:val>
            <c:numRef>
              <c:f>Sheet1!$B$2:$B$3</c:f>
              <c:numCache>
                <c:formatCode>General</c:formatCode>
                <c:ptCount val="2"/>
                <c:pt idx="0">
                  <c:v>455</c:v>
                </c:pt>
                <c:pt idx="1">
                  <c:v>460</c:v>
                </c:pt>
              </c:numCache>
            </c:numRef>
          </c:val>
        </c:ser>
        <c:dLbls>
          <c:numFmt formatCode="#,##0" sourceLinked="0"/>
          <c:txPr>
            <a:bodyPr/>
            <a:lstStyle/>
            <a:p>
              <a:pPr>
                <a:defRPr b="0" i="0" strike="noStrike" sz="1100" u="none">
                  <a:solidFill>
                    <a:srgbClr val="0B3D5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B6B73"/>
                </a:solidFill>
                <a:latin typeface="Arial"/>
              </a:defRPr>
            </a:pPr>
            <a:endParaRPr lang="en-US"/>
          </a:p>
        </c:txPr>
        <c:crossAx val="2094734552"/>
        <c:crosses val="autoZero"/>
        <c:auto val="1"/>
        <c:lblAlgn val="ctr"/>
        <c:noMultiLvlLbl val="1"/>
      </c:catAx>
      <c:valAx>
        <c:axId val="2094734552"/>
        <c:scaling>
          <c:orientation val="minMax"/>
          <c:max val="550"/>
          <c:min val="0"/>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73"/>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Avant</c:v>
                </c:pt>
              </c:strCache>
            </c:strRef>
          </c:tx>
          <c:spPr>
            <a:solidFill>
              <a:srgbClr val="C7D6DB"/>
            </a:solidFill>
            <a:effectLst/>
          </c:spPr>
          <c:invertIfNegative val="0"/>
          <c:dLbls>
            <c:numFmt formatCode="#,##0" sourceLinked="0"/>
            <c:txPr>
              <a:bodyPr/>
              <a:lstStyle/>
              <a:p>
                <a:pPr>
                  <a:defRPr b="0" i="0" strike="noStrike" sz="1050" u="none">
                    <a:solidFill>
                      <a:srgbClr val="0B3D5C"/>
                    </a:solidFill>
                    <a:latin typeface="Arial"/>
                  </a:defRPr>
                </a:pPr>
              </a:p>
            </c:txPr>
            <c:showLegendKey val="0"/>
            <c:showVal val="1"/>
            <c:showCatName val="0"/>
            <c:showSerName val="0"/>
            <c:showPercent val="0"/>
            <c:showBubbleSize val="0"/>
            <c:showLeaderLines val="0"/>
          </c:dLbls>
          <c:cat>
            <c:multiLvlStrRef>
              <c:f>Sheet1!$A$2:$A$3</c:f>
              <c:multiLvlStrCache>
                <c:ptCount val="2"/>
                <c:lvl>
                  <c:pt idx="0">
                    <c:v>Avis Google (nb)</c:v>
                  </c:pt>
                  <c:pt idx="1">
                    <c:v>Score GBP (/100)</c:v>
                  </c:pt>
                </c:lvl>
              </c:multiLvlStrCache>
            </c:multiLvlStrRef>
          </c:cat>
          <c:val>
            <c:numRef>
              <c:f>Sheet1!$B$2:$B$3</c:f>
              <c:numCache>
                <c:formatCode>General</c:formatCode>
                <c:ptCount val="2"/>
                <c:pt idx="0">
                  <c:v>47</c:v>
                </c:pt>
                <c:pt idx="1">
                  <c:v>28</c:v>
                </c:pt>
              </c:numCache>
            </c:numRef>
          </c:val>
        </c:ser>
        <c:ser>
          <c:idx val="1"/>
          <c:order val="1"/>
          <c:tx>
            <c:strRef>
              <c:f>Sheet1!$C$1</c:f>
              <c:strCache>
                <c:ptCount val="1"/>
                <c:pt idx="0">
                  <c:v>Après 2 mois</c:v>
                </c:pt>
              </c:strCache>
            </c:strRef>
          </c:tx>
          <c:spPr>
            <a:solidFill>
              <a:srgbClr val="E8743B"/>
            </a:solidFill>
            <a:effectLst/>
          </c:spPr>
          <c:invertIfNegative val="0"/>
          <c:dLbls>
            <c:numFmt formatCode="#,##0" sourceLinked="0"/>
            <c:txPr>
              <a:bodyPr/>
              <a:lstStyle/>
              <a:p>
                <a:pPr>
                  <a:defRPr b="0" i="0" strike="noStrike" sz="1050" u="none">
                    <a:solidFill>
                      <a:srgbClr val="0B3D5C"/>
                    </a:solidFill>
                    <a:latin typeface="Arial"/>
                  </a:defRPr>
                </a:pPr>
              </a:p>
            </c:txPr>
            <c:showLegendKey val="0"/>
            <c:showVal val="1"/>
            <c:showCatName val="0"/>
            <c:showSerName val="0"/>
            <c:showPercent val="0"/>
            <c:showBubbleSize val="0"/>
            <c:showLeaderLines val="0"/>
          </c:dLbls>
          <c:cat>
            <c:multiLvlStrRef>
              <c:f>Sheet1!$A$2:$A$3</c:f>
              <c:multiLvlStrCache>
                <c:ptCount val="2"/>
                <c:lvl>
                  <c:pt idx="0">
                    <c:v>Avis Google (nb)</c:v>
                  </c:pt>
                  <c:pt idx="1">
                    <c:v>Score GBP (/100)</c:v>
                  </c:pt>
                </c:lvl>
              </c:multiLvlStrCache>
            </c:multiLvlStrRef>
          </c:cat>
          <c:val>
            <c:numRef>
              <c:f>Sheet1!$C$2:$C$3</c:f>
              <c:numCache>
                <c:formatCode>General</c:formatCode>
                <c:ptCount val="2"/>
                <c:pt idx="0">
                  <c:v>83</c:v>
                </c:pt>
                <c:pt idx="1">
                  <c:v>70</c:v>
                </c:pt>
              </c:numCache>
            </c:numRef>
          </c:val>
        </c:ser>
        <c:dLbls>
          <c:numFmt formatCode="#,##0" sourceLinked="0"/>
          <c:txPr>
            <a:bodyPr/>
            <a:lstStyle/>
            <a:p>
              <a:pPr>
                <a:defRPr b="0" i="0" strike="noStrike" sz="1050" u="none">
                  <a:solidFill>
                    <a:srgbClr val="0B3D5C"/>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7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50">
              <a:solidFill>
                <a:srgbClr val="5B6B73"/>
              </a:solidFil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CA annuel HT (€)</c:v>
                </c:pt>
              </c:strCache>
            </c:strRef>
          </c:tx>
          <c:spPr>
            <a:solidFill>
              <a:srgbClr val="1C7293"/>
            </a:solidFill>
            <a:effectLst/>
          </c:spPr>
          <c:invertIfNegative val="0"/>
          <c:dLbls>
            <c:numFmt formatCode="#,##0€" sourceLinked="0"/>
            <c:txPr>
              <a:bodyPr/>
              <a:lstStyle/>
              <a:p>
                <a:pPr>
                  <a:defRPr b="0" i="0" strike="noStrike" sz="1050" u="none">
                    <a:solidFill>
                      <a:srgbClr val="0B3D5C"/>
                    </a:solidFill>
                    <a:latin typeface="Arial"/>
                  </a:defRPr>
                </a:pPr>
              </a:p>
            </c:txPr>
            <c:showLegendKey val="0"/>
            <c:showVal val="1"/>
            <c:showCatName val="0"/>
            <c:showSerName val="0"/>
            <c:showPercent val="0"/>
            <c:showBubbleSize val="0"/>
            <c:showLeaderLines val="0"/>
          </c:dLbls>
          <c:cat>
            <c:multiLvlStrRef>
              <c:f>Sheet1!$A$2:$A$4</c:f>
              <c:multiLvlStrCache>
                <c:ptCount val="3"/>
                <c:lvl>
                  <c:pt idx="0">
                    <c:v>Conservateur
5 clients</c:v>
                  </c:pt>
                  <c:pt idx="1">
                    <c:v>Réaliste
10 clients</c:v>
                  </c:pt>
                  <c:pt idx="2">
                    <c:v>Optimiste
15 clients</c:v>
                  </c:pt>
                </c:lvl>
              </c:multiLvlStrCache>
            </c:multiLvlStrRef>
          </c:cat>
          <c:val>
            <c:numRef>
              <c:f>Sheet1!$B$2:$B$4</c:f>
              <c:numCache>
                <c:formatCode>General</c:formatCode>
                <c:ptCount val="3"/>
                <c:pt idx="0">
                  <c:v>23400</c:v>
                </c:pt>
                <c:pt idx="1">
                  <c:v>46800</c:v>
                </c:pt>
                <c:pt idx="2">
                  <c:v>70200</c:v>
                </c:pt>
              </c:numCache>
            </c:numRef>
          </c:val>
        </c:ser>
        <c:dLbls>
          <c:numFmt formatCode="#,##0€" sourceLinked="0"/>
          <c:txPr>
            <a:bodyPr/>
            <a:lstStyle/>
            <a:p>
              <a:pPr>
                <a:defRPr b="0" i="0" strike="noStrike" sz="1050" u="none">
                  <a:solidFill>
                    <a:srgbClr val="0B3D5C"/>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5B6B7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73"/>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ACCROCHE: Ne pas lire le titre. Ouvrir par l'insight terrain en une phrase: 'Pendant 9 mois, une question m'a ete posee en boucle par mes prospects: pouvez-vous nous amener des clients ? C'est cette question qui est devenue le coeur de ce rapport.' Sourire, regarder le jury, poser la voix. Ne pas commencer par 'je vais vous presenter'.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'Avant d'entrer dans le sujet, une minute sur mon parcours pour que vous compreniez le regard que j'ai porte sur cette mission.' Rester bref ici (30s max), le jury veut arriver vite au sujet.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'Cinq temps pour repondre a une question simple: comment differencier My Sport Session sur un marche sature.' Ne pas lire les 5 lignes, juste les annoncer d'une phrase fluide chacune.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Points a defendre si question: pourquoi 41 clients seulement pour une startup de 2019? Reponse: produit B2B niche, cycle de vente long, structure bootstrappee. Le vrai sujet arrive juste apres (CAC/LTV).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vers le diagnostic: 'Pour comprendre ce signal, il a fallu poser un diagnostic complet de l'entreprise et de son marche.' Insister sur le fait que la problematique EMERGE du diagnostic, pas l'inverse.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Anticiper question 'pourquoi pas d'app mobile?': cout de developpement trop eleve pour la taille de l'equipe, choix delibere de prioriser le mini-site SEO, differenciateur unique. Garder ce point en reserve pour les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slide pivot du diagnostic. Dire clairement: 'L'acquisition fonctionne a l'equilibre, mais le vrai gisement de valeur est la fidelisation.' Si question sur le calcul du CAC: detailler salaires bizdev + Brevo + telephone sur 3 mois divise par 14 clients attribues.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CLE: marquer un silence de 2 secondes avant de lire la problematique. Parler lentement, articuler. Ne pas lire ce slide en entier rapidement: c'est le moment ou le jury doit suivre votre raisonnement, pas votre texte.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'Face a ce diagnostic, j'ai propose une troisieme voie.' Mentionner brievement les options 1 et 2 ecartees (module SaaS interne, statu quo) avant d'arriver au DFY -- le jury demande souvent pourquoi pas une fonctionnalite logicielle.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le mot 'independant du logiciel' -- c'est l'argument qui prouve que le modele n'est pas un simple argument de vente pour My Sport Session, mais une vraie activite de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question 'est-ce significatif sur seulement 2 mois?': reconnaitre la limite vous-meme avant qu'on vous la pose -- c'est ecrit sur le slide. Dire: 'C'est un signal precoce, l'objectif de cette phase etait de valider que les clients sont prets a payer, pas encore de prouver la performance a grande echelle.'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Assumer la transparence: ce client n'a pas encore de resultats, et c'est normal de le dire au jury -- ca renforce la credibilite plutot que de l'affaiblir. Si question sur la deontologie: capacite a anticiper un risque reglementaire avant d'agir = competence valorisee par le jury.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question sur le pricing 390 euros: comparer au prix d'une agence classique (1500-5000E/mois) pour montrer le positionnement -- toujours 4 a 10 fois moins cher tout en restant tres rentable pour My Sport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Montrer la maturite analytique: un growth hacker qui anticipe la capacite operationnelle, pas seulement l'acquisition. Si question 'et si vous recrutez?': dire que la standardisation est prioritaire avant tout recrutement, pour ne pas degrader la marge.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vision reste a construire (pas encore prouvee) -- le dire clairement si on vous le demande: 'la logique strategique est solide, la preuve reste a faire sur les 12 prochains mois.'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slide est plus personnelle: ralentir le rythme, sourire, regard direct vers le jury. C'est le moment ou le jury evalue aussi la posture, pas seulement le contenu.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OUVERTURE volontaire pour orienter les questions: mentionner l'extension TPE/PME sans la developper completement -- le jury posera probablement une question dessus, terrain que vous maitrisez.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se rasseoir trop vite. Garder une posture ouverte, sourire, attendre la premiere question avec calme. Si question sans reponse immediate: ne jamais dire 'je ne sais pas' -- expliquer la donnee non disponible ou comment vous procederiez pour l'obtenir.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chart" Target="/ppt/charts/chart1.xml"/><Relationship Id="rId1" Type="http://schemas.openxmlformats.org/officeDocument/2006/relationships/image" Target="../media/image-7-1.png"/><Relationship Id="rId2" Type="http://schemas.openxmlformats.org/officeDocument/2006/relationships/image" Target="../media/image-7-2.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11-1.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2A4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3D5C">
              <a:alpha val="75000"/>
            </a:srgbClr>
          </a:solidFill>
          <a:ln/>
        </p:spPr>
      </p:sp>
      <p:sp>
        <p:nvSpPr>
          <p:cNvPr id="3" name="Shape 1"/>
          <p:cNvSpPr/>
          <p:nvPr/>
        </p:nvSpPr>
        <p:spPr>
          <a:xfrm>
            <a:off x="6675120" y="-1463040"/>
            <a:ext cx="4114800" cy="4114800"/>
          </a:xfrm>
          <a:prstGeom prst="ellipse">
            <a:avLst/>
          </a:prstGeom>
          <a:solidFill>
            <a:srgbClr val="1C7293">
              <a:alpha val="22000"/>
            </a:srgbClr>
          </a:solidFill>
          <a:ln/>
        </p:spPr>
      </p:sp>
      <p:sp>
        <p:nvSpPr>
          <p:cNvPr id="4" name="Shape 2"/>
          <p:cNvSpPr/>
          <p:nvPr/>
        </p:nvSpPr>
        <p:spPr>
          <a:xfrm>
            <a:off x="-1463040" y="3291840"/>
            <a:ext cx="3291840" cy="3291840"/>
          </a:xfrm>
          <a:prstGeom prst="ellipse">
            <a:avLst/>
          </a:prstGeom>
          <a:solidFill>
            <a:srgbClr val="E8743B">
              <a:alpha val="15000"/>
            </a:srgbClr>
          </a:solidFill>
          <a:ln/>
        </p:spPr>
      </p:sp>
      <p:sp>
        <p:nvSpPr>
          <p:cNvPr id="5" name="Text 3"/>
          <p:cNvSpPr/>
          <p:nvPr/>
        </p:nvSpPr>
        <p:spPr>
          <a:xfrm>
            <a:off x="640080" y="640080"/>
            <a:ext cx="7863840" cy="320040"/>
          </a:xfrm>
          <a:prstGeom prst="rect">
            <a:avLst/>
          </a:prstGeom>
          <a:noFill/>
          <a:ln/>
        </p:spPr>
        <p:txBody>
          <a:bodyPr wrap="square" lIns="0" tIns="0" rIns="0" bIns="0" rtlCol="0" anchor="ctr"/>
          <a:lstStyle/>
          <a:p>
            <a:pPr indent="0" marL="0">
              <a:buNone/>
            </a:pPr>
            <a:r>
              <a:rPr lang="en-US" sz="1300" b="1" spc="200" kern="0" dirty="0">
                <a:solidFill>
                  <a:srgbClr val="E8743B"/>
                </a:solidFill>
                <a:latin typeface="Arial" pitchFamily="34" charset="0"/>
                <a:ea typeface="Arial" pitchFamily="34" charset="-122"/>
                <a:cs typeface="Arial" pitchFamily="34" charset="-120"/>
              </a:rPr>
              <a:t>SOUTENANCE — RAPPORT DE MISSION</a:t>
            </a:r>
            <a:endParaRPr lang="en-US" sz="1300" dirty="0"/>
          </a:p>
        </p:txBody>
      </p:sp>
      <p:sp>
        <p:nvSpPr>
          <p:cNvPr id="6" name="Text 4"/>
          <p:cNvSpPr/>
          <p:nvPr/>
        </p:nvSpPr>
        <p:spPr>
          <a:xfrm>
            <a:off x="640080" y="1097280"/>
            <a:ext cx="7863840" cy="1554480"/>
          </a:xfrm>
          <a:prstGeom prst="rect">
            <a:avLst/>
          </a:prstGeom>
          <a:noFill/>
          <a:ln/>
        </p:spPr>
        <p:txBody>
          <a:bodyPr wrap="square" lIns="0" tIns="0" rIns="0" bIns="0" rtlCol="0" anchor="ctr"/>
          <a:lstStyle/>
          <a:p>
            <a:pPr indent="0" marL="0">
              <a:lnSpc>
                <a:spcPct val="105000"/>
              </a:lnSpc>
              <a:buNone/>
            </a:pPr>
            <a:r>
              <a:rPr lang="en-US" sz="3600" b="1" dirty="0">
                <a:solidFill>
                  <a:srgbClr val="FFFFFF"/>
                </a:solidFill>
                <a:latin typeface="Arial" pitchFamily="34" charset="0"/>
                <a:ea typeface="Arial" pitchFamily="34" charset="-122"/>
                <a:cs typeface="Arial" pitchFamily="34" charset="-120"/>
              </a:rPr>
              <a:t>Du logiciel de réservation</a:t>
            </a:r>
            <a:endParaRPr lang="en-US" sz="3600" dirty="0"/>
          </a:p>
          <a:p>
            <a:pPr indent="0" marL="0">
              <a:lnSpc>
                <a:spcPct val="105000"/>
              </a:lnSpc>
              <a:buNone/>
            </a:pPr>
            <a:r>
              <a:rPr lang="en-US" sz="3600" b="1" dirty="0">
                <a:solidFill>
                  <a:srgbClr val="FFFFFF"/>
                </a:solidFill>
                <a:latin typeface="Arial" pitchFamily="34" charset="0"/>
                <a:ea typeface="Arial" pitchFamily="34" charset="-122"/>
                <a:cs typeface="Arial" pitchFamily="34" charset="-120"/>
              </a:rPr>
              <a:t>au partenaire de croissance</a:t>
            </a:r>
            <a:endParaRPr lang="en-US" sz="3600" dirty="0"/>
          </a:p>
        </p:txBody>
      </p:sp>
      <p:sp>
        <p:nvSpPr>
          <p:cNvPr id="7" name="Shape 5"/>
          <p:cNvSpPr/>
          <p:nvPr/>
        </p:nvSpPr>
        <p:spPr>
          <a:xfrm>
            <a:off x="658368" y="2743200"/>
            <a:ext cx="1463040" cy="0"/>
          </a:xfrm>
          <a:prstGeom prst="line">
            <a:avLst/>
          </a:prstGeom>
          <a:noFill/>
          <a:ln w="38100">
            <a:solidFill>
              <a:srgbClr val="E8743B"/>
            </a:solidFill>
            <a:prstDash val="solid"/>
          </a:ln>
        </p:spPr>
      </p:sp>
      <p:sp>
        <p:nvSpPr>
          <p:cNvPr id="8" name="Text 6"/>
          <p:cNvSpPr/>
          <p:nvPr/>
        </p:nvSpPr>
        <p:spPr>
          <a:xfrm>
            <a:off x="640080" y="2926080"/>
            <a:ext cx="7589520" cy="822960"/>
          </a:xfrm>
          <a:prstGeom prst="rect">
            <a:avLst/>
          </a:prstGeom>
          <a:noFill/>
          <a:ln/>
        </p:spPr>
        <p:txBody>
          <a:bodyPr wrap="square" lIns="0" tIns="0" rIns="0" bIns="0" rtlCol="0" anchor="ctr"/>
          <a:lstStyle/>
          <a:p>
            <a:pPr indent="0" marL="0">
              <a:lnSpc>
                <a:spcPct val="120000"/>
              </a:lnSpc>
              <a:buNone/>
            </a:pPr>
            <a:r>
              <a:rPr lang="en-US" sz="1400" i="1" dirty="0">
                <a:solidFill>
                  <a:srgbClr val="C7DCE3"/>
                </a:solidFill>
                <a:latin typeface="Arial" pitchFamily="34" charset="0"/>
                <a:ea typeface="Arial" pitchFamily="34" charset="-122"/>
                <a:cs typeface="Arial" pitchFamily="34" charset="-120"/>
              </a:rPr>
              <a:t>Comment l’élargissement vers le marketing opérationnel transforme l’acquisition</a:t>
            </a:r>
            <a:endParaRPr lang="en-US" sz="1400" dirty="0"/>
          </a:p>
          <a:p>
            <a:pPr indent="0" marL="0">
              <a:lnSpc>
                <a:spcPct val="120000"/>
              </a:lnSpc>
              <a:buNone/>
            </a:pPr>
            <a:r>
              <a:rPr lang="en-US" sz="1400" i="1" dirty="0">
                <a:solidFill>
                  <a:srgbClr val="C7DCE3"/>
                </a:solidFill>
                <a:latin typeface="Arial" pitchFamily="34" charset="0"/>
                <a:ea typeface="Arial" pitchFamily="34" charset="-122"/>
                <a:cs typeface="Arial" pitchFamily="34" charset="-120"/>
              </a:rPr>
              <a:t>et la fidélisation de My Sport Session sur un marché fortement concurrentiel</a:t>
            </a:r>
            <a:endParaRPr lang="en-US" sz="1400" dirty="0"/>
          </a:p>
        </p:txBody>
      </p:sp>
      <p:sp>
        <p:nvSpPr>
          <p:cNvPr id="9" name="Text 7"/>
          <p:cNvSpPr/>
          <p:nvPr/>
        </p:nvSpPr>
        <p:spPr>
          <a:xfrm>
            <a:off x="640080" y="4114800"/>
            <a:ext cx="7863840" cy="868680"/>
          </a:xfrm>
          <a:prstGeom prst="rect">
            <a:avLst/>
          </a:prstGeom>
          <a:noFill/>
          <a:ln/>
        </p:spPr>
        <p:txBody>
          <a:bodyPr wrap="square" lIns="0" tIns="0" rIns="0" bIns="0" rtlCol="0" anchor="ctr"/>
          <a:lstStyle/>
          <a:p>
            <a:pPr indent="0" marL="0">
              <a:lnSpc>
                <a:spcPct val="135000"/>
              </a:lnSpc>
              <a:buNone/>
            </a:pPr>
            <a:r>
              <a:rPr lang="en-US" sz="1250" b="1" dirty="0">
                <a:solidFill>
                  <a:srgbClr val="FFFFFF"/>
                </a:solidFill>
                <a:latin typeface="Arial" pitchFamily="34" charset="0"/>
                <a:ea typeface="Arial" pitchFamily="34" charset="-122"/>
                <a:cs typeface="Arial" pitchFamily="34" charset="-120"/>
              </a:rPr>
              <a:t>Pascal Varomme</a:t>
            </a:r>
            <a:endParaRPr lang="en-US" sz="1250" dirty="0"/>
          </a:p>
          <a:p>
            <a:pPr indent="0" marL="0">
              <a:lnSpc>
                <a:spcPct val="135000"/>
              </a:lnSpc>
              <a:buNone/>
            </a:pPr>
            <a:r>
              <a:rPr lang="en-US" sz="1250" dirty="0">
                <a:solidFill>
                  <a:srgbClr val="FFFFFF"/>
                </a:solidFill>
                <a:latin typeface="Arial" pitchFamily="34" charset="0"/>
                <a:ea typeface="Arial" pitchFamily="34" charset="-122"/>
                <a:cs typeface="Arial" pitchFamily="34" charset="-120"/>
              </a:rPr>
              <a:t>Bachelor Growth Hacking · Promotion SPOUTNIK S62 · Rocket School</a:t>
            </a:r>
            <a:endParaRPr lang="en-US" sz="1250" dirty="0"/>
          </a:p>
          <a:p>
            <a:pPr indent="0" marL="0">
              <a:lnSpc>
                <a:spcPct val="135000"/>
              </a:lnSpc>
              <a:buNone/>
            </a:pPr>
            <a:r>
              <a:rPr lang="en-US" sz="1250" dirty="0">
                <a:solidFill>
                  <a:srgbClr val="FFFFFF"/>
                </a:solidFill>
                <a:latin typeface="Arial" pitchFamily="34" charset="0"/>
                <a:ea typeface="Arial" pitchFamily="34" charset="-122"/>
                <a:cs typeface="Arial" pitchFamily="34" charset="-120"/>
              </a:rPr>
              <a:t>My Sport Session · Tuteur : Stanislas Giraud, Président</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92608"/>
            <a:ext cx="8321040" cy="256032"/>
          </a:xfrm>
          <a:prstGeom prst="rect">
            <a:avLst/>
          </a:prstGeom>
          <a:noFill/>
          <a:ln/>
        </p:spPr>
        <p:txBody>
          <a:bodyPr wrap="square" lIns="0" tIns="0" rIns="0" bIns="0" rtlCol="0" anchor="ctr"/>
          <a:lstStyle/>
          <a:p>
            <a:pPr indent="0" marL="0">
              <a:buNone/>
            </a:pPr>
            <a:r>
              <a:rPr lang="en-US" sz="1100" b="1" spc="150" kern="0" dirty="0">
                <a:solidFill>
                  <a:srgbClr val="E8743B"/>
                </a:solidFill>
                <a:latin typeface="Arial" pitchFamily="34" charset="0"/>
                <a:ea typeface="Arial" pitchFamily="34" charset="-122"/>
                <a:cs typeface="Arial" pitchFamily="34" charset="-120"/>
              </a:rPr>
              <a:t>AVANT DE COMMENCER</a:t>
            </a:r>
            <a:endParaRPr lang="en-US" sz="1100" dirty="0"/>
          </a:p>
        </p:txBody>
      </p:sp>
      <p:sp>
        <p:nvSpPr>
          <p:cNvPr id="3" name="Text 1"/>
          <p:cNvSpPr/>
          <p:nvPr/>
        </p:nvSpPr>
        <p:spPr>
          <a:xfrm>
            <a:off x="411480" y="530352"/>
            <a:ext cx="8321040" cy="566928"/>
          </a:xfrm>
          <a:prstGeom prst="rect">
            <a:avLst/>
          </a:prstGeom>
          <a:noFill/>
          <a:ln/>
        </p:spPr>
        <p:txBody>
          <a:bodyPr wrap="square" lIns="0" tIns="0" rIns="0" bIns="0" rtlCol="0" anchor="t"/>
          <a:lstStyle/>
          <a:p>
            <a:pPr indent="0" marL="0">
              <a:buNone/>
            </a:pPr>
            <a:r>
              <a:rPr lang="en-US" sz="2500" b="1" dirty="0">
                <a:solidFill>
                  <a:srgbClr val="0B3D5C"/>
                </a:solidFill>
                <a:latin typeface="Arial" pitchFamily="34" charset="0"/>
                <a:ea typeface="Arial" pitchFamily="34" charset="-122"/>
                <a:cs typeface="Arial" pitchFamily="34" charset="-120"/>
              </a:rPr>
              <a:t>Qui suis-je ?</a:t>
            </a:r>
            <a:endParaRPr lang="en-US" sz="2500" dirty="0"/>
          </a:p>
        </p:txBody>
      </p:sp>
      <p:sp>
        <p:nvSpPr>
          <p:cNvPr id="4" name="Shape 2"/>
          <p:cNvSpPr/>
          <p:nvPr/>
        </p:nvSpPr>
        <p:spPr>
          <a:xfrm>
            <a:off x="411480" y="1143000"/>
            <a:ext cx="2679192" cy="3246120"/>
          </a:xfrm>
          <a:prstGeom prst="roundRect">
            <a:avLst>
              <a:gd name="adj" fmla="val 2730"/>
            </a:avLst>
          </a:prstGeom>
          <a:solidFill>
            <a:srgbClr val="EDF2F4"/>
          </a:solidFill>
          <a:ln/>
          <a:effectLst>
            <a:outerShdw sx="100000" sy="100000" kx="0" ky="0" algn="bl" rotWithShape="0" blurRad="88900" dist="25400" dir="5400000">
              <a:srgbClr val="0B3D5C">
                <a:alpha val="12000"/>
              </a:srgbClr>
            </a:outerShdw>
          </a:effectLst>
        </p:spPr>
      </p:sp>
      <p:sp>
        <p:nvSpPr>
          <p:cNvPr id="5" name="Shape 3"/>
          <p:cNvSpPr/>
          <p:nvPr/>
        </p:nvSpPr>
        <p:spPr>
          <a:xfrm>
            <a:off x="630936" y="1325880"/>
            <a:ext cx="640080" cy="640080"/>
          </a:xfrm>
          <a:prstGeom prst="ellipse">
            <a:avLst/>
          </a:prstGeom>
          <a:solidFill>
            <a:srgbClr val="0B3D5C"/>
          </a:solidFill>
          <a:ln/>
        </p:spPr>
      </p:sp>
      <p:pic>
        <p:nvPicPr>
          <p:cNvPr id="6" name="Image 0" descr="preencoded.png">    </p:cNvPr>
          <p:cNvPicPr>
            <a:picLocks noChangeAspect="1"/>
          </p:cNvPicPr>
          <p:nvPr/>
        </p:nvPicPr>
        <p:blipFill>
          <a:blip r:embed="rId1"/>
          <a:stretch>
            <a:fillRect/>
          </a:stretch>
        </p:blipFill>
        <p:spPr>
          <a:xfrm>
            <a:off x="797357" y="1492301"/>
            <a:ext cx="307238" cy="307238"/>
          </a:xfrm>
          <a:prstGeom prst="rect">
            <a:avLst/>
          </a:prstGeom>
        </p:spPr>
      </p:pic>
      <p:sp>
        <p:nvSpPr>
          <p:cNvPr id="7" name="Text 4"/>
          <p:cNvSpPr/>
          <p:nvPr/>
        </p:nvSpPr>
        <p:spPr>
          <a:xfrm>
            <a:off x="630936" y="2057400"/>
            <a:ext cx="2221992" cy="640080"/>
          </a:xfrm>
          <a:prstGeom prst="rect">
            <a:avLst/>
          </a:prstGeom>
          <a:noFill/>
          <a:ln/>
        </p:spPr>
        <p:txBody>
          <a:bodyPr wrap="square" lIns="0" tIns="0" rIns="0" bIns="0" rtlCol="0" anchor="t"/>
          <a:lstStyle/>
          <a:p>
            <a:pPr indent="0" marL="0">
              <a:lnSpc>
                <a:spcPct val="110000"/>
              </a:lnSpc>
              <a:buNone/>
            </a:pPr>
            <a:r>
              <a:rPr lang="en-US" sz="1400" b="1" dirty="0">
                <a:solidFill>
                  <a:srgbClr val="0B3D5C"/>
                </a:solidFill>
                <a:latin typeface="Arial" pitchFamily="34" charset="0"/>
                <a:ea typeface="Arial" pitchFamily="34" charset="-122"/>
                <a:cs typeface="Arial" pitchFamily="34" charset="-120"/>
              </a:rPr>
              <a:t>27 ans de terrain commercial</a:t>
            </a:r>
            <a:endParaRPr lang="en-US" sz="1400" dirty="0"/>
          </a:p>
        </p:txBody>
      </p:sp>
      <p:sp>
        <p:nvSpPr>
          <p:cNvPr id="8" name="Text 5"/>
          <p:cNvSpPr/>
          <p:nvPr/>
        </p:nvSpPr>
        <p:spPr>
          <a:xfrm>
            <a:off x="630936" y="2697480"/>
            <a:ext cx="2240280" cy="1554480"/>
          </a:xfrm>
          <a:prstGeom prst="rect">
            <a:avLst/>
          </a:prstGeom>
          <a:noFill/>
          <a:ln/>
        </p:spPr>
        <p:txBody>
          <a:bodyPr wrap="square" lIns="0" tIns="0" rIns="0" bIns="0" rtlCol="0" anchor="t"/>
          <a:lstStyle/>
          <a:p>
            <a:pPr indent="0" marL="0">
              <a:lnSpc>
                <a:spcPct val="125000"/>
              </a:lnSpc>
              <a:buNone/>
            </a:pPr>
            <a:r>
              <a:rPr lang="en-US" sz="1100" dirty="0">
                <a:solidFill>
                  <a:srgbClr val="5B6B73"/>
                </a:solidFill>
                <a:latin typeface="Arial" pitchFamily="34" charset="0"/>
                <a:ea typeface="Arial" pitchFamily="34" charset="-122"/>
                <a:cs typeface="Arial" pitchFamily="34" charset="-120"/>
              </a:rPr>
              <a:t>Management d’équipes commerciales et vente B2B, puis marketing opérationnel en grand groupe.</a:t>
            </a:r>
            <a:endParaRPr lang="en-US" sz="1100" dirty="0"/>
          </a:p>
        </p:txBody>
      </p:sp>
      <p:sp>
        <p:nvSpPr>
          <p:cNvPr id="9" name="Shape 6"/>
          <p:cNvSpPr/>
          <p:nvPr/>
        </p:nvSpPr>
        <p:spPr>
          <a:xfrm>
            <a:off x="3255264" y="1143000"/>
            <a:ext cx="2679192" cy="3246120"/>
          </a:xfrm>
          <a:prstGeom prst="roundRect">
            <a:avLst>
              <a:gd name="adj" fmla="val 2730"/>
            </a:avLst>
          </a:prstGeom>
          <a:solidFill>
            <a:srgbClr val="EDF2F4"/>
          </a:solidFill>
          <a:ln/>
          <a:effectLst>
            <a:outerShdw sx="100000" sy="100000" kx="0" ky="0" algn="bl" rotWithShape="0" blurRad="88900" dist="25400" dir="5400000">
              <a:srgbClr val="0B3D5C">
                <a:alpha val="12000"/>
              </a:srgbClr>
            </a:outerShdw>
          </a:effectLst>
        </p:spPr>
      </p:sp>
      <p:sp>
        <p:nvSpPr>
          <p:cNvPr id="10" name="Shape 7"/>
          <p:cNvSpPr/>
          <p:nvPr/>
        </p:nvSpPr>
        <p:spPr>
          <a:xfrm>
            <a:off x="3474720" y="1325880"/>
            <a:ext cx="640080" cy="640080"/>
          </a:xfrm>
          <a:prstGeom prst="ellipse">
            <a:avLst/>
          </a:prstGeom>
          <a:solidFill>
            <a:srgbClr val="0B3D5C"/>
          </a:solidFill>
          <a:ln/>
        </p:spPr>
      </p:sp>
      <p:pic>
        <p:nvPicPr>
          <p:cNvPr id="11" name="Image 1" descr="preencoded.png">    </p:cNvPr>
          <p:cNvPicPr>
            <a:picLocks noChangeAspect="1"/>
          </p:cNvPicPr>
          <p:nvPr/>
        </p:nvPicPr>
        <p:blipFill>
          <a:blip r:embed="rId2"/>
          <a:stretch>
            <a:fillRect/>
          </a:stretch>
        </p:blipFill>
        <p:spPr>
          <a:xfrm>
            <a:off x="3641141" y="1492301"/>
            <a:ext cx="307238" cy="307238"/>
          </a:xfrm>
          <a:prstGeom prst="rect">
            <a:avLst/>
          </a:prstGeom>
        </p:spPr>
      </p:pic>
      <p:sp>
        <p:nvSpPr>
          <p:cNvPr id="12" name="Text 8"/>
          <p:cNvSpPr/>
          <p:nvPr/>
        </p:nvSpPr>
        <p:spPr>
          <a:xfrm>
            <a:off x="3474720" y="2057400"/>
            <a:ext cx="2221992" cy="640080"/>
          </a:xfrm>
          <a:prstGeom prst="rect">
            <a:avLst/>
          </a:prstGeom>
          <a:noFill/>
          <a:ln/>
        </p:spPr>
        <p:txBody>
          <a:bodyPr wrap="square" lIns="0" tIns="0" rIns="0" bIns="0" rtlCol="0" anchor="t"/>
          <a:lstStyle/>
          <a:p>
            <a:pPr indent="0" marL="0">
              <a:lnSpc>
                <a:spcPct val="110000"/>
              </a:lnSpc>
              <a:buNone/>
            </a:pPr>
            <a:r>
              <a:rPr lang="en-US" sz="1400" b="1" dirty="0">
                <a:solidFill>
                  <a:srgbClr val="0B3D5C"/>
                </a:solidFill>
                <a:latin typeface="Arial" pitchFamily="34" charset="0"/>
                <a:ea typeface="Arial" pitchFamily="34" charset="-122"/>
                <a:cs typeface="Arial" pitchFamily="34" charset="-120"/>
              </a:rPr>
              <a:t>Une reconversion assumée</a:t>
            </a:r>
            <a:endParaRPr lang="en-US" sz="1400" dirty="0"/>
          </a:p>
        </p:txBody>
      </p:sp>
      <p:sp>
        <p:nvSpPr>
          <p:cNvPr id="13" name="Text 9"/>
          <p:cNvSpPr/>
          <p:nvPr/>
        </p:nvSpPr>
        <p:spPr>
          <a:xfrm>
            <a:off x="3474720" y="2697480"/>
            <a:ext cx="2240280" cy="1554480"/>
          </a:xfrm>
          <a:prstGeom prst="rect">
            <a:avLst/>
          </a:prstGeom>
          <a:noFill/>
          <a:ln/>
        </p:spPr>
        <p:txBody>
          <a:bodyPr wrap="square" lIns="0" tIns="0" rIns="0" bIns="0" rtlCol="0" anchor="t"/>
          <a:lstStyle/>
          <a:p>
            <a:pPr indent="0" marL="0">
              <a:lnSpc>
                <a:spcPct val="125000"/>
              </a:lnSpc>
              <a:buNone/>
            </a:pPr>
            <a:r>
              <a:rPr lang="en-US" sz="1100" dirty="0">
                <a:solidFill>
                  <a:srgbClr val="5B6B73"/>
                </a:solidFill>
                <a:latin typeface="Arial" pitchFamily="34" charset="0"/>
                <a:ea typeface="Arial" pitchFamily="34" charset="-122"/>
                <a:cs typeface="Arial" pitchFamily="34" charset="-120"/>
              </a:rPr>
              <a:t>Bachelor Growth Hacking à Rocket School pour maîtriser le digital et l’acquisition data-driven.</a:t>
            </a:r>
            <a:endParaRPr lang="en-US" sz="1100" dirty="0"/>
          </a:p>
        </p:txBody>
      </p:sp>
      <p:sp>
        <p:nvSpPr>
          <p:cNvPr id="14" name="Shape 10"/>
          <p:cNvSpPr/>
          <p:nvPr/>
        </p:nvSpPr>
        <p:spPr>
          <a:xfrm>
            <a:off x="6099048" y="1143000"/>
            <a:ext cx="2679192" cy="3246120"/>
          </a:xfrm>
          <a:prstGeom prst="roundRect">
            <a:avLst>
              <a:gd name="adj" fmla="val 2730"/>
            </a:avLst>
          </a:prstGeom>
          <a:solidFill>
            <a:srgbClr val="EDF2F4"/>
          </a:solidFill>
          <a:ln/>
          <a:effectLst>
            <a:outerShdw sx="100000" sy="100000" kx="0" ky="0" algn="bl" rotWithShape="0" blurRad="88900" dist="25400" dir="5400000">
              <a:srgbClr val="0B3D5C">
                <a:alpha val="12000"/>
              </a:srgbClr>
            </a:outerShdw>
          </a:effectLst>
        </p:spPr>
      </p:sp>
      <p:sp>
        <p:nvSpPr>
          <p:cNvPr id="15" name="Shape 11"/>
          <p:cNvSpPr/>
          <p:nvPr/>
        </p:nvSpPr>
        <p:spPr>
          <a:xfrm>
            <a:off x="6318504" y="1325880"/>
            <a:ext cx="640080" cy="640080"/>
          </a:xfrm>
          <a:prstGeom prst="ellipse">
            <a:avLst/>
          </a:prstGeom>
          <a:solidFill>
            <a:srgbClr val="0B3D5C"/>
          </a:solidFill>
          <a:ln/>
        </p:spPr>
      </p:sp>
      <p:pic>
        <p:nvPicPr>
          <p:cNvPr id="16" name="Image 2" descr="preencoded.png">    </p:cNvPr>
          <p:cNvPicPr>
            <a:picLocks noChangeAspect="1"/>
          </p:cNvPicPr>
          <p:nvPr/>
        </p:nvPicPr>
        <p:blipFill>
          <a:blip r:embed="rId3"/>
          <a:stretch>
            <a:fillRect/>
          </a:stretch>
        </p:blipFill>
        <p:spPr>
          <a:xfrm>
            <a:off x="6484925" y="1492301"/>
            <a:ext cx="307238" cy="307238"/>
          </a:xfrm>
          <a:prstGeom prst="rect">
            <a:avLst/>
          </a:prstGeom>
        </p:spPr>
      </p:pic>
      <p:sp>
        <p:nvSpPr>
          <p:cNvPr id="17" name="Text 12"/>
          <p:cNvSpPr/>
          <p:nvPr/>
        </p:nvSpPr>
        <p:spPr>
          <a:xfrm>
            <a:off x="6318504" y="2057400"/>
            <a:ext cx="2221992" cy="640080"/>
          </a:xfrm>
          <a:prstGeom prst="rect">
            <a:avLst/>
          </a:prstGeom>
          <a:noFill/>
          <a:ln/>
        </p:spPr>
        <p:txBody>
          <a:bodyPr wrap="square" lIns="0" tIns="0" rIns="0" bIns="0" rtlCol="0" anchor="t"/>
          <a:lstStyle/>
          <a:p>
            <a:pPr indent="0" marL="0">
              <a:lnSpc>
                <a:spcPct val="110000"/>
              </a:lnSpc>
              <a:buNone/>
            </a:pPr>
            <a:r>
              <a:rPr lang="en-US" sz="1400" b="1" dirty="0">
                <a:solidFill>
                  <a:srgbClr val="0B3D5C"/>
                </a:solidFill>
                <a:latin typeface="Arial" pitchFamily="34" charset="0"/>
                <a:ea typeface="Arial" pitchFamily="34" charset="-122"/>
                <a:cs typeface="Arial" pitchFamily="34" charset="-120"/>
              </a:rPr>
              <a:t>9 mois d’alternance terrain</a:t>
            </a:r>
            <a:endParaRPr lang="en-US" sz="1400" dirty="0"/>
          </a:p>
        </p:txBody>
      </p:sp>
      <p:sp>
        <p:nvSpPr>
          <p:cNvPr id="18" name="Text 13"/>
          <p:cNvSpPr/>
          <p:nvPr/>
        </p:nvSpPr>
        <p:spPr>
          <a:xfrm>
            <a:off x="6318504" y="2697480"/>
            <a:ext cx="2240280" cy="1554480"/>
          </a:xfrm>
          <a:prstGeom prst="rect">
            <a:avLst/>
          </a:prstGeom>
          <a:noFill/>
          <a:ln/>
        </p:spPr>
        <p:txBody>
          <a:bodyPr wrap="square" lIns="0" tIns="0" rIns="0" bIns="0" rtlCol="0" anchor="t"/>
          <a:lstStyle/>
          <a:p>
            <a:pPr indent="0" marL="0">
              <a:lnSpc>
                <a:spcPct val="125000"/>
              </a:lnSpc>
              <a:buNone/>
            </a:pPr>
            <a:r>
              <a:rPr lang="en-US" sz="1100" dirty="0">
                <a:solidFill>
                  <a:srgbClr val="5B6B73"/>
                </a:solidFill>
                <a:latin typeface="Arial" pitchFamily="34" charset="0"/>
                <a:ea typeface="Arial" pitchFamily="34" charset="-122"/>
                <a:cs typeface="Arial" pitchFamily="34" charset="-120"/>
              </a:rPr>
              <a:t>Growth Hacker chez My Sport Session : du diagnostic stratégique à la création d’une nouvelle offre.</a:t>
            </a:r>
            <a:endParaRPr lang="en-US" sz="1100" dirty="0"/>
          </a:p>
        </p:txBody>
      </p:sp>
      <p:sp>
        <p:nvSpPr>
          <p:cNvPr id="19" name="Text 14"/>
          <p:cNvSpPr/>
          <p:nvPr/>
        </p:nvSpPr>
        <p:spPr>
          <a:xfrm>
            <a:off x="411480" y="4526280"/>
            <a:ext cx="8321040" cy="365760"/>
          </a:xfrm>
          <a:prstGeom prst="rect">
            <a:avLst/>
          </a:prstGeom>
          <a:noFill/>
          <a:ln/>
        </p:spPr>
        <p:txBody>
          <a:bodyPr wrap="square" lIns="0" tIns="0" rIns="0" bIns="0" rtlCol="0" anchor="ctr"/>
          <a:lstStyle/>
          <a:p>
            <a:pPr indent="0" marL="0">
              <a:buNone/>
            </a:pPr>
            <a:r>
              <a:rPr lang="en-US" sz="1100" i="1" dirty="0">
                <a:solidFill>
                  <a:srgbClr val="1C7293"/>
                </a:solidFill>
                <a:latin typeface="Arial" pitchFamily="34" charset="0"/>
                <a:ea typeface="Arial" pitchFamily="34" charset="-122"/>
                <a:cs typeface="Arial" pitchFamily="34" charset="-120"/>
              </a:rPr>
              <a:t>Ma conviction : la valeur d’un growth hacker tient à cette combinaison — comprendre les enjeux business d’un dirigeant, construire une stratégie, et l’exécuter de A à Z.</a:t>
            </a:r>
            <a:endParaRPr lang="en-US" sz="1100" dirty="0"/>
          </a:p>
        </p:txBody>
      </p:sp>
      <p:sp>
        <p:nvSpPr>
          <p:cNvPr id="20" name="Text 15"/>
          <p:cNvSpPr/>
          <p:nvPr/>
        </p:nvSpPr>
        <p:spPr>
          <a:xfrm>
            <a:off x="411480" y="4864608"/>
            <a:ext cx="4114800" cy="228600"/>
          </a:xfrm>
          <a:prstGeom prst="rect">
            <a:avLst/>
          </a:prstGeom>
          <a:noFill/>
          <a:ln/>
        </p:spPr>
        <p:txBody>
          <a:bodyPr wrap="square" lIns="0" tIns="0" rIns="0" bIns="0" rtlCol="0" anchor="ctr"/>
          <a:lstStyle/>
          <a:p>
            <a:pPr algn="l" indent="0" marL="0">
              <a:buNone/>
            </a:pPr>
            <a:r>
              <a:rPr lang="en-US" sz="800" dirty="0">
                <a:solidFill>
                  <a:srgbClr val="9AA9AE"/>
                </a:solidFill>
                <a:latin typeface="Arial" pitchFamily="34" charset="0"/>
                <a:ea typeface="Arial" pitchFamily="34" charset="-122"/>
                <a:cs typeface="Arial" pitchFamily="34" charset="-120"/>
              </a:rPr>
              <a:t>Rapport de mission — SPOUTNIK S62 — Pascal Varomme</a:t>
            </a:r>
            <a:endParaRPr lang="en-US" sz="800" dirty="0"/>
          </a:p>
        </p:txBody>
      </p:sp>
      <p:sp>
        <p:nvSpPr>
          <p:cNvPr id="21" name="Text 16"/>
          <p:cNvSpPr/>
          <p:nvPr/>
        </p:nvSpPr>
        <p:spPr>
          <a:xfrm>
            <a:off x="8366760" y="4864608"/>
            <a:ext cx="365760" cy="228600"/>
          </a:xfrm>
          <a:prstGeom prst="rect">
            <a:avLst/>
          </a:prstGeom>
          <a:noFill/>
          <a:ln/>
        </p:spPr>
        <p:txBody>
          <a:bodyPr wrap="square" lIns="0" tIns="0" rIns="0" bIns="0" rtlCol="0" anchor="ctr"/>
          <a:lstStyle/>
          <a:p>
            <a:pPr algn="r" indent="0" marL="0">
              <a:buNone/>
            </a:pPr>
            <a:r>
              <a:rPr lang="en-US" sz="800" dirty="0">
                <a:solidFill>
                  <a:srgbClr val="9AA9AE"/>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92608"/>
            <a:ext cx="8321040" cy="256032"/>
          </a:xfrm>
          <a:prstGeom prst="rect">
            <a:avLst/>
          </a:prstGeom>
          <a:noFill/>
          <a:ln/>
        </p:spPr>
        <p:txBody>
          <a:bodyPr wrap="square" lIns="0" tIns="0" rIns="0" bIns="0" rtlCol="0" anchor="ctr"/>
          <a:lstStyle/>
          <a:p>
            <a:pPr indent="0" marL="0">
              <a:buNone/>
            </a:pPr>
            <a:r>
              <a:rPr lang="en-US" sz="1100" b="1" spc="150" kern="0" dirty="0">
                <a:solidFill>
                  <a:srgbClr val="E8743B"/>
                </a:solidFill>
                <a:latin typeface="Arial" pitchFamily="34" charset="0"/>
                <a:ea typeface="Arial" pitchFamily="34" charset="-122"/>
                <a:cs typeface="Arial" pitchFamily="34" charset="-120"/>
              </a:rPr>
              <a:t>PLAN DE LA SOUTENANCE</a:t>
            </a:r>
            <a:endParaRPr lang="en-US" sz="1100" dirty="0"/>
          </a:p>
        </p:txBody>
      </p:sp>
      <p:sp>
        <p:nvSpPr>
          <p:cNvPr id="3" name="Text 1"/>
          <p:cNvSpPr/>
          <p:nvPr/>
        </p:nvSpPr>
        <p:spPr>
          <a:xfrm>
            <a:off x="411480" y="530352"/>
            <a:ext cx="8321040" cy="566928"/>
          </a:xfrm>
          <a:prstGeom prst="rect">
            <a:avLst/>
          </a:prstGeom>
          <a:noFill/>
          <a:ln/>
        </p:spPr>
        <p:txBody>
          <a:bodyPr wrap="square" lIns="0" tIns="0" rIns="0" bIns="0" rtlCol="0" anchor="t"/>
          <a:lstStyle/>
          <a:p>
            <a:pPr indent="0" marL="0">
              <a:buNone/>
            </a:pPr>
            <a:r>
              <a:rPr lang="en-US" sz="2500" b="1" dirty="0">
                <a:solidFill>
                  <a:srgbClr val="0B3D5C"/>
                </a:solidFill>
                <a:latin typeface="Arial" pitchFamily="34" charset="0"/>
                <a:ea typeface="Arial" pitchFamily="34" charset="-122"/>
                <a:cs typeface="Arial" pitchFamily="34" charset="-120"/>
              </a:rPr>
              <a:t>Le fil conducteur de ce rapport</a:t>
            </a:r>
            <a:endParaRPr lang="en-US" sz="2500" dirty="0"/>
          </a:p>
        </p:txBody>
      </p:sp>
      <p:sp>
        <p:nvSpPr>
          <p:cNvPr id="4" name="Shape 2"/>
          <p:cNvSpPr/>
          <p:nvPr/>
        </p:nvSpPr>
        <p:spPr>
          <a:xfrm>
            <a:off x="411480" y="1188720"/>
            <a:ext cx="8321040" cy="585216"/>
          </a:xfrm>
          <a:prstGeom prst="roundRect">
            <a:avLst>
              <a:gd name="adj" fmla="val 9375"/>
            </a:avLst>
          </a:prstGeom>
          <a:solidFill>
            <a:srgbClr val="EDF2F4"/>
          </a:solidFill>
          <a:ln/>
        </p:spPr>
      </p:sp>
      <p:sp>
        <p:nvSpPr>
          <p:cNvPr id="5" name="Shape 3"/>
          <p:cNvSpPr/>
          <p:nvPr/>
        </p:nvSpPr>
        <p:spPr>
          <a:xfrm>
            <a:off x="566928" y="1243584"/>
            <a:ext cx="457200" cy="457200"/>
          </a:xfrm>
          <a:prstGeom prst="ellipse">
            <a:avLst/>
          </a:prstGeom>
          <a:solidFill>
            <a:srgbClr val="0B3D5C"/>
          </a:solidFill>
          <a:ln/>
        </p:spPr>
      </p:sp>
      <p:pic>
        <p:nvPicPr>
          <p:cNvPr id="6" name="Image 0" descr="preencoded.png">    </p:cNvPr>
          <p:cNvPicPr>
            <a:picLocks noChangeAspect="1"/>
          </p:cNvPicPr>
          <p:nvPr/>
        </p:nvPicPr>
        <p:blipFill>
          <a:blip r:embed="rId1"/>
          <a:stretch>
            <a:fillRect/>
          </a:stretch>
        </p:blipFill>
        <p:spPr>
          <a:xfrm>
            <a:off x="685800" y="1362456"/>
            <a:ext cx="219456" cy="219456"/>
          </a:xfrm>
          <a:prstGeom prst="rect">
            <a:avLst/>
          </a:prstGeom>
        </p:spPr>
      </p:pic>
      <p:sp>
        <p:nvSpPr>
          <p:cNvPr id="7" name="Text 4"/>
          <p:cNvSpPr/>
          <p:nvPr/>
        </p:nvSpPr>
        <p:spPr>
          <a:xfrm>
            <a:off x="502920" y="1133856"/>
            <a:ext cx="274320" cy="274320"/>
          </a:xfrm>
          <a:prstGeom prst="rect">
            <a:avLst/>
          </a:prstGeom>
          <a:noFill/>
          <a:ln/>
        </p:spPr>
        <p:txBody>
          <a:bodyPr wrap="square" lIns="0" tIns="0" rIns="0" bIns="0" rtlCol="0" anchor="ctr"/>
          <a:lstStyle/>
          <a:p>
            <a:pPr indent="0" marL="0">
              <a:buNone/>
            </a:pPr>
            <a:r>
              <a:rPr lang="en-US" sz="1000" b="1" dirty="0">
                <a:solidFill>
                  <a:srgbClr val="5B6B73"/>
                </a:solidFill>
                <a:latin typeface="Arial" pitchFamily="34" charset="0"/>
                <a:ea typeface="Arial" pitchFamily="34" charset="-122"/>
                <a:cs typeface="Arial" pitchFamily="34" charset="-120"/>
              </a:rPr>
              <a:t>1</a:t>
            </a:r>
            <a:endParaRPr lang="en-US" sz="1000" dirty="0"/>
          </a:p>
        </p:txBody>
      </p:sp>
      <p:sp>
        <p:nvSpPr>
          <p:cNvPr id="8" name="Text 5"/>
          <p:cNvSpPr/>
          <p:nvPr/>
        </p:nvSpPr>
        <p:spPr>
          <a:xfrm>
            <a:off x="1188720" y="1207008"/>
            <a:ext cx="3383280" cy="502920"/>
          </a:xfrm>
          <a:prstGeom prst="rect">
            <a:avLst/>
          </a:prstGeom>
          <a:noFill/>
          <a:ln/>
        </p:spPr>
        <p:txBody>
          <a:bodyPr wrap="square" lIns="0" tIns="0" rIns="0" bIns="0" rtlCol="0" anchor="ctr"/>
          <a:lstStyle/>
          <a:p>
            <a:pPr indent="0" marL="0">
              <a:buNone/>
            </a:pPr>
            <a:r>
              <a:rPr lang="en-US" sz="1400" b="1" dirty="0">
                <a:solidFill>
                  <a:srgbClr val="0B3D5C"/>
                </a:solidFill>
                <a:latin typeface="Arial" pitchFamily="34" charset="0"/>
                <a:ea typeface="Arial" pitchFamily="34" charset="-122"/>
                <a:cs typeface="Arial" pitchFamily="34" charset="-120"/>
              </a:rPr>
              <a:t>L’entreprise &amp; le contexte</a:t>
            </a:r>
            <a:endParaRPr lang="en-US" sz="1400" dirty="0"/>
          </a:p>
        </p:txBody>
      </p:sp>
      <p:sp>
        <p:nvSpPr>
          <p:cNvPr id="9" name="Text 6"/>
          <p:cNvSpPr/>
          <p:nvPr/>
        </p:nvSpPr>
        <p:spPr>
          <a:xfrm>
            <a:off x="4663440" y="1207008"/>
            <a:ext cx="3931920" cy="502920"/>
          </a:xfrm>
          <a:prstGeom prst="rect">
            <a:avLst/>
          </a:prstGeom>
          <a:noFill/>
          <a:ln/>
        </p:spPr>
        <p:txBody>
          <a:bodyPr wrap="square" lIns="0" tIns="0" rIns="0" bIns="0" rtlCol="0" anchor="ctr"/>
          <a:lstStyle/>
          <a:p>
            <a:pPr indent="0" marL="0">
              <a:lnSpc>
                <a:spcPct val="110000"/>
              </a:lnSpc>
              <a:buNone/>
            </a:pPr>
            <a:r>
              <a:rPr lang="en-US" sz="1050" dirty="0">
                <a:solidFill>
                  <a:srgbClr val="5B6B73"/>
                </a:solidFill>
                <a:latin typeface="Arial" pitchFamily="34" charset="0"/>
                <a:ea typeface="Arial" pitchFamily="34" charset="-122"/>
                <a:cs typeface="Arial" pitchFamily="34" charset="-120"/>
              </a:rPr>
              <a:t>My Sport Session, son marché, et le vide commercial de l’automne 2025</a:t>
            </a:r>
            <a:endParaRPr lang="en-US" sz="1050" dirty="0"/>
          </a:p>
        </p:txBody>
      </p:sp>
      <p:sp>
        <p:nvSpPr>
          <p:cNvPr id="10" name="Shape 7"/>
          <p:cNvSpPr/>
          <p:nvPr/>
        </p:nvSpPr>
        <p:spPr>
          <a:xfrm>
            <a:off x="411480" y="1865376"/>
            <a:ext cx="8321040" cy="585216"/>
          </a:xfrm>
          <a:prstGeom prst="roundRect">
            <a:avLst>
              <a:gd name="adj" fmla="val 9375"/>
            </a:avLst>
          </a:prstGeom>
          <a:solidFill>
            <a:srgbClr val="FFFFFF"/>
          </a:solidFill>
          <a:ln/>
        </p:spPr>
      </p:sp>
      <p:sp>
        <p:nvSpPr>
          <p:cNvPr id="11" name="Shape 8"/>
          <p:cNvSpPr/>
          <p:nvPr/>
        </p:nvSpPr>
        <p:spPr>
          <a:xfrm>
            <a:off x="566928" y="1920240"/>
            <a:ext cx="457200" cy="457200"/>
          </a:xfrm>
          <a:prstGeom prst="ellipse">
            <a:avLst/>
          </a:prstGeom>
          <a:solidFill>
            <a:srgbClr val="0B3D5C"/>
          </a:solidFill>
          <a:ln/>
        </p:spPr>
      </p:sp>
      <p:pic>
        <p:nvPicPr>
          <p:cNvPr id="12" name="Image 1" descr="preencoded.png">    </p:cNvPr>
          <p:cNvPicPr>
            <a:picLocks noChangeAspect="1"/>
          </p:cNvPicPr>
          <p:nvPr/>
        </p:nvPicPr>
        <p:blipFill>
          <a:blip r:embed="rId2"/>
          <a:stretch>
            <a:fillRect/>
          </a:stretch>
        </p:blipFill>
        <p:spPr>
          <a:xfrm>
            <a:off x="685800" y="2039112"/>
            <a:ext cx="219456" cy="219456"/>
          </a:xfrm>
          <a:prstGeom prst="rect">
            <a:avLst/>
          </a:prstGeom>
        </p:spPr>
      </p:pic>
      <p:sp>
        <p:nvSpPr>
          <p:cNvPr id="13" name="Text 9"/>
          <p:cNvSpPr/>
          <p:nvPr/>
        </p:nvSpPr>
        <p:spPr>
          <a:xfrm>
            <a:off x="502920" y="1810512"/>
            <a:ext cx="274320" cy="274320"/>
          </a:xfrm>
          <a:prstGeom prst="rect">
            <a:avLst/>
          </a:prstGeom>
          <a:noFill/>
          <a:ln/>
        </p:spPr>
        <p:txBody>
          <a:bodyPr wrap="square" lIns="0" tIns="0" rIns="0" bIns="0" rtlCol="0" anchor="ctr"/>
          <a:lstStyle/>
          <a:p>
            <a:pPr indent="0" marL="0">
              <a:buNone/>
            </a:pPr>
            <a:r>
              <a:rPr lang="en-US" sz="1000" b="1" dirty="0">
                <a:solidFill>
                  <a:srgbClr val="5B6B73"/>
                </a:solidFill>
                <a:latin typeface="Arial" pitchFamily="34" charset="0"/>
                <a:ea typeface="Arial" pitchFamily="34" charset="-122"/>
                <a:cs typeface="Arial" pitchFamily="34" charset="-120"/>
              </a:rPr>
              <a:t>2</a:t>
            </a:r>
            <a:endParaRPr lang="en-US" sz="1000" dirty="0"/>
          </a:p>
        </p:txBody>
      </p:sp>
      <p:sp>
        <p:nvSpPr>
          <p:cNvPr id="14" name="Text 10"/>
          <p:cNvSpPr/>
          <p:nvPr/>
        </p:nvSpPr>
        <p:spPr>
          <a:xfrm>
            <a:off x="1188720" y="1883664"/>
            <a:ext cx="3383280" cy="502920"/>
          </a:xfrm>
          <a:prstGeom prst="rect">
            <a:avLst/>
          </a:prstGeom>
          <a:noFill/>
          <a:ln/>
        </p:spPr>
        <p:txBody>
          <a:bodyPr wrap="square" lIns="0" tIns="0" rIns="0" bIns="0" rtlCol="0" anchor="ctr"/>
          <a:lstStyle/>
          <a:p>
            <a:pPr indent="0" marL="0">
              <a:buNone/>
            </a:pPr>
            <a:r>
              <a:rPr lang="en-US" sz="1400" b="1" dirty="0">
                <a:solidFill>
                  <a:srgbClr val="0B3D5C"/>
                </a:solidFill>
                <a:latin typeface="Arial" pitchFamily="34" charset="0"/>
                <a:ea typeface="Arial" pitchFamily="34" charset="-122"/>
                <a:cs typeface="Arial" pitchFamily="34" charset="-120"/>
              </a:rPr>
              <a:t>Le diagnostic stratégique</a:t>
            </a:r>
            <a:endParaRPr lang="en-US" sz="1400" dirty="0"/>
          </a:p>
        </p:txBody>
      </p:sp>
      <p:sp>
        <p:nvSpPr>
          <p:cNvPr id="15" name="Text 11"/>
          <p:cNvSpPr/>
          <p:nvPr/>
        </p:nvSpPr>
        <p:spPr>
          <a:xfrm>
            <a:off x="4663440" y="1883664"/>
            <a:ext cx="3931920" cy="502920"/>
          </a:xfrm>
          <a:prstGeom prst="rect">
            <a:avLst/>
          </a:prstGeom>
          <a:noFill/>
          <a:ln/>
        </p:spPr>
        <p:txBody>
          <a:bodyPr wrap="square" lIns="0" tIns="0" rIns="0" bIns="0" rtlCol="0" anchor="ctr"/>
          <a:lstStyle/>
          <a:p>
            <a:pPr indent="0" marL="0">
              <a:lnSpc>
                <a:spcPct val="110000"/>
              </a:lnSpc>
              <a:buNone/>
            </a:pPr>
            <a:r>
              <a:rPr lang="en-US" sz="1050" dirty="0">
                <a:solidFill>
                  <a:srgbClr val="5B6B73"/>
                </a:solidFill>
                <a:latin typeface="Arial" pitchFamily="34" charset="0"/>
                <a:ea typeface="Arial" pitchFamily="34" charset="-122"/>
                <a:cs typeface="Arial" pitchFamily="34" charset="-120"/>
              </a:rPr>
              <a:t>Marché, concurrence, forces/faiblesses, CAC et LTV</a:t>
            </a:r>
            <a:endParaRPr lang="en-US" sz="1050" dirty="0"/>
          </a:p>
        </p:txBody>
      </p:sp>
      <p:sp>
        <p:nvSpPr>
          <p:cNvPr id="16" name="Shape 12"/>
          <p:cNvSpPr/>
          <p:nvPr/>
        </p:nvSpPr>
        <p:spPr>
          <a:xfrm>
            <a:off x="411480" y="2542032"/>
            <a:ext cx="8321040" cy="585216"/>
          </a:xfrm>
          <a:prstGeom prst="roundRect">
            <a:avLst>
              <a:gd name="adj" fmla="val 9375"/>
            </a:avLst>
          </a:prstGeom>
          <a:solidFill>
            <a:srgbClr val="EDF2F4"/>
          </a:solidFill>
          <a:ln/>
        </p:spPr>
      </p:sp>
      <p:sp>
        <p:nvSpPr>
          <p:cNvPr id="17" name="Shape 13"/>
          <p:cNvSpPr/>
          <p:nvPr/>
        </p:nvSpPr>
        <p:spPr>
          <a:xfrm>
            <a:off x="566928" y="2596896"/>
            <a:ext cx="457200" cy="457200"/>
          </a:xfrm>
          <a:prstGeom prst="ellipse">
            <a:avLst/>
          </a:prstGeom>
          <a:solidFill>
            <a:srgbClr val="E8743B"/>
          </a:solidFill>
          <a:ln/>
        </p:spPr>
      </p:sp>
      <p:pic>
        <p:nvPicPr>
          <p:cNvPr id="18" name="Image 2" descr="preencoded.png">    </p:cNvPr>
          <p:cNvPicPr>
            <a:picLocks noChangeAspect="1"/>
          </p:cNvPicPr>
          <p:nvPr/>
        </p:nvPicPr>
        <p:blipFill>
          <a:blip r:embed="rId3"/>
          <a:stretch>
            <a:fillRect/>
          </a:stretch>
        </p:blipFill>
        <p:spPr>
          <a:xfrm>
            <a:off x="685800" y="2715768"/>
            <a:ext cx="219456" cy="219456"/>
          </a:xfrm>
          <a:prstGeom prst="rect">
            <a:avLst/>
          </a:prstGeom>
        </p:spPr>
      </p:pic>
      <p:sp>
        <p:nvSpPr>
          <p:cNvPr id="19" name="Text 14"/>
          <p:cNvSpPr/>
          <p:nvPr/>
        </p:nvSpPr>
        <p:spPr>
          <a:xfrm>
            <a:off x="502920" y="2487168"/>
            <a:ext cx="274320" cy="274320"/>
          </a:xfrm>
          <a:prstGeom prst="rect">
            <a:avLst/>
          </a:prstGeom>
          <a:noFill/>
          <a:ln/>
        </p:spPr>
        <p:txBody>
          <a:bodyPr wrap="square" lIns="0" tIns="0" rIns="0" bIns="0" rtlCol="0" anchor="ctr"/>
          <a:lstStyle/>
          <a:p>
            <a:pPr indent="0" marL="0">
              <a:buNone/>
            </a:pPr>
            <a:r>
              <a:rPr lang="en-US" sz="1000" b="1" dirty="0">
                <a:solidFill>
                  <a:srgbClr val="5B6B73"/>
                </a:solidFill>
                <a:latin typeface="Arial" pitchFamily="34" charset="0"/>
                <a:ea typeface="Arial" pitchFamily="34" charset="-122"/>
                <a:cs typeface="Arial" pitchFamily="34" charset="-120"/>
              </a:rPr>
              <a:t>3</a:t>
            </a:r>
            <a:endParaRPr lang="en-US" sz="1000" dirty="0"/>
          </a:p>
        </p:txBody>
      </p:sp>
      <p:sp>
        <p:nvSpPr>
          <p:cNvPr id="20" name="Text 15"/>
          <p:cNvSpPr/>
          <p:nvPr/>
        </p:nvSpPr>
        <p:spPr>
          <a:xfrm>
            <a:off x="1188720" y="2560320"/>
            <a:ext cx="3383280" cy="502920"/>
          </a:xfrm>
          <a:prstGeom prst="rect">
            <a:avLst/>
          </a:prstGeom>
          <a:noFill/>
          <a:ln/>
        </p:spPr>
        <p:txBody>
          <a:bodyPr wrap="square" lIns="0" tIns="0" rIns="0" bIns="0" rtlCol="0" anchor="ctr"/>
          <a:lstStyle/>
          <a:p>
            <a:pPr indent="0" marL="0">
              <a:buNone/>
            </a:pPr>
            <a:r>
              <a:rPr lang="en-US" sz="1400" b="1" dirty="0">
                <a:solidFill>
                  <a:srgbClr val="0B3D5C"/>
                </a:solidFill>
                <a:latin typeface="Arial" pitchFamily="34" charset="0"/>
                <a:ea typeface="Arial" pitchFamily="34" charset="-122"/>
                <a:cs typeface="Arial" pitchFamily="34" charset="-120"/>
              </a:rPr>
              <a:t>La problématique</a:t>
            </a:r>
            <a:endParaRPr lang="en-US" sz="1400" dirty="0"/>
          </a:p>
        </p:txBody>
      </p:sp>
      <p:sp>
        <p:nvSpPr>
          <p:cNvPr id="21" name="Text 16"/>
          <p:cNvSpPr/>
          <p:nvPr/>
        </p:nvSpPr>
        <p:spPr>
          <a:xfrm>
            <a:off x="4663440" y="2560320"/>
            <a:ext cx="3931920" cy="502920"/>
          </a:xfrm>
          <a:prstGeom prst="rect">
            <a:avLst/>
          </a:prstGeom>
          <a:noFill/>
          <a:ln/>
        </p:spPr>
        <p:txBody>
          <a:bodyPr wrap="square" lIns="0" tIns="0" rIns="0" bIns="0" rtlCol="0" anchor="ctr"/>
          <a:lstStyle/>
          <a:p>
            <a:pPr indent="0" marL="0">
              <a:lnSpc>
                <a:spcPct val="110000"/>
              </a:lnSpc>
              <a:buNone/>
            </a:pPr>
            <a:r>
              <a:rPr lang="en-US" sz="1050" dirty="0">
                <a:solidFill>
                  <a:srgbClr val="5B6B73"/>
                </a:solidFill>
                <a:latin typeface="Arial" pitchFamily="34" charset="0"/>
                <a:ea typeface="Arial" pitchFamily="34" charset="-122"/>
                <a:cs typeface="Arial" pitchFamily="34" charset="-120"/>
              </a:rPr>
              <a:t>L’insight terrain qui change la lecture du métier</a:t>
            </a:r>
            <a:endParaRPr lang="en-US" sz="1050" dirty="0"/>
          </a:p>
        </p:txBody>
      </p:sp>
      <p:sp>
        <p:nvSpPr>
          <p:cNvPr id="22" name="Shape 17"/>
          <p:cNvSpPr/>
          <p:nvPr/>
        </p:nvSpPr>
        <p:spPr>
          <a:xfrm>
            <a:off x="411480" y="3218688"/>
            <a:ext cx="8321040" cy="585216"/>
          </a:xfrm>
          <a:prstGeom prst="roundRect">
            <a:avLst>
              <a:gd name="adj" fmla="val 9375"/>
            </a:avLst>
          </a:prstGeom>
          <a:solidFill>
            <a:srgbClr val="FFFFFF"/>
          </a:solidFill>
          <a:ln/>
        </p:spPr>
      </p:sp>
      <p:sp>
        <p:nvSpPr>
          <p:cNvPr id="23" name="Shape 18"/>
          <p:cNvSpPr/>
          <p:nvPr/>
        </p:nvSpPr>
        <p:spPr>
          <a:xfrm>
            <a:off x="566928" y="3273552"/>
            <a:ext cx="457200" cy="457200"/>
          </a:xfrm>
          <a:prstGeom prst="ellipse">
            <a:avLst/>
          </a:prstGeom>
          <a:solidFill>
            <a:srgbClr val="0B3D5C"/>
          </a:solidFill>
          <a:ln/>
        </p:spPr>
      </p:sp>
      <p:pic>
        <p:nvPicPr>
          <p:cNvPr id="24" name="Image 3" descr="preencoded.png">    </p:cNvPr>
          <p:cNvPicPr>
            <a:picLocks noChangeAspect="1"/>
          </p:cNvPicPr>
          <p:nvPr/>
        </p:nvPicPr>
        <p:blipFill>
          <a:blip r:embed="rId4"/>
          <a:stretch>
            <a:fillRect/>
          </a:stretch>
        </p:blipFill>
        <p:spPr>
          <a:xfrm>
            <a:off x="685800" y="3392424"/>
            <a:ext cx="219456" cy="219456"/>
          </a:xfrm>
          <a:prstGeom prst="rect">
            <a:avLst/>
          </a:prstGeom>
        </p:spPr>
      </p:pic>
      <p:sp>
        <p:nvSpPr>
          <p:cNvPr id="25" name="Text 19"/>
          <p:cNvSpPr/>
          <p:nvPr/>
        </p:nvSpPr>
        <p:spPr>
          <a:xfrm>
            <a:off x="502920" y="3163824"/>
            <a:ext cx="274320" cy="274320"/>
          </a:xfrm>
          <a:prstGeom prst="rect">
            <a:avLst/>
          </a:prstGeom>
          <a:noFill/>
          <a:ln/>
        </p:spPr>
        <p:txBody>
          <a:bodyPr wrap="square" lIns="0" tIns="0" rIns="0" bIns="0" rtlCol="0" anchor="ctr"/>
          <a:lstStyle/>
          <a:p>
            <a:pPr indent="0" marL="0">
              <a:buNone/>
            </a:pPr>
            <a:r>
              <a:rPr lang="en-US" sz="1000" b="1" dirty="0">
                <a:solidFill>
                  <a:srgbClr val="5B6B73"/>
                </a:solidFill>
                <a:latin typeface="Arial" pitchFamily="34" charset="0"/>
                <a:ea typeface="Arial" pitchFamily="34" charset="-122"/>
                <a:cs typeface="Arial" pitchFamily="34" charset="-120"/>
              </a:rPr>
              <a:t>4</a:t>
            </a:r>
            <a:endParaRPr lang="en-US" sz="1000" dirty="0"/>
          </a:p>
        </p:txBody>
      </p:sp>
      <p:sp>
        <p:nvSpPr>
          <p:cNvPr id="26" name="Text 20"/>
          <p:cNvSpPr/>
          <p:nvPr/>
        </p:nvSpPr>
        <p:spPr>
          <a:xfrm>
            <a:off x="1188720" y="3236976"/>
            <a:ext cx="3383280" cy="502920"/>
          </a:xfrm>
          <a:prstGeom prst="rect">
            <a:avLst/>
          </a:prstGeom>
          <a:noFill/>
          <a:ln/>
        </p:spPr>
        <p:txBody>
          <a:bodyPr wrap="square" lIns="0" tIns="0" rIns="0" bIns="0" rtlCol="0" anchor="ctr"/>
          <a:lstStyle/>
          <a:p>
            <a:pPr indent="0" marL="0">
              <a:buNone/>
            </a:pPr>
            <a:r>
              <a:rPr lang="en-US" sz="1400" b="1" dirty="0">
                <a:solidFill>
                  <a:srgbClr val="0B3D5C"/>
                </a:solidFill>
                <a:latin typeface="Arial" pitchFamily="34" charset="0"/>
                <a:ea typeface="Arial" pitchFamily="34" charset="-122"/>
                <a:cs typeface="Arial" pitchFamily="34" charset="-120"/>
              </a:rPr>
              <a:t>My Sport Business : plan d’action &amp; résultats</a:t>
            </a:r>
            <a:endParaRPr lang="en-US" sz="1400" dirty="0"/>
          </a:p>
        </p:txBody>
      </p:sp>
      <p:sp>
        <p:nvSpPr>
          <p:cNvPr id="27" name="Text 21"/>
          <p:cNvSpPr/>
          <p:nvPr/>
        </p:nvSpPr>
        <p:spPr>
          <a:xfrm>
            <a:off x="4663440" y="3236976"/>
            <a:ext cx="3931920" cy="502920"/>
          </a:xfrm>
          <a:prstGeom prst="rect">
            <a:avLst/>
          </a:prstGeom>
          <a:noFill/>
          <a:ln/>
        </p:spPr>
        <p:txBody>
          <a:bodyPr wrap="square" lIns="0" tIns="0" rIns="0" bIns="0" rtlCol="0" anchor="ctr"/>
          <a:lstStyle/>
          <a:p>
            <a:pPr indent="0" marL="0">
              <a:lnSpc>
                <a:spcPct val="110000"/>
              </a:lnSpc>
              <a:buNone/>
            </a:pPr>
            <a:r>
              <a:rPr lang="en-US" sz="1050" dirty="0">
                <a:solidFill>
                  <a:srgbClr val="5B6B73"/>
                </a:solidFill>
                <a:latin typeface="Arial" pitchFamily="34" charset="0"/>
                <a:ea typeface="Arial" pitchFamily="34" charset="-122"/>
                <a:cs typeface="Arial" pitchFamily="34" charset="-120"/>
              </a:rPr>
              <a:t>Le modèle Done For You, deux clients, des chiffres mesurés</a:t>
            </a:r>
            <a:endParaRPr lang="en-US" sz="1050" dirty="0"/>
          </a:p>
        </p:txBody>
      </p:sp>
      <p:sp>
        <p:nvSpPr>
          <p:cNvPr id="28" name="Shape 22"/>
          <p:cNvSpPr/>
          <p:nvPr/>
        </p:nvSpPr>
        <p:spPr>
          <a:xfrm>
            <a:off x="411480" y="3895344"/>
            <a:ext cx="8321040" cy="585216"/>
          </a:xfrm>
          <a:prstGeom prst="roundRect">
            <a:avLst>
              <a:gd name="adj" fmla="val 9375"/>
            </a:avLst>
          </a:prstGeom>
          <a:solidFill>
            <a:srgbClr val="EDF2F4"/>
          </a:solidFill>
          <a:ln/>
        </p:spPr>
      </p:sp>
      <p:sp>
        <p:nvSpPr>
          <p:cNvPr id="29" name="Shape 23"/>
          <p:cNvSpPr/>
          <p:nvPr/>
        </p:nvSpPr>
        <p:spPr>
          <a:xfrm>
            <a:off x="566928" y="3950208"/>
            <a:ext cx="457200" cy="457200"/>
          </a:xfrm>
          <a:prstGeom prst="ellipse">
            <a:avLst/>
          </a:prstGeom>
          <a:solidFill>
            <a:srgbClr val="0B3D5C"/>
          </a:solidFill>
          <a:ln/>
        </p:spPr>
      </p:sp>
      <p:pic>
        <p:nvPicPr>
          <p:cNvPr id="30" name="Image 4" descr="preencoded.png">    </p:cNvPr>
          <p:cNvPicPr>
            <a:picLocks noChangeAspect="1"/>
          </p:cNvPicPr>
          <p:nvPr/>
        </p:nvPicPr>
        <p:blipFill>
          <a:blip r:embed="rId5"/>
          <a:stretch>
            <a:fillRect/>
          </a:stretch>
        </p:blipFill>
        <p:spPr>
          <a:xfrm>
            <a:off x="685800" y="4069080"/>
            <a:ext cx="219456" cy="219456"/>
          </a:xfrm>
          <a:prstGeom prst="rect">
            <a:avLst/>
          </a:prstGeom>
        </p:spPr>
      </p:pic>
      <p:sp>
        <p:nvSpPr>
          <p:cNvPr id="31" name="Text 24"/>
          <p:cNvSpPr/>
          <p:nvPr/>
        </p:nvSpPr>
        <p:spPr>
          <a:xfrm>
            <a:off x="502920" y="3840480"/>
            <a:ext cx="274320" cy="274320"/>
          </a:xfrm>
          <a:prstGeom prst="rect">
            <a:avLst/>
          </a:prstGeom>
          <a:noFill/>
          <a:ln/>
        </p:spPr>
        <p:txBody>
          <a:bodyPr wrap="square" lIns="0" tIns="0" rIns="0" bIns="0" rtlCol="0" anchor="ctr"/>
          <a:lstStyle/>
          <a:p>
            <a:pPr indent="0" marL="0">
              <a:buNone/>
            </a:pPr>
            <a:r>
              <a:rPr lang="en-US" sz="1000" b="1" dirty="0">
                <a:solidFill>
                  <a:srgbClr val="5B6B73"/>
                </a:solidFill>
                <a:latin typeface="Arial" pitchFamily="34" charset="0"/>
                <a:ea typeface="Arial" pitchFamily="34" charset="-122"/>
                <a:cs typeface="Arial" pitchFamily="34" charset="-120"/>
              </a:rPr>
              <a:t>5</a:t>
            </a:r>
            <a:endParaRPr lang="en-US" sz="1000" dirty="0"/>
          </a:p>
        </p:txBody>
      </p:sp>
      <p:sp>
        <p:nvSpPr>
          <p:cNvPr id="32" name="Text 25"/>
          <p:cNvSpPr/>
          <p:nvPr/>
        </p:nvSpPr>
        <p:spPr>
          <a:xfrm>
            <a:off x="1188720" y="3913632"/>
            <a:ext cx="3383280" cy="502920"/>
          </a:xfrm>
          <a:prstGeom prst="rect">
            <a:avLst/>
          </a:prstGeom>
          <a:noFill/>
          <a:ln/>
        </p:spPr>
        <p:txBody>
          <a:bodyPr wrap="square" lIns="0" tIns="0" rIns="0" bIns="0" rtlCol="0" anchor="ctr"/>
          <a:lstStyle/>
          <a:p>
            <a:pPr indent="0" marL="0">
              <a:buNone/>
            </a:pPr>
            <a:r>
              <a:rPr lang="en-US" sz="1400" b="1" dirty="0">
                <a:solidFill>
                  <a:srgbClr val="0B3D5C"/>
                </a:solidFill>
                <a:latin typeface="Arial" pitchFamily="34" charset="0"/>
                <a:ea typeface="Arial" pitchFamily="34" charset="-122"/>
                <a:cs typeface="Arial" pitchFamily="34" charset="-120"/>
              </a:rPr>
              <a:t>Bilan &amp; perspectives</a:t>
            </a:r>
            <a:endParaRPr lang="en-US" sz="1400" dirty="0"/>
          </a:p>
        </p:txBody>
      </p:sp>
      <p:sp>
        <p:nvSpPr>
          <p:cNvPr id="33" name="Text 26"/>
          <p:cNvSpPr/>
          <p:nvPr/>
        </p:nvSpPr>
        <p:spPr>
          <a:xfrm>
            <a:off x="4663440" y="3913632"/>
            <a:ext cx="3931920" cy="502920"/>
          </a:xfrm>
          <a:prstGeom prst="rect">
            <a:avLst/>
          </a:prstGeom>
          <a:noFill/>
          <a:ln/>
        </p:spPr>
        <p:txBody>
          <a:bodyPr wrap="square" lIns="0" tIns="0" rIns="0" bIns="0" rtlCol="0" anchor="ctr"/>
          <a:lstStyle/>
          <a:p>
            <a:pPr indent="0" marL="0">
              <a:lnSpc>
                <a:spcPct val="110000"/>
              </a:lnSpc>
              <a:buNone/>
            </a:pPr>
            <a:r>
              <a:rPr lang="en-US" sz="1050" dirty="0">
                <a:solidFill>
                  <a:srgbClr val="5B6B73"/>
                </a:solidFill>
                <a:latin typeface="Arial" pitchFamily="34" charset="0"/>
                <a:ea typeface="Arial" pitchFamily="34" charset="-122"/>
                <a:cs typeface="Arial" pitchFamily="34" charset="-120"/>
              </a:rPr>
              <a:t>Compétences acquises et suite à 12 mois</a:t>
            </a:r>
            <a:endParaRPr lang="en-US" sz="1050" dirty="0"/>
          </a:p>
        </p:txBody>
      </p:sp>
      <p:sp>
        <p:nvSpPr>
          <p:cNvPr id="34" name="Text 27"/>
          <p:cNvSpPr/>
          <p:nvPr/>
        </p:nvSpPr>
        <p:spPr>
          <a:xfrm>
            <a:off x="411480" y="4864608"/>
            <a:ext cx="4114800" cy="228600"/>
          </a:xfrm>
          <a:prstGeom prst="rect">
            <a:avLst/>
          </a:prstGeom>
          <a:noFill/>
          <a:ln/>
        </p:spPr>
        <p:txBody>
          <a:bodyPr wrap="square" lIns="0" tIns="0" rIns="0" bIns="0" rtlCol="0" anchor="ctr"/>
          <a:lstStyle/>
          <a:p>
            <a:pPr algn="l" indent="0" marL="0">
              <a:buNone/>
            </a:pPr>
            <a:r>
              <a:rPr lang="en-US" sz="800" dirty="0">
                <a:solidFill>
                  <a:srgbClr val="9AA9AE"/>
                </a:solidFill>
                <a:latin typeface="Arial" pitchFamily="34" charset="0"/>
                <a:ea typeface="Arial" pitchFamily="34" charset="-122"/>
                <a:cs typeface="Arial" pitchFamily="34" charset="-120"/>
              </a:rPr>
              <a:t>Rapport de mission — SPOUTNIK S62 — Pascal Varomme</a:t>
            </a:r>
            <a:endParaRPr lang="en-US" sz="800" dirty="0"/>
          </a:p>
        </p:txBody>
      </p:sp>
      <p:sp>
        <p:nvSpPr>
          <p:cNvPr id="35" name="Text 28"/>
          <p:cNvSpPr/>
          <p:nvPr/>
        </p:nvSpPr>
        <p:spPr>
          <a:xfrm>
            <a:off x="8366760" y="4864608"/>
            <a:ext cx="365760" cy="228600"/>
          </a:xfrm>
          <a:prstGeom prst="rect">
            <a:avLst/>
          </a:prstGeom>
          <a:noFill/>
          <a:ln/>
        </p:spPr>
        <p:txBody>
          <a:bodyPr wrap="square" lIns="0" tIns="0" rIns="0" bIns="0" rtlCol="0" anchor="ctr"/>
          <a:lstStyle/>
          <a:p>
            <a:pPr algn="r" indent="0" marL="0">
              <a:buNone/>
            </a:pPr>
            <a:r>
              <a:rPr lang="en-US" sz="800" dirty="0">
                <a:solidFill>
                  <a:srgbClr val="9AA9AE"/>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92608"/>
            <a:ext cx="8321040" cy="256032"/>
          </a:xfrm>
          <a:prstGeom prst="rect">
            <a:avLst/>
          </a:prstGeom>
          <a:noFill/>
          <a:ln/>
        </p:spPr>
        <p:txBody>
          <a:bodyPr wrap="square" lIns="0" tIns="0" rIns="0" bIns="0" rtlCol="0" anchor="ctr"/>
          <a:lstStyle/>
          <a:p>
            <a:pPr indent="0" marL="0">
              <a:buNone/>
            </a:pPr>
            <a:r>
              <a:rPr lang="en-US" sz="1100" b="1" spc="150" kern="0" dirty="0">
                <a:solidFill>
                  <a:srgbClr val="E8743B"/>
                </a:solidFill>
                <a:latin typeface="Arial" pitchFamily="34" charset="0"/>
                <a:ea typeface="Arial" pitchFamily="34" charset="-122"/>
                <a:cs typeface="Arial" pitchFamily="34" charset="-120"/>
              </a:rPr>
              <a:t>PARTIE 1 — L’ENTREPRISE</a:t>
            </a:r>
            <a:endParaRPr lang="en-US" sz="1100" dirty="0"/>
          </a:p>
        </p:txBody>
      </p:sp>
      <p:sp>
        <p:nvSpPr>
          <p:cNvPr id="3" name="Text 1"/>
          <p:cNvSpPr/>
          <p:nvPr/>
        </p:nvSpPr>
        <p:spPr>
          <a:xfrm>
            <a:off x="411480" y="530352"/>
            <a:ext cx="8321040" cy="566928"/>
          </a:xfrm>
          <a:prstGeom prst="rect">
            <a:avLst/>
          </a:prstGeom>
          <a:noFill/>
          <a:ln/>
        </p:spPr>
        <p:txBody>
          <a:bodyPr wrap="square" lIns="0" tIns="0" rIns="0" bIns="0" rtlCol="0" anchor="t"/>
          <a:lstStyle/>
          <a:p>
            <a:pPr indent="0" marL="0">
              <a:buNone/>
            </a:pPr>
            <a:r>
              <a:rPr lang="en-US" sz="2500" b="1" dirty="0">
                <a:solidFill>
                  <a:srgbClr val="0B3D5C"/>
                </a:solidFill>
                <a:latin typeface="Arial" pitchFamily="34" charset="0"/>
                <a:ea typeface="Arial" pitchFamily="34" charset="-122"/>
                <a:cs typeface="Arial" pitchFamily="34" charset="-120"/>
              </a:rPr>
              <a:t>My Sport Session, une startup sportive montpelliéraine</a:t>
            </a:r>
            <a:endParaRPr lang="en-US" sz="2500" dirty="0"/>
          </a:p>
        </p:txBody>
      </p:sp>
      <p:sp>
        <p:nvSpPr>
          <p:cNvPr id="4" name="Text 2"/>
          <p:cNvSpPr/>
          <p:nvPr/>
        </p:nvSpPr>
        <p:spPr>
          <a:xfrm>
            <a:off x="411480" y="1078992"/>
            <a:ext cx="8321040" cy="594360"/>
          </a:xfrm>
          <a:prstGeom prst="rect">
            <a:avLst/>
          </a:prstGeom>
          <a:noFill/>
          <a:ln/>
        </p:spPr>
        <p:txBody>
          <a:bodyPr wrap="square" lIns="0" tIns="0" rIns="0" bIns="0" rtlCol="0" anchor="ctr"/>
          <a:lstStyle/>
          <a:p>
            <a:pPr indent="0" marL="0">
              <a:lnSpc>
                <a:spcPct val="125000"/>
              </a:lnSpc>
              <a:buNone/>
            </a:pPr>
            <a:r>
              <a:rPr lang="en-US" sz="1200" dirty="0">
                <a:solidFill>
                  <a:srgbClr val="5B6B73"/>
                </a:solidFill>
                <a:latin typeface="Arial" pitchFamily="34" charset="0"/>
                <a:ea typeface="Arial" pitchFamily="34" charset="-122"/>
                <a:cs typeface="Arial" pitchFamily="34" charset="-120"/>
              </a:rPr>
              <a:t>Créée en 2019 par Stanislas Giraud (ex-cadre commercial, non-développeur), My Sport Session veut être le « Doctolib du sport » : réservation en ligne sans abonnement pour les clubs et structures indépendantes.</a:t>
            </a:r>
            <a:endParaRPr lang="en-US" sz="1200" dirty="0"/>
          </a:p>
        </p:txBody>
      </p:sp>
      <p:sp>
        <p:nvSpPr>
          <p:cNvPr id="5" name="Shape 3"/>
          <p:cNvSpPr/>
          <p:nvPr/>
        </p:nvSpPr>
        <p:spPr>
          <a:xfrm>
            <a:off x="411480" y="1828800"/>
            <a:ext cx="1965960" cy="1417320"/>
          </a:xfrm>
          <a:prstGeom prst="roundRect">
            <a:avLst>
              <a:gd name="adj" fmla="val 5161"/>
            </a:avLst>
          </a:prstGeom>
          <a:solidFill>
            <a:srgbClr val="0B3D5C"/>
          </a:solidFill>
          <a:ln/>
          <a:effectLst>
            <a:outerShdw sx="100000" sy="100000" kx="0" ky="0" algn="bl" rotWithShape="0" blurRad="88900" dist="25400" dir="5400000">
              <a:srgbClr val="0B3D5C">
                <a:alpha val="12000"/>
              </a:srgbClr>
            </a:outerShdw>
          </a:effectLst>
        </p:spPr>
      </p:sp>
      <p:sp>
        <p:nvSpPr>
          <p:cNvPr id="6" name="Shape 4"/>
          <p:cNvSpPr/>
          <p:nvPr/>
        </p:nvSpPr>
        <p:spPr>
          <a:xfrm>
            <a:off x="576072" y="1993392"/>
            <a:ext cx="457200" cy="457200"/>
          </a:xfrm>
          <a:prstGeom prst="ellipse">
            <a:avLst/>
          </a:prstGeom>
          <a:solidFill>
            <a:srgbClr val="1C7293"/>
          </a:solidFill>
          <a:ln/>
        </p:spPr>
      </p:sp>
      <p:pic>
        <p:nvPicPr>
          <p:cNvPr id="7" name="Image 0" descr="preencoded.png">    </p:cNvPr>
          <p:cNvPicPr>
            <a:picLocks noChangeAspect="1"/>
          </p:cNvPicPr>
          <p:nvPr/>
        </p:nvPicPr>
        <p:blipFill>
          <a:blip r:embed="rId1"/>
          <a:stretch>
            <a:fillRect/>
          </a:stretch>
        </p:blipFill>
        <p:spPr>
          <a:xfrm>
            <a:off x="694944" y="2112264"/>
            <a:ext cx="219456" cy="219456"/>
          </a:xfrm>
          <a:prstGeom prst="rect">
            <a:avLst/>
          </a:prstGeom>
        </p:spPr>
      </p:pic>
      <p:sp>
        <p:nvSpPr>
          <p:cNvPr id="8" name="Text 5"/>
          <p:cNvSpPr/>
          <p:nvPr/>
        </p:nvSpPr>
        <p:spPr>
          <a:xfrm>
            <a:off x="548640" y="2505456"/>
            <a:ext cx="169164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41</a:t>
            </a:r>
            <a:endParaRPr lang="en-US" sz="2200" dirty="0"/>
          </a:p>
        </p:txBody>
      </p:sp>
      <p:sp>
        <p:nvSpPr>
          <p:cNvPr id="9" name="Text 6"/>
          <p:cNvSpPr/>
          <p:nvPr/>
        </p:nvSpPr>
        <p:spPr>
          <a:xfrm>
            <a:off x="548640" y="2962656"/>
            <a:ext cx="1691640" cy="228600"/>
          </a:xfrm>
          <a:prstGeom prst="rect">
            <a:avLst/>
          </a:prstGeom>
          <a:noFill/>
          <a:ln/>
        </p:spPr>
        <p:txBody>
          <a:bodyPr wrap="square" lIns="0" tIns="0" rIns="0" bIns="0" rtlCol="0" anchor="ctr"/>
          <a:lstStyle/>
          <a:p>
            <a:pPr indent="0" marL="0">
              <a:buNone/>
            </a:pPr>
            <a:r>
              <a:rPr lang="en-US" sz="950" dirty="0">
                <a:solidFill>
                  <a:srgbClr val="C7DCE3"/>
                </a:solidFill>
                <a:latin typeface="Arial" pitchFamily="34" charset="0"/>
                <a:ea typeface="Arial" pitchFamily="34" charset="-122"/>
                <a:cs typeface="Arial" pitchFamily="34" charset="-120"/>
              </a:rPr>
              <a:t>clients actifs</a:t>
            </a:r>
            <a:endParaRPr lang="en-US" sz="950" dirty="0"/>
          </a:p>
        </p:txBody>
      </p:sp>
      <p:sp>
        <p:nvSpPr>
          <p:cNvPr id="10" name="Shape 7"/>
          <p:cNvSpPr/>
          <p:nvPr/>
        </p:nvSpPr>
        <p:spPr>
          <a:xfrm>
            <a:off x="2496312" y="1828800"/>
            <a:ext cx="1965960" cy="1417320"/>
          </a:xfrm>
          <a:prstGeom prst="roundRect">
            <a:avLst>
              <a:gd name="adj" fmla="val 5161"/>
            </a:avLst>
          </a:prstGeom>
          <a:solidFill>
            <a:srgbClr val="0B3D5C"/>
          </a:solidFill>
          <a:ln/>
          <a:effectLst>
            <a:outerShdw sx="100000" sy="100000" kx="0" ky="0" algn="bl" rotWithShape="0" blurRad="88900" dist="25400" dir="5400000">
              <a:srgbClr val="0B3D5C">
                <a:alpha val="12000"/>
              </a:srgbClr>
            </a:outerShdw>
          </a:effectLst>
        </p:spPr>
      </p:sp>
      <p:sp>
        <p:nvSpPr>
          <p:cNvPr id="11" name="Shape 8"/>
          <p:cNvSpPr/>
          <p:nvPr/>
        </p:nvSpPr>
        <p:spPr>
          <a:xfrm>
            <a:off x="2660904" y="1993392"/>
            <a:ext cx="457200" cy="457200"/>
          </a:xfrm>
          <a:prstGeom prst="ellipse">
            <a:avLst/>
          </a:prstGeom>
          <a:solidFill>
            <a:srgbClr val="1C7293"/>
          </a:solidFill>
          <a:ln/>
        </p:spPr>
      </p:sp>
      <p:pic>
        <p:nvPicPr>
          <p:cNvPr id="12" name="Image 1" descr="preencoded.png">    </p:cNvPr>
          <p:cNvPicPr>
            <a:picLocks noChangeAspect="1"/>
          </p:cNvPicPr>
          <p:nvPr/>
        </p:nvPicPr>
        <p:blipFill>
          <a:blip r:embed="rId2"/>
          <a:stretch>
            <a:fillRect/>
          </a:stretch>
        </p:blipFill>
        <p:spPr>
          <a:xfrm>
            <a:off x="2779776" y="2112264"/>
            <a:ext cx="219456" cy="219456"/>
          </a:xfrm>
          <a:prstGeom prst="rect">
            <a:avLst/>
          </a:prstGeom>
        </p:spPr>
      </p:pic>
      <p:sp>
        <p:nvSpPr>
          <p:cNvPr id="13" name="Text 9"/>
          <p:cNvSpPr/>
          <p:nvPr/>
        </p:nvSpPr>
        <p:spPr>
          <a:xfrm>
            <a:off x="2633472" y="2505456"/>
            <a:ext cx="169164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19 000 €</a:t>
            </a:r>
            <a:endParaRPr lang="en-US" sz="2200" dirty="0"/>
          </a:p>
        </p:txBody>
      </p:sp>
      <p:sp>
        <p:nvSpPr>
          <p:cNvPr id="14" name="Text 10"/>
          <p:cNvSpPr/>
          <p:nvPr/>
        </p:nvSpPr>
        <p:spPr>
          <a:xfrm>
            <a:off x="2633472" y="2962656"/>
            <a:ext cx="1691640" cy="228600"/>
          </a:xfrm>
          <a:prstGeom prst="rect">
            <a:avLst/>
          </a:prstGeom>
          <a:noFill/>
          <a:ln/>
        </p:spPr>
        <p:txBody>
          <a:bodyPr wrap="square" lIns="0" tIns="0" rIns="0" bIns="0" rtlCol="0" anchor="ctr"/>
          <a:lstStyle/>
          <a:p>
            <a:pPr indent="0" marL="0">
              <a:buNone/>
            </a:pPr>
            <a:r>
              <a:rPr lang="en-US" sz="950" dirty="0">
                <a:solidFill>
                  <a:srgbClr val="C7DCE3"/>
                </a:solidFill>
                <a:latin typeface="Arial" pitchFamily="34" charset="0"/>
                <a:ea typeface="Arial" pitchFamily="34" charset="-122"/>
                <a:cs typeface="Arial" pitchFamily="34" charset="-120"/>
              </a:rPr>
              <a:t>CA annuel HT</a:t>
            </a:r>
            <a:endParaRPr lang="en-US" sz="950" dirty="0"/>
          </a:p>
        </p:txBody>
      </p:sp>
      <p:sp>
        <p:nvSpPr>
          <p:cNvPr id="15" name="Shape 11"/>
          <p:cNvSpPr/>
          <p:nvPr/>
        </p:nvSpPr>
        <p:spPr>
          <a:xfrm>
            <a:off x="4581144" y="1828800"/>
            <a:ext cx="1965960" cy="1417320"/>
          </a:xfrm>
          <a:prstGeom prst="roundRect">
            <a:avLst>
              <a:gd name="adj" fmla="val 5161"/>
            </a:avLst>
          </a:prstGeom>
          <a:solidFill>
            <a:srgbClr val="0B3D5C"/>
          </a:solidFill>
          <a:ln/>
          <a:effectLst>
            <a:outerShdw sx="100000" sy="100000" kx="0" ky="0" algn="bl" rotWithShape="0" blurRad="88900" dist="25400" dir="5400000">
              <a:srgbClr val="0B3D5C">
                <a:alpha val="12000"/>
              </a:srgbClr>
            </a:outerShdw>
          </a:effectLst>
        </p:spPr>
      </p:sp>
      <p:sp>
        <p:nvSpPr>
          <p:cNvPr id="16" name="Shape 12"/>
          <p:cNvSpPr/>
          <p:nvPr/>
        </p:nvSpPr>
        <p:spPr>
          <a:xfrm>
            <a:off x="4745736" y="1993392"/>
            <a:ext cx="457200" cy="457200"/>
          </a:xfrm>
          <a:prstGeom prst="ellipse">
            <a:avLst/>
          </a:prstGeom>
          <a:solidFill>
            <a:srgbClr val="1C7293"/>
          </a:solidFill>
          <a:ln/>
        </p:spPr>
      </p:sp>
      <p:pic>
        <p:nvPicPr>
          <p:cNvPr id="17" name="Image 2" descr="preencoded.png">    </p:cNvPr>
          <p:cNvPicPr>
            <a:picLocks noChangeAspect="1"/>
          </p:cNvPicPr>
          <p:nvPr/>
        </p:nvPicPr>
        <p:blipFill>
          <a:blip r:embed="rId3"/>
          <a:stretch>
            <a:fillRect/>
          </a:stretch>
        </p:blipFill>
        <p:spPr>
          <a:xfrm>
            <a:off x="4864608" y="2112264"/>
            <a:ext cx="219456" cy="219456"/>
          </a:xfrm>
          <a:prstGeom prst="rect">
            <a:avLst/>
          </a:prstGeom>
        </p:spPr>
      </p:pic>
      <p:sp>
        <p:nvSpPr>
          <p:cNvPr id="18" name="Text 13"/>
          <p:cNvSpPr/>
          <p:nvPr/>
        </p:nvSpPr>
        <p:spPr>
          <a:xfrm>
            <a:off x="4718304" y="2505456"/>
            <a:ext cx="169164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8 000+</a:t>
            </a:r>
            <a:endParaRPr lang="en-US" sz="2200" dirty="0"/>
          </a:p>
        </p:txBody>
      </p:sp>
      <p:sp>
        <p:nvSpPr>
          <p:cNvPr id="19" name="Text 14"/>
          <p:cNvSpPr/>
          <p:nvPr/>
        </p:nvSpPr>
        <p:spPr>
          <a:xfrm>
            <a:off x="4718304" y="2962656"/>
            <a:ext cx="1691640" cy="228600"/>
          </a:xfrm>
          <a:prstGeom prst="rect">
            <a:avLst/>
          </a:prstGeom>
          <a:noFill/>
          <a:ln/>
        </p:spPr>
        <p:txBody>
          <a:bodyPr wrap="square" lIns="0" tIns="0" rIns="0" bIns="0" rtlCol="0" anchor="ctr"/>
          <a:lstStyle/>
          <a:p>
            <a:pPr indent="0" marL="0">
              <a:buNone/>
            </a:pPr>
            <a:r>
              <a:rPr lang="en-US" sz="950" dirty="0">
                <a:solidFill>
                  <a:srgbClr val="C7DCE3"/>
                </a:solidFill>
                <a:latin typeface="Arial" pitchFamily="34" charset="0"/>
                <a:ea typeface="Arial" pitchFamily="34" charset="-122"/>
                <a:cs typeface="Arial" pitchFamily="34" charset="-120"/>
              </a:rPr>
              <a:t>réservations / mois</a:t>
            </a:r>
            <a:endParaRPr lang="en-US" sz="950" dirty="0"/>
          </a:p>
        </p:txBody>
      </p:sp>
      <p:sp>
        <p:nvSpPr>
          <p:cNvPr id="20" name="Shape 15"/>
          <p:cNvSpPr/>
          <p:nvPr/>
        </p:nvSpPr>
        <p:spPr>
          <a:xfrm>
            <a:off x="6665976" y="1828800"/>
            <a:ext cx="1965960" cy="1417320"/>
          </a:xfrm>
          <a:prstGeom prst="roundRect">
            <a:avLst>
              <a:gd name="adj" fmla="val 5161"/>
            </a:avLst>
          </a:prstGeom>
          <a:solidFill>
            <a:srgbClr val="0B3D5C"/>
          </a:solidFill>
          <a:ln/>
          <a:effectLst>
            <a:outerShdw sx="100000" sy="100000" kx="0" ky="0" algn="bl" rotWithShape="0" blurRad="88900" dist="25400" dir="5400000">
              <a:srgbClr val="0B3D5C">
                <a:alpha val="12000"/>
              </a:srgbClr>
            </a:outerShdw>
          </a:effectLst>
        </p:spPr>
      </p:sp>
      <p:sp>
        <p:nvSpPr>
          <p:cNvPr id="21" name="Shape 16"/>
          <p:cNvSpPr/>
          <p:nvPr/>
        </p:nvSpPr>
        <p:spPr>
          <a:xfrm>
            <a:off x="6830568" y="1993392"/>
            <a:ext cx="457200" cy="457200"/>
          </a:xfrm>
          <a:prstGeom prst="ellipse">
            <a:avLst/>
          </a:prstGeom>
          <a:solidFill>
            <a:srgbClr val="1C7293"/>
          </a:solidFill>
          <a:ln/>
        </p:spPr>
      </p:sp>
      <p:pic>
        <p:nvPicPr>
          <p:cNvPr id="22" name="Image 3" descr="preencoded.png">    </p:cNvPr>
          <p:cNvPicPr>
            <a:picLocks noChangeAspect="1"/>
          </p:cNvPicPr>
          <p:nvPr/>
        </p:nvPicPr>
        <p:blipFill>
          <a:blip r:embed="rId4"/>
          <a:stretch>
            <a:fillRect/>
          </a:stretch>
        </p:blipFill>
        <p:spPr>
          <a:xfrm>
            <a:off x="6949440" y="2112264"/>
            <a:ext cx="219456" cy="219456"/>
          </a:xfrm>
          <a:prstGeom prst="rect">
            <a:avLst/>
          </a:prstGeom>
        </p:spPr>
      </p:pic>
      <p:sp>
        <p:nvSpPr>
          <p:cNvPr id="23" name="Text 17"/>
          <p:cNvSpPr/>
          <p:nvPr/>
        </p:nvSpPr>
        <p:spPr>
          <a:xfrm>
            <a:off x="6803136" y="2505456"/>
            <a:ext cx="1691640" cy="457200"/>
          </a:xfrm>
          <a:prstGeom prst="rect">
            <a:avLst/>
          </a:prstGeom>
          <a:noFill/>
          <a:ln/>
        </p:spPr>
        <p:txBody>
          <a:bodyPr wrap="square" lIns="0" tIns="0" rIns="0" bIns="0" rtlCol="0" anchor="ctr"/>
          <a:lstStyle/>
          <a:p>
            <a:pPr indent="0" marL="0">
              <a:buNone/>
            </a:pPr>
            <a:r>
              <a:rPr lang="en-US" sz="2200" b="1" dirty="0">
                <a:solidFill>
                  <a:srgbClr val="FFFFFF"/>
                </a:solidFill>
                <a:latin typeface="Arial" pitchFamily="34" charset="0"/>
                <a:ea typeface="Arial" pitchFamily="34" charset="-122"/>
                <a:cs typeface="Arial" pitchFamily="34" charset="-120"/>
              </a:rPr>
              <a:t>29–130 €</a:t>
            </a:r>
            <a:endParaRPr lang="en-US" sz="2200" dirty="0"/>
          </a:p>
        </p:txBody>
      </p:sp>
      <p:sp>
        <p:nvSpPr>
          <p:cNvPr id="24" name="Text 18"/>
          <p:cNvSpPr/>
          <p:nvPr/>
        </p:nvSpPr>
        <p:spPr>
          <a:xfrm>
            <a:off x="6803136" y="2962656"/>
            <a:ext cx="1691640" cy="228600"/>
          </a:xfrm>
          <a:prstGeom prst="rect">
            <a:avLst/>
          </a:prstGeom>
          <a:noFill/>
          <a:ln/>
        </p:spPr>
        <p:txBody>
          <a:bodyPr wrap="square" lIns="0" tIns="0" rIns="0" bIns="0" rtlCol="0" anchor="ctr"/>
          <a:lstStyle/>
          <a:p>
            <a:pPr indent="0" marL="0">
              <a:buNone/>
            </a:pPr>
            <a:r>
              <a:rPr lang="en-US" sz="950" dirty="0">
                <a:solidFill>
                  <a:srgbClr val="C7DCE3"/>
                </a:solidFill>
                <a:latin typeface="Arial" pitchFamily="34" charset="0"/>
                <a:ea typeface="Arial" pitchFamily="34" charset="-122"/>
                <a:cs typeface="Arial" pitchFamily="34" charset="-120"/>
              </a:rPr>
              <a:t>abonnement SaaS / mois</a:t>
            </a:r>
            <a:endParaRPr lang="en-US" sz="950" dirty="0"/>
          </a:p>
        </p:txBody>
      </p:sp>
      <p:sp>
        <p:nvSpPr>
          <p:cNvPr id="25" name="Text 19"/>
          <p:cNvSpPr/>
          <p:nvPr/>
        </p:nvSpPr>
        <p:spPr>
          <a:xfrm>
            <a:off x="411480" y="3520440"/>
            <a:ext cx="8321040" cy="502920"/>
          </a:xfrm>
          <a:prstGeom prst="rect">
            <a:avLst/>
          </a:prstGeom>
          <a:noFill/>
          <a:ln/>
        </p:spPr>
        <p:txBody>
          <a:bodyPr wrap="square" lIns="0" tIns="0" rIns="0" bIns="0" rtlCol="0" anchor="ctr"/>
          <a:lstStyle/>
          <a:p>
            <a:pPr indent="0" marL="0">
              <a:lnSpc>
                <a:spcPct val="125000"/>
              </a:lnSpc>
              <a:buNone/>
            </a:pPr>
            <a:r>
              <a:rPr lang="en-US" sz="1150" b="1" dirty="0">
                <a:solidFill>
                  <a:srgbClr val="0B3D5C"/>
                </a:solidFill>
                <a:latin typeface="Arial" pitchFamily="34" charset="0"/>
                <a:ea typeface="Arial" pitchFamily="34" charset="-122"/>
                <a:cs typeface="Arial" pitchFamily="34" charset="-120"/>
              </a:rPr>
              <a:t>Équipe légère </a:t>
            </a:r>
            <a:pPr indent="0" marL="0">
              <a:lnSpc>
                <a:spcPct val="125000"/>
              </a:lnSpc>
              <a:buNone/>
            </a:pPr>
            <a:r>
              <a:rPr lang="en-US" sz="1150" dirty="0">
                <a:solidFill>
                  <a:srgbClr val="5B6B73"/>
                </a:solidFill>
                <a:latin typeface="Arial" pitchFamily="34" charset="0"/>
                <a:ea typeface="Arial" pitchFamily="34" charset="-122"/>
                <a:cs typeface="Arial" pitchFamily="34" charset="-120"/>
              </a:rPr>
              <a:t>(fondateur, marketing, support, développeurs externes) — flexible, mais très dépendante de quelques personnes-clés : le départ des deux bizdev en octobre 2025 le confirmera.</a:t>
            </a:r>
            <a:endParaRPr lang="en-US" sz="1150" dirty="0"/>
          </a:p>
        </p:txBody>
      </p:sp>
      <p:sp>
        <p:nvSpPr>
          <p:cNvPr id="26" name="Text 20"/>
          <p:cNvSpPr/>
          <p:nvPr/>
        </p:nvSpPr>
        <p:spPr>
          <a:xfrm>
            <a:off x="411480" y="4114800"/>
            <a:ext cx="8321040" cy="502920"/>
          </a:xfrm>
          <a:prstGeom prst="rect">
            <a:avLst/>
          </a:prstGeom>
          <a:noFill/>
          <a:ln/>
        </p:spPr>
        <p:txBody>
          <a:bodyPr wrap="square" lIns="0" tIns="0" rIns="0" bIns="0" rtlCol="0" anchor="ctr"/>
          <a:lstStyle/>
          <a:p>
            <a:pPr indent="0" marL="0">
              <a:lnSpc>
                <a:spcPct val="125000"/>
              </a:lnSpc>
              <a:buNone/>
            </a:pPr>
            <a:r>
              <a:rPr lang="en-US" sz="1150" b="1" dirty="0">
                <a:solidFill>
                  <a:srgbClr val="E8743B"/>
                </a:solidFill>
                <a:latin typeface="Arial" pitchFamily="34" charset="0"/>
                <a:ea typeface="Arial" pitchFamily="34" charset="-122"/>
                <a:cs typeface="Arial" pitchFamily="34" charset="-120"/>
              </a:rPr>
              <a:t>Un atout sous-estimé — </a:t>
            </a:r>
            <a:pPr indent="0" marL="0">
              <a:lnSpc>
                <a:spcPct val="125000"/>
              </a:lnSpc>
              <a:buNone/>
            </a:pPr>
            <a:r>
              <a:rPr lang="en-US" sz="1150" dirty="0">
                <a:solidFill>
                  <a:srgbClr val="5B6B73"/>
                </a:solidFill>
                <a:latin typeface="Arial" pitchFamily="34" charset="0"/>
                <a:ea typeface="Arial" pitchFamily="34" charset="-122"/>
                <a:cs typeface="Arial" pitchFamily="34" charset="-120"/>
              </a:rPr>
              <a:t>chaque client bénéficie d’une page vitrine sur mysportsession.com, hébergée gratuitement et bénéficiant de l’autorité SEO du domaine.</a:t>
            </a:r>
            <a:endParaRPr lang="en-US" sz="1150" dirty="0"/>
          </a:p>
        </p:txBody>
      </p:sp>
      <p:sp>
        <p:nvSpPr>
          <p:cNvPr id="27" name="Text 21"/>
          <p:cNvSpPr/>
          <p:nvPr/>
        </p:nvSpPr>
        <p:spPr>
          <a:xfrm>
            <a:off x="411480" y="4864608"/>
            <a:ext cx="4114800" cy="228600"/>
          </a:xfrm>
          <a:prstGeom prst="rect">
            <a:avLst/>
          </a:prstGeom>
          <a:noFill/>
          <a:ln/>
        </p:spPr>
        <p:txBody>
          <a:bodyPr wrap="square" lIns="0" tIns="0" rIns="0" bIns="0" rtlCol="0" anchor="ctr"/>
          <a:lstStyle/>
          <a:p>
            <a:pPr algn="l" indent="0" marL="0">
              <a:buNone/>
            </a:pPr>
            <a:r>
              <a:rPr lang="en-US" sz="800" dirty="0">
                <a:solidFill>
                  <a:srgbClr val="9AA9AE"/>
                </a:solidFill>
                <a:latin typeface="Arial" pitchFamily="34" charset="0"/>
                <a:ea typeface="Arial" pitchFamily="34" charset="-122"/>
                <a:cs typeface="Arial" pitchFamily="34" charset="-120"/>
              </a:rPr>
              <a:t>Rapport de mission — SPOUTNIK S62 — Pascal Varomme</a:t>
            </a:r>
            <a:endParaRPr lang="en-US" sz="800" dirty="0"/>
          </a:p>
        </p:txBody>
      </p:sp>
      <p:sp>
        <p:nvSpPr>
          <p:cNvPr id="28" name="Text 22"/>
          <p:cNvSpPr/>
          <p:nvPr/>
        </p:nvSpPr>
        <p:spPr>
          <a:xfrm>
            <a:off x="8366760" y="4864608"/>
            <a:ext cx="365760" cy="228600"/>
          </a:xfrm>
          <a:prstGeom prst="rect">
            <a:avLst/>
          </a:prstGeom>
          <a:noFill/>
          <a:ln/>
        </p:spPr>
        <p:txBody>
          <a:bodyPr wrap="square" lIns="0" tIns="0" rIns="0" bIns="0" rtlCol="0" anchor="ctr"/>
          <a:lstStyle/>
          <a:p>
            <a:pPr algn="r" indent="0" marL="0">
              <a:buNone/>
            </a:pPr>
            <a:r>
              <a:rPr lang="en-US" sz="800" dirty="0">
                <a:solidFill>
                  <a:srgbClr val="9AA9AE"/>
                </a:solidFill>
                <a:latin typeface="Arial" pitchFamily="34" charset="0"/>
                <a:ea typeface="Arial" pitchFamily="34" charset="-122"/>
                <a:cs typeface="Arial" pitchFamily="34" charset="-120"/>
              </a:rPr>
              <a:t>4</a:t>
            </a:r>
            <a:endParaRPr lang="en-US" sz="800" dirty="0"/>
          </a:p>
        </p:txBody>
      </p:sp>
      <p:sp>
        <p:nvSpPr>
          <p:cNvPr id="29" name="Shape 23"/>
          <p:cNvSpPr/>
          <p:nvPr/>
        </p:nvSpPr>
        <p:spPr>
          <a:xfrm>
            <a:off x="6583680" y="406908"/>
            <a:ext cx="82296" cy="82296"/>
          </a:xfrm>
          <a:prstGeom prst="ellipse">
            <a:avLst/>
          </a:prstGeom>
          <a:solidFill>
            <a:srgbClr val="E8743B"/>
          </a:solidFill>
          <a:ln/>
        </p:spPr>
      </p:sp>
      <p:sp>
        <p:nvSpPr>
          <p:cNvPr id="30" name="Shape 24"/>
          <p:cNvSpPr/>
          <p:nvPr/>
        </p:nvSpPr>
        <p:spPr>
          <a:xfrm>
            <a:off x="6624828" y="448056"/>
            <a:ext cx="434340" cy="0"/>
          </a:xfrm>
          <a:prstGeom prst="line">
            <a:avLst/>
          </a:prstGeom>
          <a:noFill/>
          <a:ln w="12700">
            <a:solidFill>
              <a:srgbClr val="C7D6DB"/>
            </a:solidFill>
            <a:prstDash val="solid"/>
          </a:ln>
        </p:spPr>
      </p:sp>
      <p:sp>
        <p:nvSpPr>
          <p:cNvPr id="31" name="Shape 25"/>
          <p:cNvSpPr/>
          <p:nvPr/>
        </p:nvSpPr>
        <p:spPr>
          <a:xfrm>
            <a:off x="7100316" y="406908"/>
            <a:ext cx="82296" cy="82296"/>
          </a:xfrm>
          <a:prstGeom prst="ellipse">
            <a:avLst/>
          </a:prstGeom>
          <a:solidFill>
            <a:srgbClr val="C7D6DB"/>
          </a:solidFill>
          <a:ln/>
        </p:spPr>
      </p:sp>
      <p:sp>
        <p:nvSpPr>
          <p:cNvPr id="32" name="Shape 26"/>
          <p:cNvSpPr/>
          <p:nvPr/>
        </p:nvSpPr>
        <p:spPr>
          <a:xfrm>
            <a:off x="7141464" y="448056"/>
            <a:ext cx="434340" cy="0"/>
          </a:xfrm>
          <a:prstGeom prst="line">
            <a:avLst/>
          </a:prstGeom>
          <a:noFill/>
          <a:ln w="12700">
            <a:solidFill>
              <a:srgbClr val="C7D6DB"/>
            </a:solidFill>
            <a:prstDash val="solid"/>
          </a:ln>
        </p:spPr>
      </p:sp>
      <p:sp>
        <p:nvSpPr>
          <p:cNvPr id="33" name="Shape 27"/>
          <p:cNvSpPr/>
          <p:nvPr/>
        </p:nvSpPr>
        <p:spPr>
          <a:xfrm>
            <a:off x="7616952" y="406908"/>
            <a:ext cx="82296" cy="82296"/>
          </a:xfrm>
          <a:prstGeom prst="ellipse">
            <a:avLst/>
          </a:prstGeom>
          <a:solidFill>
            <a:srgbClr val="C7D6DB"/>
          </a:solidFill>
          <a:ln/>
        </p:spPr>
      </p:sp>
      <p:sp>
        <p:nvSpPr>
          <p:cNvPr id="34" name="Shape 28"/>
          <p:cNvSpPr/>
          <p:nvPr/>
        </p:nvSpPr>
        <p:spPr>
          <a:xfrm>
            <a:off x="7658100" y="448056"/>
            <a:ext cx="434340" cy="0"/>
          </a:xfrm>
          <a:prstGeom prst="line">
            <a:avLst/>
          </a:prstGeom>
          <a:noFill/>
          <a:ln w="12700">
            <a:solidFill>
              <a:srgbClr val="C7D6DB"/>
            </a:solidFill>
            <a:prstDash val="solid"/>
          </a:ln>
        </p:spPr>
      </p:sp>
      <p:sp>
        <p:nvSpPr>
          <p:cNvPr id="35" name="Shape 29"/>
          <p:cNvSpPr/>
          <p:nvPr/>
        </p:nvSpPr>
        <p:spPr>
          <a:xfrm>
            <a:off x="8133588" y="406908"/>
            <a:ext cx="82296" cy="82296"/>
          </a:xfrm>
          <a:prstGeom prst="ellipse">
            <a:avLst/>
          </a:prstGeom>
          <a:solidFill>
            <a:srgbClr val="C7D6DB"/>
          </a:solidFill>
          <a:ln/>
        </p:spPr>
      </p:sp>
      <p:sp>
        <p:nvSpPr>
          <p:cNvPr id="36" name="Shape 30"/>
          <p:cNvSpPr/>
          <p:nvPr/>
        </p:nvSpPr>
        <p:spPr>
          <a:xfrm>
            <a:off x="8174736" y="448056"/>
            <a:ext cx="434340" cy="0"/>
          </a:xfrm>
          <a:prstGeom prst="line">
            <a:avLst/>
          </a:prstGeom>
          <a:noFill/>
          <a:ln w="12700">
            <a:solidFill>
              <a:srgbClr val="C7D6DB"/>
            </a:solidFill>
            <a:prstDash val="solid"/>
          </a:ln>
        </p:spPr>
      </p:sp>
      <p:sp>
        <p:nvSpPr>
          <p:cNvPr id="37" name="Shape 31"/>
          <p:cNvSpPr/>
          <p:nvPr/>
        </p:nvSpPr>
        <p:spPr>
          <a:xfrm>
            <a:off x="8650224" y="406908"/>
            <a:ext cx="82296" cy="82296"/>
          </a:xfrm>
          <a:prstGeom prst="ellipse">
            <a:avLst/>
          </a:prstGeom>
          <a:solidFill>
            <a:srgbClr val="C7D6DB"/>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92608"/>
            <a:ext cx="8321040" cy="256032"/>
          </a:xfrm>
          <a:prstGeom prst="rect">
            <a:avLst/>
          </a:prstGeom>
          <a:noFill/>
          <a:ln/>
        </p:spPr>
        <p:txBody>
          <a:bodyPr wrap="square" lIns="0" tIns="0" rIns="0" bIns="0" rtlCol="0" anchor="ctr"/>
          <a:lstStyle/>
          <a:p>
            <a:pPr indent="0" marL="0">
              <a:buNone/>
            </a:pPr>
            <a:r>
              <a:rPr lang="en-US" sz="1100" b="1" spc="150" kern="0" dirty="0">
                <a:solidFill>
                  <a:srgbClr val="E8743B"/>
                </a:solidFill>
                <a:latin typeface="Arial" pitchFamily="34" charset="0"/>
                <a:ea typeface="Arial" pitchFamily="34" charset="-122"/>
                <a:cs typeface="Arial" pitchFamily="34" charset="-120"/>
              </a:rPr>
              <a:t>PARTIE 1 — CONTEXTE DE LA MISSION</a:t>
            </a:r>
            <a:endParaRPr lang="en-US" sz="1100" dirty="0"/>
          </a:p>
        </p:txBody>
      </p:sp>
      <p:sp>
        <p:nvSpPr>
          <p:cNvPr id="3" name="Text 1"/>
          <p:cNvSpPr/>
          <p:nvPr/>
        </p:nvSpPr>
        <p:spPr>
          <a:xfrm>
            <a:off x="411480" y="530352"/>
            <a:ext cx="8321040" cy="566928"/>
          </a:xfrm>
          <a:prstGeom prst="rect">
            <a:avLst/>
          </a:prstGeom>
          <a:noFill/>
          <a:ln/>
        </p:spPr>
        <p:txBody>
          <a:bodyPr wrap="square" lIns="0" tIns="0" rIns="0" bIns="0" rtlCol="0" anchor="t"/>
          <a:lstStyle/>
          <a:p>
            <a:pPr indent="0" marL="0">
              <a:buNone/>
            </a:pPr>
            <a:r>
              <a:rPr lang="en-US" sz="2500" b="1" dirty="0">
                <a:solidFill>
                  <a:srgbClr val="0B3D5C"/>
                </a:solidFill>
                <a:latin typeface="Arial" pitchFamily="34" charset="0"/>
                <a:ea typeface="Arial" pitchFamily="34" charset="-122"/>
                <a:cs typeface="Arial" pitchFamily="34" charset="-120"/>
              </a:rPr>
              <a:t>Un vide commercial à combler, pas un poste à occuper</a:t>
            </a:r>
            <a:endParaRPr lang="en-US" sz="2500" dirty="0"/>
          </a:p>
        </p:txBody>
      </p:sp>
      <p:sp>
        <p:nvSpPr>
          <p:cNvPr id="4" name="Shape 2"/>
          <p:cNvSpPr/>
          <p:nvPr/>
        </p:nvSpPr>
        <p:spPr>
          <a:xfrm>
            <a:off x="411480" y="1234440"/>
            <a:ext cx="1993392" cy="2926080"/>
          </a:xfrm>
          <a:prstGeom prst="roundRect">
            <a:avLst>
              <a:gd name="adj" fmla="val 3670"/>
            </a:avLst>
          </a:prstGeom>
          <a:solidFill>
            <a:srgbClr val="EDF2F4"/>
          </a:solidFill>
          <a:ln/>
          <a:effectLst>
            <a:outerShdw sx="100000" sy="100000" kx="0" ky="0" algn="bl" rotWithShape="0" blurRad="88900" dist="25400" dir="5400000">
              <a:srgbClr val="0B3D5C">
                <a:alpha val="12000"/>
              </a:srgbClr>
            </a:outerShdw>
          </a:effectLst>
        </p:spPr>
      </p:sp>
      <p:sp>
        <p:nvSpPr>
          <p:cNvPr id="5" name="Shape 3"/>
          <p:cNvSpPr/>
          <p:nvPr/>
        </p:nvSpPr>
        <p:spPr>
          <a:xfrm>
            <a:off x="576072" y="1417320"/>
            <a:ext cx="502920" cy="502920"/>
          </a:xfrm>
          <a:prstGeom prst="ellipse">
            <a:avLst/>
          </a:prstGeom>
          <a:solidFill>
            <a:srgbClr val="0B3D5C"/>
          </a:solidFill>
          <a:ln/>
        </p:spPr>
      </p:sp>
      <p:pic>
        <p:nvPicPr>
          <p:cNvPr id="6" name="Image 0" descr="preencoded.png">    </p:cNvPr>
          <p:cNvPicPr>
            <a:picLocks noChangeAspect="1"/>
          </p:cNvPicPr>
          <p:nvPr/>
        </p:nvPicPr>
        <p:blipFill>
          <a:blip r:embed="rId1"/>
          <a:stretch>
            <a:fillRect/>
          </a:stretch>
        </p:blipFill>
        <p:spPr>
          <a:xfrm>
            <a:off x="706831" y="1548079"/>
            <a:ext cx="241402" cy="241402"/>
          </a:xfrm>
          <a:prstGeom prst="rect">
            <a:avLst/>
          </a:prstGeom>
        </p:spPr>
      </p:pic>
      <p:sp>
        <p:nvSpPr>
          <p:cNvPr id="7" name="Text 4"/>
          <p:cNvSpPr/>
          <p:nvPr/>
        </p:nvSpPr>
        <p:spPr>
          <a:xfrm>
            <a:off x="576072" y="2029968"/>
            <a:ext cx="1664208" cy="274320"/>
          </a:xfrm>
          <a:prstGeom prst="rect">
            <a:avLst/>
          </a:prstGeom>
          <a:noFill/>
          <a:ln/>
        </p:spPr>
        <p:txBody>
          <a:bodyPr wrap="square" lIns="0" tIns="0" rIns="0" bIns="0" rtlCol="0" anchor="ctr"/>
          <a:lstStyle/>
          <a:p>
            <a:pPr indent="0" marL="0">
              <a:buNone/>
            </a:pPr>
            <a:r>
              <a:rPr lang="en-US" sz="1250" b="1" dirty="0">
                <a:solidFill>
                  <a:srgbClr val="0B3D5C"/>
                </a:solidFill>
                <a:latin typeface="Arial" pitchFamily="34" charset="0"/>
                <a:ea typeface="Arial" pitchFamily="34" charset="-122"/>
                <a:cs typeface="Arial" pitchFamily="34" charset="-120"/>
              </a:rPr>
              <a:t>Juillet 2025</a:t>
            </a:r>
            <a:endParaRPr lang="en-US" sz="1250" dirty="0"/>
          </a:p>
        </p:txBody>
      </p:sp>
      <p:sp>
        <p:nvSpPr>
          <p:cNvPr id="8" name="Text 5"/>
          <p:cNvSpPr/>
          <p:nvPr/>
        </p:nvSpPr>
        <p:spPr>
          <a:xfrm>
            <a:off x="576072" y="2331720"/>
            <a:ext cx="1664208" cy="1737360"/>
          </a:xfrm>
          <a:prstGeom prst="rect">
            <a:avLst/>
          </a:prstGeom>
          <a:noFill/>
          <a:ln/>
        </p:spPr>
        <p:txBody>
          <a:bodyPr wrap="square" lIns="0" tIns="0" rIns="0" bIns="0" rtlCol="0" anchor="t"/>
          <a:lstStyle/>
          <a:p>
            <a:pPr indent="0" marL="0">
              <a:lnSpc>
                <a:spcPct val="120000"/>
              </a:lnSpc>
              <a:buNone/>
            </a:pPr>
            <a:r>
              <a:rPr lang="en-US" sz="1000" dirty="0">
                <a:solidFill>
                  <a:srgbClr val="5B6B73"/>
                </a:solidFill>
                <a:latin typeface="Arial" pitchFamily="34" charset="0"/>
                <a:ea typeface="Arial" pitchFamily="34" charset="-122"/>
                <a:cs typeface="Arial" pitchFamily="34" charset="-120"/>
              </a:rPr>
              <a:t>Arrivée en alternance. Trois chantiers : CRM Brevo, scripts de vente, refonte du site.</a:t>
            </a:r>
            <a:endParaRPr lang="en-US" sz="1000" dirty="0"/>
          </a:p>
        </p:txBody>
      </p:sp>
      <p:sp>
        <p:nvSpPr>
          <p:cNvPr id="9" name="Shape 6"/>
          <p:cNvSpPr/>
          <p:nvPr/>
        </p:nvSpPr>
        <p:spPr>
          <a:xfrm rot="5400000">
            <a:off x="2395728" y="2606040"/>
            <a:ext cx="128016" cy="128016"/>
          </a:xfrm>
          <a:prstGeom prst="triangle">
            <a:avLst/>
          </a:prstGeom>
          <a:solidFill>
            <a:srgbClr val="C7D6DB"/>
          </a:solidFill>
          <a:ln/>
        </p:spPr>
      </p:sp>
      <p:sp>
        <p:nvSpPr>
          <p:cNvPr id="10" name="Shape 7"/>
          <p:cNvSpPr/>
          <p:nvPr/>
        </p:nvSpPr>
        <p:spPr>
          <a:xfrm>
            <a:off x="2514600" y="1234440"/>
            <a:ext cx="1993392" cy="2926080"/>
          </a:xfrm>
          <a:prstGeom prst="roundRect">
            <a:avLst>
              <a:gd name="adj" fmla="val 3670"/>
            </a:avLst>
          </a:prstGeom>
          <a:solidFill>
            <a:srgbClr val="EDF2F4"/>
          </a:solidFill>
          <a:ln/>
          <a:effectLst>
            <a:outerShdw sx="100000" sy="100000" kx="0" ky="0" algn="bl" rotWithShape="0" blurRad="88900" dist="25400" dir="5400000">
              <a:srgbClr val="0B3D5C">
                <a:alpha val="12000"/>
              </a:srgbClr>
            </a:outerShdw>
          </a:effectLst>
        </p:spPr>
      </p:sp>
      <p:sp>
        <p:nvSpPr>
          <p:cNvPr id="11" name="Shape 8"/>
          <p:cNvSpPr/>
          <p:nvPr/>
        </p:nvSpPr>
        <p:spPr>
          <a:xfrm>
            <a:off x="2679192" y="1417320"/>
            <a:ext cx="502920" cy="502920"/>
          </a:xfrm>
          <a:prstGeom prst="ellipse">
            <a:avLst/>
          </a:prstGeom>
          <a:solidFill>
            <a:srgbClr val="E8743B"/>
          </a:solidFill>
          <a:ln/>
        </p:spPr>
      </p:sp>
      <p:pic>
        <p:nvPicPr>
          <p:cNvPr id="12" name="Image 1" descr="preencoded.png">    </p:cNvPr>
          <p:cNvPicPr>
            <a:picLocks noChangeAspect="1"/>
          </p:cNvPicPr>
          <p:nvPr/>
        </p:nvPicPr>
        <p:blipFill>
          <a:blip r:embed="rId2"/>
          <a:stretch>
            <a:fillRect/>
          </a:stretch>
        </p:blipFill>
        <p:spPr>
          <a:xfrm>
            <a:off x="2809951" y="1548079"/>
            <a:ext cx="241402" cy="241402"/>
          </a:xfrm>
          <a:prstGeom prst="rect">
            <a:avLst/>
          </a:prstGeom>
        </p:spPr>
      </p:pic>
      <p:sp>
        <p:nvSpPr>
          <p:cNvPr id="13" name="Text 9"/>
          <p:cNvSpPr/>
          <p:nvPr/>
        </p:nvSpPr>
        <p:spPr>
          <a:xfrm>
            <a:off x="2679192" y="2029968"/>
            <a:ext cx="1664208" cy="274320"/>
          </a:xfrm>
          <a:prstGeom prst="rect">
            <a:avLst/>
          </a:prstGeom>
          <a:noFill/>
          <a:ln/>
        </p:spPr>
        <p:txBody>
          <a:bodyPr wrap="square" lIns="0" tIns="0" rIns="0" bIns="0" rtlCol="0" anchor="ctr"/>
          <a:lstStyle/>
          <a:p>
            <a:pPr indent="0" marL="0">
              <a:buNone/>
            </a:pPr>
            <a:r>
              <a:rPr lang="en-US" sz="1250" b="1" dirty="0">
                <a:solidFill>
                  <a:srgbClr val="0B3D5C"/>
                </a:solidFill>
                <a:latin typeface="Arial" pitchFamily="34" charset="0"/>
                <a:ea typeface="Arial" pitchFamily="34" charset="-122"/>
                <a:cs typeface="Arial" pitchFamily="34" charset="-120"/>
              </a:rPr>
              <a:t>Octobre 2025</a:t>
            </a:r>
            <a:endParaRPr lang="en-US" sz="1250" dirty="0"/>
          </a:p>
        </p:txBody>
      </p:sp>
      <p:sp>
        <p:nvSpPr>
          <p:cNvPr id="14" name="Text 10"/>
          <p:cNvSpPr/>
          <p:nvPr/>
        </p:nvSpPr>
        <p:spPr>
          <a:xfrm>
            <a:off x="2679192" y="2331720"/>
            <a:ext cx="1664208" cy="1737360"/>
          </a:xfrm>
          <a:prstGeom prst="rect">
            <a:avLst/>
          </a:prstGeom>
          <a:noFill/>
          <a:ln/>
        </p:spPr>
        <p:txBody>
          <a:bodyPr wrap="square" lIns="0" tIns="0" rIns="0" bIns="0" rtlCol="0" anchor="t"/>
          <a:lstStyle/>
          <a:p>
            <a:pPr indent="0" marL="0">
              <a:lnSpc>
                <a:spcPct val="120000"/>
              </a:lnSpc>
              <a:buNone/>
            </a:pPr>
            <a:r>
              <a:rPr lang="en-US" sz="1000" dirty="0">
                <a:solidFill>
                  <a:srgbClr val="5B6B73"/>
                </a:solidFill>
                <a:latin typeface="Arial" pitchFamily="34" charset="0"/>
                <a:ea typeface="Arial" pitchFamily="34" charset="-122"/>
                <a:cs typeface="Arial" pitchFamily="34" charset="-120"/>
              </a:rPr>
              <a:t>Départ simultané des deux bizdev. L’acquisition commerciale active s’arrête net.</a:t>
            </a:r>
            <a:endParaRPr lang="en-US" sz="1000" dirty="0"/>
          </a:p>
        </p:txBody>
      </p:sp>
      <p:sp>
        <p:nvSpPr>
          <p:cNvPr id="15" name="Shape 11"/>
          <p:cNvSpPr/>
          <p:nvPr/>
        </p:nvSpPr>
        <p:spPr>
          <a:xfrm rot="5400000">
            <a:off x="4498848" y="2606040"/>
            <a:ext cx="128016" cy="128016"/>
          </a:xfrm>
          <a:prstGeom prst="triangle">
            <a:avLst/>
          </a:prstGeom>
          <a:solidFill>
            <a:srgbClr val="C7D6DB"/>
          </a:solidFill>
          <a:ln/>
        </p:spPr>
      </p:sp>
      <p:sp>
        <p:nvSpPr>
          <p:cNvPr id="16" name="Shape 12"/>
          <p:cNvSpPr/>
          <p:nvPr/>
        </p:nvSpPr>
        <p:spPr>
          <a:xfrm>
            <a:off x="4617720" y="1234440"/>
            <a:ext cx="1993392" cy="2926080"/>
          </a:xfrm>
          <a:prstGeom prst="roundRect">
            <a:avLst>
              <a:gd name="adj" fmla="val 3670"/>
            </a:avLst>
          </a:prstGeom>
          <a:solidFill>
            <a:srgbClr val="EDF2F4"/>
          </a:solidFill>
          <a:ln/>
          <a:effectLst>
            <a:outerShdw sx="100000" sy="100000" kx="0" ky="0" algn="bl" rotWithShape="0" blurRad="88900" dist="25400" dir="5400000">
              <a:srgbClr val="0B3D5C">
                <a:alpha val="12000"/>
              </a:srgbClr>
            </a:outerShdw>
          </a:effectLst>
        </p:spPr>
      </p:sp>
      <p:sp>
        <p:nvSpPr>
          <p:cNvPr id="17" name="Shape 13"/>
          <p:cNvSpPr/>
          <p:nvPr/>
        </p:nvSpPr>
        <p:spPr>
          <a:xfrm>
            <a:off x="4782312" y="1417320"/>
            <a:ext cx="502920" cy="502920"/>
          </a:xfrm>
          <a:prstGeom prst="ellipse">
            <a:avLst/>
          </a:prstGeom>
          <a:solidFill>
            <a:srgbClr val="0B3D5C"/>
          </a:solidFill>
          <a:ln/>
        </p:spPr>
      </p:sp>
      <p:pic>
        <p:nvPicPr>
          <p:cNvPr id="18" name="Image 2" descr="preencoded.png">    </p:cNvPr>
          <p:cNvPicPr>
            <a:picLocks noChangeAspect="1"/>
          </p:cNvPicPr>
          <p:nvPr/>
        </p:nvPicPr>
        <p:blipFill>
          <a:blip r:embed="rId3"/>
          <a:stretch>
            <a:fillRect/>
          </a:stretch>
        </p:blipFill>
        <p:spPr>
          <a:xfrm>
            <a:off x="4913071" y="1548079"/>
            <a:ext cx="241402" cy="241402"/>
          </a:xfrm>
          <a:prstGeom prst="rect">
            <a:avLst/>
          </a:prstGeom>
        </p:spPr>
      </p:pic>
      <p:sp>
        <p:nvSpPr>
          <p:cNvPr id="19" name="Text 14"/>
          <p:cNvSpPr/>
          <p:nvPr/>
        </p:nvSpPr>
        <p:spPr>
          <a:xfrm>
            <a:off x="4782312" y="2029968"/>
            <a:ext cx="1664208" cy="274320"/>
          </a:xfrm>
          <a:prstGeom prst="rect">
            <a:avLst/>
          </a:prstGeom>
          <a:noFill/>
          <a:ln/>
        </p:spPr>
        <p:txBody>
          <a:bodyPr wrap="square" lIns="0" tIns="0" rIns="0" bIns="0" rtlCol="0" anchor="ctr"/>
          <a:lstStyle/>
          <a:p>
            <a:pPr indent="0" marL="0">
              <a:buNone/>
            </a:pPr>
            <a:r>
              <a:rPr lang="en-US" sz="1250" b="1" dirty="0">
                <a:solidFill>
                  <a:srgbClr val="0B3D5C"/>
                </a:solidFill>
                <a:latin typeface="Arial" pitchFamily="34" charset="0"/>
                <a:ea typeface="Arial" pitchFamily="34" charset="-122"/>
                <a:cs typeface="Arial" pitchFamily="34" charset="-120"/>
              </a:rPr>
              <a:t>Hiver 2025–26</a:t>
            </a:r>
            <a:endParaRPr lang="en-US" sz="1250" dirty="0"/>
          </a:p>
        </p:txBody>
      </p:sp>
      <p:sp>
        <p:nvSpPr>
          <p:cNvPr id="20" name="Text 15"/>
          <p:cNvSpPr/>
          <p:nvPr/>
        </p:nvSpPr>
        <p:spPr>
          <a:xfrm>
            <a:off x="4782312" y="2331720"/>
            <a:ext cx="1664208" cy="1737360"/>
          </a:xfrm>
          <a:prstGeom prst="rect">
            <a:avLst/>
          </a:prstGeom>
          <a:noFill/>
          <a:ln/>
        </p:spPr>
        <p:txBody>
          <a:bodyPr wrap="square" lIns="0" tIns="0" rIns="0" bIns="0" rtlCol="0" anchor="t"/>
          <a:lstStyle/>
          <a:p>
            <a:pPr indent="0" marL="0">
              <a:lnSpc>
                <a:spcPct val="120000"/>
              </a:lnSpc>
              <a:buNone/>
            </a:pPr>
            <a:r>
              <a:rPr lang="en-US" sz="1000" dirty="0">
                <a:solidFill>
                  <a:srgbClr val="5B6B73"/>
                </a:solidFill>
                <a:latin typeface="Arial" pitchFamily="34" charset="0"/>
                <a:ea typeface="Arial" pitchFamily="34" charset="-122"/>
                <a:cs typeface="Arial" pitchFamily="34" charset="-120"/>
              </a:rPr>
              <a:t>Le cold calling révèle un signal récurrent chez les prospects, indépendant du discours produit.</a:t>
            </a:r>
            <a:endParaRPr lang="en-US" sz="1000" dirty="0"/>
          </a:p>
        </p:txBody>
      </p:sp>
      <p:sp>
        <p:nvSpPr>
          <p:cNvPr id="21" name="Shape 16"/>
          <p:cNvSpPr/>
          <p:nvPr/>
        </p:nvSpPr>
        <p:spPr>
          <a:xfrm rot="5400000">
            <a:off x="6601968" y="2606040"/>
            <a:ext cx="128016" cy="128016"/>
          </a:xfrm>
          <a:prstGeom prst="triangle">
            <a:avLst/>
          </a:prstGeom>
          <a:solidFill>
            <a:srgbClr val="C7D6DB"/>
          </a:solidFill>
          <a:ln/>
        </p:spPr>
      </p:sp>
      <p:sp>
        <p:nvSpPr>
          <p:cNvPr id="22" name="Shape 17"/>
          <p:cNvSpPr/>
          <p:nvPr/>
        </p:nvSpPr>
        <p:spPr>
          <a:xfrm>
            <a:off x="6720840" y="1234440"/>
            <a:ext cx="1993392" cy="2926080"/>
          </a:xfrm>
          <a:prstGeom prst="roundRect">
            <a:avLst>
              <a:gd name="adj" fmla="val 3670"/>
            </a:avLst>
          </a:prstGeom>
          <a:solidFill>
            <a:srgbClr val="FBE9DD"/>
          </a:solidFill>
          <a:ln/>
          <a:effectLst>
            <a:outerShdw sx="100000" sy="100000" kx="0" ky="0" algn="bl" rotWithShape="0" blurRad="88900" dist="25400" dir="5400000">
              <a:srgbClr val="0B3D5C">
                <a:alpha val="12000"/>
              </a:srgbClr>
            </a:outerShdw>
          </a:effectLst>
        </p:spPr>
      </p:sp>
      <p:sp>
        <p:nvSpPr>
          <p:cNvPr id="23" name="Shape 18"/>
          <p:cNvSpPr/>
          <p:nvPr/>
        </p:nvSpPr>
        <p:spPr>
          <a:xfrm>
            <a:off x="6885432" y="1417320"/>
            <a:ext cx="502920" cy="502920"/>
          </a:xfrm>
          <a:prstGeom prst="ellipse">
            <a:avLst/>
          </a:prstGeom>
          <a:solidFill>
            <a:srgbClr val="E8743B"/>
          </a:solidFill>
          <a:ln/>
        </p:spPr>
      </p:sp>
      <p:pic>
        <p:nvPicPr>
          <p:cNvPr id="24" name="Image 3" descr="preencoded.png">    </p:cNvPr>
          <p:cNvPicPr>
            <a:picLocks noChangeAspect="1"/>
          </p:cNvPicPr>
          <p:nvPr/>
        </p:nvPicPr>
        <p:blipFill>
          <a:blip r:embed="rId4"/>
          <a:stretch>
            <a:fillRect/>
          </a:stretch>
        </p:blipFill>
        <p:spPr>
          <a:xfrm>
            <a:off x="7016191" y="1548079"/>
            <a:ext cx="241402" cy="241402"/>
          </a:xfrm>
          <a:prstGeom prst="rect">
            <a:avLst/>
          </a:prstGeom>
        </p:spPr>
      </p:pic>
      <p:sp>
        <p:nvSpPr>
          <p:cNvPr id="25" name="Text 19"/>
          <p:cNvSpPr/>
          <p:nvPr/>
        </p:nvSpPr>
        <p:spPr>
          <a:xfrm>
            <a:off x="6885432" y="2029968"/>
            <a:ext cx="1664208" cy="274320"/>
          </a:xfrm>
          <a:prstGeom prst="rect">
            <a:avLst/>
          </a:prstGeom>
          <a:noFill/>
          <a:ln/>
        </p:spPr>
        <p:txBody>
          <a:bodyPr wrap="square" lIns="0" tIns="0" rIns="0" bIns="0" rtlCol="0" anchor="ctr"/>
          <a:lstStyle/>
          <a:p>
            <a:pPr indent="0" marL="0">
              <a:buNone/>
            </a:pPr>
            <a:r>
              <a:rPr lang="en-US" sz="1250" b="1" dirty="0">
                <a:solidFill>
                  <a:srgbClr val="0B3D5C"/>
                </a:solidFill>
                <a:latin typeface="Arial" pitchFamily="34" charset="0"/>
                <a:ea typeface="Arial" pitchFamily="34" charset="-122"/>
                <a:cs typeface="Arial" pitchFamily="34" charset="-120"/>
              </a:rPr>
              <a:t>Février 2026</a:t>
            </a:r>
            <a:endParaRPr lang="en-US" sz="1250" dirty="0"/>
          </a:p>
        </p:txBody>
      </p:sp>
      <p:sp>
        <p:nvSpPr>
          <p:cNvPr id="26" name="Text 20"/>
          <p:cNvSpPr/>
          <p:nvPr/>
        </p:nvSpPr>
        <p:spPr>
          <a:xfrm>
            <a:off x="6885432" y="2331720"/>
            <a:ext cx="1664208" cy="1737360"/>
          </a:xfrm>
          <a:prstGeom prst="rect">
            <a:avLst/>
          </a:prstGeom>
          <a:noFill/>
          <a:ln/>
        </p:spPr>
        <p:txBody>
          <a:bodyPr wrap="square" lIns="0" tIns="0" rIns="0" bIns="0" rtlCol="0" anchor="t"/>
          <a:lstStyle/>
          <a:p>
            <a:pPr indent="0" marL="0">
              <a:lnSpc>
                <a:spcPct val="120000"/>
              </a:lnSpc>
              <a:buNone/>
            </a:pPr>
            <a:r>
              <a:rPr lang="en-US" sz="1000" dirty="0">
                <a:solidFill>
                  <a:srgbClr val="5B6B73"/>
                </a:solidFill>
                <a:latin typeface="Arial" pitchFamily="34" charset="0"/>
                <a:ea typeface="Arial" pitchFamily="34" charset="-122"/>
                <a:cs typeface="Arial" pitchFamily="34" charset="-120"/>
              </a:rPr>
              <a:t>Proposition formelle d’une offre de marketing opérationnel — acceptée par Stanislas Giraud.</a:t>
            </a:r>
            <a:endParaRPr lang="en-US" sz="1000" dirty="0"/>
          </a:p>
        </p:txBody>
      </p:sp>
      <p:sp>
        <p:nvSpPr>
          <p:cNvPr id="27" name="Text 21"/>
          <p:cNvSpPr/>
          <p:nvPr/>
        </p:nvSpPr>
        <p:spPr>
          <a:xfrm>
            <a:off x="411480" y="4343400"/>
            <a:ext cx="8321040" cy="457200"/>
          </a:xfrm>
          <a:prstGeom prst="rect">
            <a:avLst/>
          </a:prstGeom>
          <a:noFill/>
          <a:ln/>
        </p:spPr>
        <p:txBody>
          <a:bodyPr wrap="square" lIns="0" tIns="0" rIns="0" bIns="0" rtlCol="0" anchor="ctr"/>
          <a:lstStyle/>
          <a:p>
            <a:pPr indent="0" marL="0">
              <a:lnSpc>
                <a:spcPct val="120000"/>
              </a:lnSpc>
              <a:buNone/>
            </a:pPr>
            <a:r>
              <a:rPr lang="en-US" sz="1150" i="1" dirty="0">
                <a:solidFill>
                  <a:srgbClr val="1C7293"/>
                </a:solidFill>
                <a:latin typeface="Arial" pitchFamily="34" charset="0"/>
                <a:ea typeface="Arial" pitchFamily="34" charset="-122"/>
                <a:cs typeface="Arial" pitchFamily="34" charset="-120"/>
              </a:rPr>
              <a:t>Ma mission initiale n’était pas de remplacer les bizdev, mais de comprendre pourquoi le modèle d’acquisition s’était arrêté — et ce que le marché demandait vraiment.</a:t>
            </a:r>
            <a:endParaRPr lang="en-US" sz="1150" dirty="0"/>
          </a:p>
        </p:txBody>
      </p:sp>
      <p:sp>
        <p:nvSpPr>
          <p:cNvPr id="28" name="Text 22"/>
          <p:cNvSpPr/>
          <p:nvPr/>
        </p:nvSpPr>
        <p:spPr>
          <a:xfrm>
            <a:off x="411480" y="4864608"/>
            <a:ext cx="4114800" cy="228600"/>
          </a:xfrm>
          <a:prstGeom prst="rect">
            <a:avLst/>
          </a:prstGeom>
          <a:noFill/>
          <a:ln/>
        </p:spPr>
        <p:txBody>
          <a:bodyPr wrap="square" lIns="0" tIns="0" rIns="0" bIns="0" rtlCol="0" anchor="ctr"/>
          <a:lstStyle/>
          <a:p>
            <a:pPr algn="l" indent="0" marL="0">
              <a:buNone/>
            </a:pPr>
            <a:r>
              <a:rPr lang="en-US" sz="800" dirty="0">
                <a:solidFill>
                  <a:srgbClr val="9AA9AE"/>
                </a:solidFill>
                <a:latin typeface="Arial" pitchFamily="34" charset="0"/>
                <a:ea typeface="Arial" pitchFamily="34" charset="-122"/>
                <a:cs typeface="Arial" pitchFamily="34" charset="-120"/>
              </a:rPr>
              <a:t>Rapport de mission — SPOUTNIK S62 — Pascal Varomme</a:t>
            </a:r>
            <a:endParaRPr lang="en-US" sz="800" dirty="0"/>
          </a:p>
        </p:txBody>
      </p:sp>
      <p:sp>
        <p:nvSpPr>
          <p:cNvPr id="29" name="Text 23"/>
          <p:cNvSpPr/>
          <p:nvPr/>
        </p:nvSpPr>
        <p:spPr>
          <a:xfrm>
            <a:off x="8366760" y="4864608"/>
            <a:ext cx="365760" cy="228600"/>
          </a:xfrm>
          <a:prstGeom prst="rect">
            <a:avLst/>
          </a:prstGeom>
          <a:noFill/>
          <a:ln/>
        </p:spPr>
        <p:txBody>
          <a:bodyPr wrap="square" lIns="0" tIns="0" rIns="0" bIns="0" rtlCol="0" anchor="ctr"/>
          <a:lstStyle/>
          <a:p>
            <a:pPr algn="r" indent="0" marL="0">
              <a:buNone/>
            </a:pPr>
            <a:r>
              <a:rPr lang="en-US" sz="800" dirty="0">
                <a:solidFill>
                  <a:srgbClr val="9AA9AE"/>
                </a:solidFill>
                <a:latin typeface="Arial" pitchFamily="34" charset="0"/>
                <a:ea typeface="Arial" pitchFamily="34" charset="-122"/>
                <a:cs typeface="Arial" pitchFamily="34" charset="-120"/>
              </a:rPr>
              <a:t>5</a:t>
            </a:r>
            <a:endParaRPr lang="en-US" sz="800" dirty="0"/>
          </a:p>
        </p:txBody>
      </p:sp>
      <p:sp>
        <p:nvSpPr>
          <p:cNvPr id="30" name="Shape 24"/>
          <p:cNvSpPr/>
          <p:nvPr/>
        </p:nvSpPr>
        <p:spPr>
          <a:xfrm>
            <a:off x="6583680" y="406908"/>
            <a:ext cx="82296" cy="82296"/>
          </a:xfrm>
          <a:prstGeom prst="ellipse">
            <a:avLst/>
          </a:prstGeom>
          <a:solidFill>
            <a:srgbClr val="E8743B"/>
          </a:solidFill>
          <a:ln/>
        </p:spPr>
      </p:sp>
      <p:sp>
        <p:nvSpPr>
          <p:cNvPr id="31" name="Shape 25"/>
          <p:cNvSpPr/>
          <p:nvPr/>
        </p:nvSpPr>
        <p:spPr>
          <a:xfrm>
            <a:off x="6624828" y="448056"/>
            <a:ext cx="434340" cy="0"/>
          </a:xfrm>
          <a:prstGeom prst="line">
            <a:avLst/>
          </a:prstGeom>
          <a:noFill/>
          <a:ln w="12700">
            <a:solidFill>
              <a:srgbClr val="C7D6DB"/>
            </a:solidFill>
            <a:prstDash val="solid"/>
          </a:ln>
        </p:spPr>
      </p:sp>
      <p:sp>
        <p:nvSpPr>
          <p:cNvPr id="32" name="Shape 26"/>
          <p:cNvSpPr/>
          <p:nvPr/>
        </p:nvSpPr>
        <p:spPr>
          <a:xfrm>
            <a:off x="7100316" y="406908"/>
            <a:ext cx="82296" cy="82296"/>
          </a:xfrm>
          <a:prstGeom prst="ellipse">
            <a:avLst/>
          </a:prstGeom>
          <a:solidFill>
            <a:srgbClr val="C7D6DB"/>
          </a:solidFill>
          <a:ln/>
        </p:spPr>
      </p:sp>
      <p:sp>
        <p:nvSpPr>
          <p:cNvPr id="33" name="Shape 27"/>
          <p:cNvSpPr/>
          <p:nvPr/>
        </p:nvSpPr>
        <p:spPr>
          <a:xfrm>
            <a:off x="7141464" y="448056"/>
            <a:ext cx="434340" cy="0"/>
          </a:xfrm>
          <a:prstGeom prst="line">
            <a:avLst/>
          </a:prstGeom>
          <a:noFill/>
          <a:ln w="12700">
            <a:solidFill>
              <a:srgbClr val="C7D6DB"/>
            </a:solidFill>
            <a:prstDash val="solid"/>
          </a:ln>
        </p:spPr>
      </p:sp>
      <p:sp>
        <p:nvSpPr>
          <p:cNvPr id="34" name="Shape 28"/>
          <p:cNvSpPr/>
          <p:nvPr/>
        </p:nvSpPr>
        <p:spPr>
          <a:xfrm>
            <a:off x="7616952" y="406908"/>
            <a:ext cx="82296" cy="82296"/>
          </a:xfrm>
          <a:prstGeom prst="ellipse">
            <a:avLst/>
          </a:prstGeom>
          <a:solidFill>
            <a:srgbClr val="C7D6DB"/>
          </a:solidFill>
          <a:ln/>
        </p:spPr>
      </p:sp>
      <p:sp>
        <p:nvSpPr>
          <p:cNvPr id="35" name="Shape 29"/>
          <p:cNvSpPr/>
          <p:nvPr/>
        </p:nvSpPr>
        <p:spPr>
          <a:xfrm>
            <a:off x="7658100" y="448056"/>
            <a:ext cx="434340" cy="0"/>
          </a:xfrm>
          <a:prstGeom prst="line">
            <a:avLst/>
          </a:prstGeom>
          <a:noFill/>
          <a:ln w="12700">
            <a:solidFill>
              <a:srgbClr val="C7D6DB"/>
            </a:solidFill>
            <a:prstDash val="solid"/>
          </a:ln>
        </p:spPr>
      </p:sp>
      <p:sp>
        <p:nvSpPr>
          <p:cNvPr id="36" name="Shape 30"/>
          <p:cNvSpPr/>
          <p:nvPr/>
        </p:nvSpPr>
        <p:spPr>
          <a:xfrm>
            <a:off x="8133588" y="406908"/>
            <a:ext cx="82296" cy="82296"/>
          </a:xfrm>
          <a:prstGeom prst="ellipse">
            <a:avLst/>
          </a:prstGeom>
          <a:solidFill>
            <a:srgbClr val="C7D6DB"/>
          </a:solidFill>
          <a:ln/>
        </p:spPr>
      </p:sp>
      <p:sp>
        <p:nvSpPr>
          <p:cNvPr id="37" name="Shape 31"/>
          <p:cNvSpPr/>
          <p:nvPr/>
        </p:nvSpPr>
        <p:spPr>
          <a:xfrm>
            <a:off x="8174736" y="448056"/>
            <a:ext cx="434340" cy="0"/>
          </a:xfrm>
          <a:prstGeom prst="line">
            <a:avLst/>
          </a:prstGeom>
          <a:noFill/>
          <a:ln w="12700">
            <a:solidFill>
              <a:srgbClr val="C7D6DB"/>
            </a:solidFill>
            <a:prstDash val="solid"/>
          </a:ln>
        </p:spPr>
      </p:sp>
      <p:sp>
        <p:nvSpPr>
          <p:cNvPr id="38" name="Shape 32"/>
          <p:cNvSpPr/>
          <p:nvPr/>
        </p:nvSpPr>
        <p:spPr>
          <a:xfrm>
            <a:off x="8650224" y="406908"/>
            <a:ext cx="82296" cy="82296"/>
          </a:xfrm>
          <a:prstGeom prst="ellipse">
            <a:avLst/>
          </a:prstGeom>
          <a:solidFill>
            <a:srgbClr val="C7D6DB"/>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92608"/>
            <a:ext cx="8321040" cy="256032"/>
          </a:xfrm>
          <a:prstGeom prst="rect">
            <a:avLst/>
          </a:prstGeom>
          <a:noFill/>
          <a:ln/>
        </p:spPr>
        <p:txBody>
          <a:bodyPr wrap="square" lIns="0" tIns="0" rIns="0" bIns="0" rtlCol="0" anchor="ctr"/>
          <a:lstStyle/>
          <a:p>
            <a:pPr indent="0" marL="0">
              <a:buNone/>
            </a:pPr>
            <a:r>
              <a:rPr lang="en-US" sz="1100" b="1" spc="150" kern="0" dirty="0">
                <a:solidFill>
                  <a:srgbClr val="E8743B"/>
                </a:solidFill>
                <a:latin typeface="Arial" pitchFamily="34" charset="0"/>
                <a:ea typeface="Arial" pitchFamily="34" charset="-122"/>
                <a:cs typeface="Arial" pitchFamily="34" charset="-120"/>
              </a:rPr>
              <a:t>PARTIE 2 — DIAGNOSTIC (1/2)</a:t>
            </a:r>
            <a:endParaRPr lang="en-US" sz="1100" dirty="0"/>
          </a:p>
        </p:txBody>
      </p:sp>
      <p:sp>
        <p:nvSpPr>
          <p:cNvPr id="3" name="Text 1"/>
          <p:cNvSpPr/>
          <p:nvPr/>
        </p:nvSpPr>
        <p:spPr>
          <a:xfrm>
            <a:off x="411480" y="530352"/>
            <a:ext cx="8321040" cy="566928"/>
          </a:xfrm>
          <a:prstGeom prst="rect">
            <a:avLst/>
          </a:prstGeom>
          <a:noFill/>
          <a:ln/>
        </p:spPr>
        <p:txBody>
          <a:bodyPr wrap="square" lIns="0" tIns="0" rIns="0" bIns="0" rtlCol="0" anchor="t"/>
          <a:lstStyle/>
          <a:p>
            <a:pPr indent="0" marL="0">
              <a:buNone/>
            </a:pPr>
            <a:r>
              <a:rPr lang="en-US" sz="2500" b="1" dirty="0">
                <a:solidFill>
                  <a:srgbClr val="0B3D5C"/>
                </a:solidFill>
                <a:latin typeface="Arial" pitchFamily="34" charset="0"/>
                <a:ea typeface="Arial" pitchFamily="34" charset="-122"/>
                <a:cs typeface="Arial" pitchFamily="34" charset="-120"/>
              </a:rPr>
              <a:t>Un marché en croissance, mais très concurrentiel</a:t>
            </a:r>
            <a:endParaRPr lang="en-US" sz="2500" dirty="0"/>
          </a:p>
        </p:txBody>
      </p:sp>
      <p:sp>
        <p:nvSpPr>
          <p:cNvPr id="4" name="Shape 2"/>
          <p:cNvSpPr/>
          <p:nvPr/>
        </p:nvSpPr>
        <p:spPr>
          <a:xfrm>
            <a:off x="411480" y="1078992"/>
            <a:ext cx="2679192" cy="960120"/>
          </a:xfrm>
          <a:prstGeom prst="roundRect">
            <a:avLst>
              <a:gd name="adj" fmla="val 7619"/>
            </a:avLst>
          </a:prstGeom>
          <a:solidFill>
            <a:srgbClr val="EDF2F4"/>
          </a:solidFill>
          <a:ln/>
        </p:spPr>
      </p:sp>
      <p:sp>
        <p:nvSpPr>
          <p:cNvPr id="5" name="Shape 3"/>
          <p:cNvSpPr/>
          <p:nvPr/>
        </p:nvSpPr>
        <p:spPr>
          <a:xfrm>
            <a:off x="557784" y="1225296"/>
            <a:ext cx="384048" cy="384048"/>
          </a:xfrm>
          <a:prstGeom prst="ellipse">
            <a:avLst/>
          </a:prstGeom>
          <a:solidFill>
            <a:srgbClr val="1C7293"/>
          </a:solidFill>
          <a:ln/>
        </p:spPr>
      </p:sp>
      <p:pic>
        <p:nvPicPr>
          <p:cNvPr id="6" name="Image 0" descr="preencoded.png">    </p:cNvPr>
          <p:cNvPicPr>
            <a:picLocks noChangeAspect="1"/>
          </p:cNvPicPr>
          <p:nvPr/>
        </p:nvPicPr>
        <p:blipFill>
          <a:blip r:embed="rId1"/>
          <a:stretch>
            <a:fillRect/>
          </a:stretch>
        </p:blipFill>
        <p:spPr>
          <a:xfrm>
            <a:off x="657636" y="1325148"/>
            <a:ext cx="184343" cy="184343"/>
          </a:xfrm>
          <a:prstGeom prst="rect">
            <a:avLst/>
          </a:prstGeom>
        </p:spPr>
      </p:pic>
      <p:sp>
        <p:nvSpPr>
          <p:cNvPr id="7" name="Text 4"/>
          <p:cNvSpPr/>
          <p:nvPr/>
        </p:nvSpPr>
        <p:spPr>
          <a:xfrm>
            <a:off x="1051560" y="1152144"/>
            <a:ext cx="1901952" cy="320040"/>
          </a:xfrm>
          <a:prstGeom prst="rect">
            <a:avLst/>
          </a:prstGeom>
          <a:noFill/>
          <a:ln/>
        </p:spPr>
        <p:txBody>
          <a:bodyPr wrap="square" lIns="0" tIns="0" rIns="0" bIns="0" rtlCol="0" anchor="ctr"/>
          <a:lstStyle/>
          <a:p>
            <a:pPr indent="0" marL="0">
              <a:buNone/>
            </a:pPr>
            <a:r>
              <a:rPr lang="en-US" sz="1650" b="1" dirty="0">
                <a:solidFill>
                  <a:srgbClr val="0B3D5C"/>
                </a:solidFill>
                <a:latin typeface="Arial" pitchFamily="34" charset="0"/>
                <a:ea typeface="Arial" pitchFamily="34" charset="-122"/>
                <a:cs typeface="Arial" pitchFamily="34" charset="-120"/>
              </a:rPr>
              <a:t>+6,2 %/an</a:t>
            </a:r>
            <a:endParaRPr lang="en-US" sz="1650" dirty="0"/>
          </a:p>
        </p:txBody>
      </p:sp>
      <p:sp>
        <p:nvSpPr>
          <p:cNvPr id="8" name="Text 5"/>
          <p:cNvSpPr/>
          <p:nvPr/>
        </p:nvSpPr>
        <p:spPr>
          <a:xfrm>
            <a:off x="557784" y="1517904"/>
            <a:ext cx="2386584" cy="457200"/>
          </a:xfrm>
          <a:prstGeom prst="rect">
            <a:avLst/>
          </a:prstGeom>
          <a:noFill/>
          <a:ln/>
        </p:spPr>
        <p:txBody>
          <a:bodyPr wrap="square" lIns="0" tIns="0" rIns="0" bIns="0" rtlCol="0" anchor="ctr"/>
          <a:lstStyle/>
          <a:p>
            <a:pPr indent="0" marL="0">
              <a:lnSpc>
                <a:spcPct val="110000"/>
              </a:lnSpc>
              <a:buNone/>
            </a:pPr>
            <a:r>
              <a:rPr lang="en-US" sz="900" dirty="0">
                <a:solidFill>
                  <a:srgbClr val="5B6B73"/>
                </a:solidFill>
                <a:latin typeface="Arial" pitchFamily="34" charset="0"/>
                <a:ea typeface="Arial" pitchFamily="34" charset="-122"/>
                <a:cs typeface="Arial" pitchFamily="34" charset="-120"/>
              </a:rPr>
              <a:t>croissance du marché sportif français (2,5 Md€)</a:t>
            </a:r>
            <a:endParaRPr lang="en-US" sz="900" dirty="0"/>
          </a:p>
        </p:txBody>
      </p:sp>
      <p:sp>
        <p:nvSpPr>
          <p:cNvPr id="9" name="Shape 6"/>
          <p:cNvSpPr/>
          <p:nvPr/>
        </p:nvSpPr>
        <p:spPr>
          <a:xfrm>
            <a:off x="3255264" y="1078992"/>
            <a:ext cx="2679192" cy="960120"/>
          </a:xfrm>
          <a:prstGeom prst="roundRect">
            <a:avLst>
              <a:gd name="adj" fmla="val 7619"/>
            </a:avLst>
          </a:prstGeom>
          <a:solidFill>
            <a:srgbClr val="EDF2F4"/>
          </a:solidFill>
          <a:ln/>
        </p:spPr>
      </p:sp>
      <p:sp>
        <p:nvSpPr>
          <p:cNvPr id="10" name="Shape 7"/>
          <p:cNvSpPr/>
          <p:nvPr/>
        </p:nvSpPr>
        <p:spPr>
          <a:xfrm>
            <a:off x="3401568" y="1225296"/>
            <a:ext cx="384048" cy="384048"/>
          </a:xfrm>
          <a:prstGeom prst="ellipse">
            <a:avLst/>
          </a:prstGeom>
          <a:solidFill>
            <a:srgbClr val="1C7293"/>
          </a:solidFill>
          <a:ln/>
        </p:spPr>
      </p:sp>
      <p:pic>
        <p:nvPicPr>
          <p:cNvPr id="11" name="Image 1" descr="preencoded.png">    </p:cNvPr>
          <p:cNvPicPr>
            <a:picLocks noChangeAspect="1"/>
          </p:cNvPicPr>
          <p:nvPr/>
        </p:nvPicPr>
        <p:blipFill>
          <a:blip r:embed="rId2"/>
          <a:stretch>
            <a:fillRect/>
          </a:stretch>
        </p:blipFill>
        <p:spPr>
          <a:xfrm>
            <a:off x="3501420" y="1325148"/>
            <a:ext cx="184343" cy="184343"/>
          </a:xfrm>
          <a:prstGeom prst="rect">
            <a:avLst/>
          </a:prstGeom>
        </p:spPr>
      </p:pic>
      <p:sp>
        <p:nvSpPr>
          <p:cNvPr id="12" name="Text 8"/>
          <p:cNvSpPr/>
          <p:nvPr/>
        </p:nvSpPr>
        <p:spPr>
          <a:xfrm>
            <a:off x="3895344" y="1152144"/>
            <a:ext cx="1901952" cy="320040"/>
          </a:xfrm>
          <a:prstGeom prst="rect">
            <a:avLst/>
          </a:prstGeom>
          <a:noFill/>
          <a:ln/>
        </p:spPr>
        <p:txBody>
          <a:bodyPr wrap="square" lIns="0" tIns="0" rIns="0" bIns="0" rtlCol="0" anchor="ctr"/>
          <a:lstStyle/>
          <a:p>
            <a:pPr indent="0" marL="0">
              <a:buNone/>
            </a:pPr>
            <a:r>
              <a:rPr lang="en-US" sz="1650" b="1" dirty="0">
                <a:solidFill>
                  <a:srgbClr val="0B3D5C"/>
                </a:solidFill>
                <a:latin typeface="Arial" pitchFamily="34" charset="0"/>
                <a:ea typeface="Arial" pitchFamily="34" charset="-122"/>
                <a:cs typeface="Arial" pitchFamily="34" charset="-120"/>
              </a:rPr>
              <a:t>×13 clubs padel</a:t>
            </a:r>
            <a:endParaRPr lang="en-US" sz="1650" dirty="0"/>
          </a:p>
        </p:txBody>
      </p:sp>
      <p:sp>
        <p:nvSpPr>
          <p:cNvPr id="13" name="Text 9"/>
          <p:cNvSpPr/>
          <p:nvPr/>
        </p:nvSpPr>
        <p:spPr>
          <a:xfrm>
            <a:off x="3401568" y="1517904"/>
            <a:ext cx="2386584" cy="457200"/>
          </a:xfrm>
          <a:prstGeom prst="rect">
            <a:avLst/>
          </a:prstGeom>
          <a:noFill/>
          <a:ln/>
        </p:spPr>
        <p:txBody>
          <a:bodyPr wrap="square" lIns="0" tIns="0" rIns="0" bIns="0" rtlCol="0" anchor="ctr"/>
          <a:lstStyle/>
          <a:p>
            <a:pPr indent="0" marL="0">
              <a:lnSpc>
                <a:spcPct val="110000"/>
              </a:lnSpc>
              <a:buNone/>
            </a:pPr>
            <a:r>
              <a:rPr lang="en-US" sz="900" dirty="0">
                <a:solidFill>
                  <a:srgbClr val="5B6B73"/>
                </a:solidFill>
                <a:latin typeface="Arial" pitchFamily="34" charset="0"/>
                <a:ea typeface="Arial" pitchFamily="34" charset="-122"/>
                <a:cs typeface="Arial" pitchFamily="34" charset="-120"/>
              </a:rPr>
              <a:t>depuis 2017 (1 290+ clubs en 2025)</a:t>
            </a:r>
            <a:endParaRPr lang="en-US" sz="900" dirty="0"/>
          </a:p>
        </p:txBody>
      </p:sp>
      <p:sp>
        <p:nvSpPr>
          <p:cNvPr id="14" name="Shape 10"/>
          <p:cNvSpPr/>
          <p:nvPr/>
        </p:nvSpPr>
        <p:spPr>
          <a:xfrm>
            <a:off x="6099048" y="1078992"/>
            <a:ext cx="2679192" cy="960120"/>
          </a:xfrm>
          <a:prstGeom prst="roundRect">
            <a:avLst>
              <a:gd name="adj" fmla="val 7619"/>
            </a:avLst>
          </a:prstGeom>
          <a:solidFill>
            <a:srgbClr val="EDF2F4"/>
          </a:solidFill>
          <a:ln/>
        </p:spPr>
      </p:sp>
      <p:sp>
        <p:nvSpPr>
          <p:cNvPr id="15" name="Shape 11"/>
          <p:cNvSpPr/>
          <p:nvPr/>
        </p:nvSpPr>
        <p:spPr>
          <a:xfrm>
            <a:off x="6245352" y="1225296"/>
            <a:ext cx="384048" cy="384048"/>
          </a:xfrm>
          <a:prstGeom prst="ellipse">
            <a:avLst/>
          </a:prstGeom>
          <a:solidFill>
            <a:srgbClr val="1C7293"/>
          </a:solidFill>
          <a:ln/>
        </p:spPr>
      </p:sp>
      <p:pic>
        <p:nvPicPr>
          <p:cNvPr id="16" name="Image 2" descr="preencoded.png">    </p:cNvPr>
          <p:cNvPicPr>
            <a:picLocks noChangeAspect="1"/>
          </p:cNvPicPr>
          <p:nvPr/>
        </p:nvPicPr>
        <p:blipFill>
          <a:blip r:embed="rId3"/>
          <a:stretch>
            <a:fillRect/>
          </a:stretch>
        </p:blipFill>
        <p:spPr>
          <a:xfrm>
            <a:off x="6345204" y="1325148"/>
            <a:ext cx="184343" cy="184343"/>
          </a:xfrm>
          <a:prstGeom prst="rect">
            <a:avLst/>
          </a:prstGeom>
        </p:spPr>
      </p:pic>
      <p:sp>
        <p:nvSpPr>
          <p:cNvPr id="17" name="Text 12"/>
          <p:cNvSpPr/>
          <p:nvPr/>
        </p:nvSpPr>
        <p:spPr>
          <a:xfrm>
            <a:off x="6739128" y="1152144"/>
            <a:ext cx="1901952" cy="320040"/>
          </a:xfrm>
          <a:prstGeom prst="rect">
            <a:avLst/>
          </a:prstGeom>
          <a:noFill/>
          <a:ln/>
        </p:spPr>
        <p:txBody>
          <a:bodyPr wrap="square" lIns="0" tIns="0" rIns="0" bIns="0" rtlCol="0" anchor="ctr"/>
          <a:lstStyle/>
          <a:p>
            <a:pPr indent="0" marL="0">
              <a:buNone/>
            </a:pPr>
            <a:r>
              <a:rPr lang="en-US" sz="1650" b="1" dirty="0">
                <a:solidFill>
                  <a:srgbClr val="0B3D5C"/>
                </a:solidFill>
                <a:latin typeface="Arial" pitchFamily="34" charset="0"/>
                <a:ea typeface="Arial" pitchFamily="34" charset="-122"/>
                <a:cs typeface="Arial" pitchFamily="34" charset="-120"/>
              </a:rPr>
              <a:t>98 %</a:t>
            </a:r>
            <a:endParaRPr lang="en-US" sz="1650" dirty="0"/>
          </a:p>
        </p:txBody>
      </p:sp>
      <p:sp>
        <p:nvSpPr>
          <p:cNvPr id="18" name="Text 13"/>
          <p:cNvSpPr/>
          <p:nvPr/>
        </p:nvSpPr>
        <p:spPr>
          <a:xfrm>
            <a:off x="6245352" y="1517904"/>
            <a:ext cx="2386584" cy="457200"/>
          </a:xfrm>
          <a:prstGeom prst="rect">
            <a:avLst/>
          </a:prstGeom>
          <a:noFill/>
          <a:ln/>
        </p:spPr>
        <p:txBody>
          <a:bodyPr wrap="square" lIns="0" tIns="0" rIns="0" bIns="0" rtlCol="0" anchor="ctr"/>
          <a:lstStyle/>
          <a:p>
            <a:pPr indent="0" marL="0">
              <a:lnSpc>
                <a:spcPct val="110000"/>
              </a:lnSpc>
              <a:buNone/>
            </a:pPr>
            <a:r>
              <a:rPr lang="en-US" sz="900" dirty="0">
                <a:solidFill>
                  <a:srgbClr val="5B6B73"/>
                </a:solidFill>
                <a:latin typeface="Arial" pitchFamily="34" charset="0"/>
                <a:ea typeface="Arial" pitchFamily="34" charset="-122"/>
                <a:cs typeface="Arial" pitchFamily="34" charset="-120"/>
              </a:rPr>
              <a:t>des consommateurs lisent les avis en ligne avant de choisir</a:t>
            </a:r>
            <a:endParaRPr lang="en-US" sz="900" dirty="0"/>
          </a:p>
        </p:txBody>
      </p:sp>
      <p:sp>
        <p:nvSpPr>
          <p:cNvPr id="19" name="Text 14"/>
          <p:cNvSpPr/>
          <p:nvPr/>
        </p:nvSpPr>
        <p:spPr>
          <a:xfrm>
            <a:off x="411480" y="2240280"/>
            <a:ext cx="8321040" cy="274320"/>
          </a:xfrm>
          <a:prstGeom prst="rect">
            <a:avLst/>
          </a:prstGeom>
          <a:noFill/>
          <a:ln/>
        </p:spPr>
        <p:txBody>
          <a:bodyPr wrap="square" lIns="0" tIns="0" rIns="0" bIns="0" rtlCol="0" anchor="ctr"/>
          <a:lstStyle/>
          <a:p>
            <a:pPr indent="0" marL="0">
              <a:buNone/>
            </a:pPr>
            <a:r>
              <a:rPr lang="en-US" sz="1300" b="1" dirty="0">
                <a:solidFill>
                  <a:srgbClr val="0B3D5C"/>
                </a:solidFill>
                <a:latin typeface="Arial" pitchFamily="34" charset="0"/>
                <a:ea typeface="Arial" pitchFamily="34" charset="-122"/>
                <a:cs typeface="Arial" pitchFamily="34" charset="-120"/>
              </a:rPr>
              <a:t>My Sport Session face aux solutions généralistes</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 y="2560320"/>
          <a:ext cx="8321040" cy="914400"/>
        </p:xfrm>
        <a:graphic>
          <a:graphicData uri="http://schemas.openxmlformats.org/drawingml/2006/table">
            <a:tbl>
              <a:tblPr/>
              <a:tblGrid>
                <a:gridCol w="2103120"/>
                <a:gridCol w="1554480"/>
                <a:gridCol w="1554480"/>
                <a:gridCol w="1554480"/>
                <a:gridCol w="1554480"/>
              </a:tblGrid>
              <a:tr h="292608">
                <a:tc>
                  <a:txBody>
                    <a:bodyPr/>
                    <a:lstStyle/>
                    <a:p>
                      <a:pPr algn="ctr" indent="0" marL="0">
                        <a:buNone/>
                      </a:pPr>
                      <a:r>
                        <a:rPr lang="en-US" sz="1050" b="1" dirty="0">
                          <a:solidFill>
                            <a:srgbClr val="FFFFFF"/>
                          </a:solidFill>
                        </a:rPr>
                        <a:t>Critère</a:t>
                      </a:r>
                      <a:endParaRPr lang="en-US" sz="1050" dirty="0"/>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solidFill>
                      <a:srgbClr val="0B3D5C"/>
                    </a:solidFill>
                  </a:tcPr>
                </a:tc>
                <a:tc>
                  <a:txBody>
                    <a:bodyPr/>
                    <a:lstStyle/>
                    <a:p>
                      <a:pPr algn="ctr" indent="0" marL="0">
                        <a:buNone/>
                      </a:pPr>
                      <a:r>
                        <a:rPr lang="en-US" sz="1050" b="1" dirty="0">
                          <a:solidFill>
                            <a:srgbClr val="FFFFFF"/>
                          </a:solidFill>
                        </a:rPr>
                        <a:t>My Sport Session</a:t>
                      </a:r>
                      <a:endParaRPr lang="en-US" sz="1050" dirty="0"/>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solidFill>
                      <a:srgbClr val="0B3D5C"/>
                    </a:solidFill>
                  </a:tcPr>
                </a:tc>
                <a:tc>
                  <a:txBody>
                    <a:bodyPr/>
                    <a:lstStyle/>
                    <a:p>
                      <a:pPr algn="ctr" indent="0" marL="0">
                        <a:buNone/>
                      </a:pPr>
                      <a:r>
                        <a:rPr lang="en-US" sz="1050" b="1" dirty="0">
                          <a:solidFill>
                            <a:srgbClr val="FFFFFF"/>
                          </a:solidFill>
                        </a:rPr>
                        <a:t>Deciplus</a:t>
                      </a:r>
                      <a:endParaRPr lang="en-US" sz="1050" dirty="0"/>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solidFill>
                      <a:srgbClr val="0B3D5C"/>
                    </a:solidFill>
                  </a:tcPr>
                </a:tc>
                <a:tc>
                  <a:txBody>
                    <a:bodyPr/>
                    <a:lstStyle/>
                    <a:p>
                      <a:pPr algn="ctr" indent="0" marL="0">
                        <a:buNone/>
                      </a:pPr>
                      <a:r>
                        <a:rPr lang="en-US" sz="1050" b="1" dirty="0">
                          <a:solidFill>
                            <a:srgbClr val="FFFFFF"/>
                          </a:solidFill>
                        </a:rPr>
                        <a:t>B-Sport</a:t>
                      </a:r>
                      <a:endParaRPr lang="en-US" sz="1050" dirty="0"/>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solidFill>
                      <a:srgbClr val="0B3D5C"/>
                    </a:solidFill>
                  </a:tcPr>
                </a:tc>
                <a:tc>
                  <a:txBody>
                    <a:bodyPr/>
                    <a:lstStyle/>
                    <a:p>
                      <a:pPr algn="ctr" indent="0" marL="0">
                        <a:buNone/>
                      </a:pPr>
                      <a:r>
                        <a:rPr lang="en-US" sz="1050" b="1" dirty="0">
                          <a:solidFill>
                            <a:srgbClr val="FFFFFF"/>
                          </a:solidFill>
                        </a:rPr>
                        <a:t>Reservio</a:t>
                      </a:r>
                      <a:endParaRPr lang="en-US" sz="1050" dirty="0"/>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solidFill>
                      <a:srgbClr val="0B3D5C"/>
                    </a:solidFill>
                  </a:tcPr>
                </a:tc>
              </a:tr>
              <a:tr h="292608">
                <a:tc>
                  <a:txBody>
                    <a:bodyPr/>
                    <a:lstStyle/>
                    <a:p>
                      <a:pPr algn="ctr" indent="0" marL="0">
                        <a:buNone/>
                      </a:pPr>
                      <a:r>
                        <a:rPr lang="en-US" sz="1050" dirty="0">
                          <a:solidFill>
                            <a:srgbClr val="5B6B73"/>
                          </a:solidFill>
                        </a:rPr>
                        <a:t>Prix d’entrée</a:t>
                      </a:r>
                      <a:endParaRPr lang="en-US" sz="1050" dirty="0"/>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B3D5C"/>
                          </a:solidFill>
                        </a:rPr>
                        <a:t>29 €/mois</a:t>
                      </a:r>
                      <a:endParaRPr lang="en-US" sz="1050" dirty="0"/>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solidFill>
                      <a:srgbClr val="DCEEF2"/>
                    </a:solidFill>
                  </a:tcPr>
                </a:tc>
                <a:tc>
                  <a:txBody>
                    <a:bodyPr/>
                    <a:lstStyle/>
                    <a:p>
                      <a:pPr algn="ctr" indent="0" marL="0">
                        <a:buNone/>
                      </a:pPr>
                      <a:r>
                        <a:rPr lang="en-US" sz="1050" dirty="0">
                          <a:solidFill>
                            <a:srgbClr val="5B6B73"/>
                          </a:solidFill>
                        </a:rPr>
                        <a:t>139 €/mois</a:t>
                      </a:r>
                      <a:endParaRPr lang="en-US" sz="1050" dirty="0"/>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B6B73"/>
                          </a:solidFill>
                        </a:rPr>
                        <a:t>150 €/mois</a:t>
                      </a:r>
                      <a:endParaRPr lang="en-US" sz="1050" dirty="0"/>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B6B73"/>
                          </a:solidFill>
                        </a:rPr>
                        <a:t>15 €/mois</a:t>
                      </a:r>
                      <a:endParaRPr lang="en-US" sz="1050" dirty="0"/>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solidFill>
                      <a:srgbClr val="FFFFFF"/>
                    </a:solidFill>
                  </a:tcPr>
                </a:tc>
              </a:tr>
              <a:tr h="292608">
                <a:tc>
                  <a:txBody>
                    <a:bodyPr/>
                    <a:lstStyle/>
                    <a:p>
                      <a:pPr algn="ctr" indent="0" marL="0">
                        <a:buNone/>
                      </a:pPr>
                      <a:r>
                        <a:rPr lang="en-US" sz="1050" dirty="0">
                          <a:solidFill>
                            <a:srgbClr val="5B6B73"/>
                          </a:solidFill>
                        </a:rPr>
                        <a:t>Application mobile</a:t>
                      </a:r>
                      <a:endParaRPr lang="en-US" sz="1050" dirty="0"/>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solidFill>
                      <a:srgbClr val="EDF2F4"/>
                    </a:solidFill>
                  </a:tcPr>
                </a:tc>
                <a:tc>
                  <a:txBody>
                    <a:bodyPr/>
                    <a:lstStyle/>
                    <a:p>
                      <a:pPr algn="ctr" indent="0" marL="0">
                        <a:buNone/>
                      </a:pPr>
                      <a:r>
                        <a:rPr lang="en-US" sz="1050" b="1" dirty="0">
                          <a:solidFill>
                            <a:srgbClr val="0B3D5C"/>
                          </a:solidFill>
                        </a:rPr>
                        <a:t>✗</a:t>
                      </a:r>
                      <a:endParaRPr lang="en-US" sz="1050" dirty="0"/>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solidFill>
                      <a:srgbClr val="DCEEF2"/>
                    </a:solidFill>
                  </a:tcPr>
                </a:tc>
                <a:tc>
                  <a:txBody>
                    <a:bodyPr/>
                    <a:lstStyle/>
                    <a:p>
                      <a:pPr algn="ctr" indent="0" marL="0">
                        <a:buNone/>
                      </a:pPr>
                      <a:r>
                        <a:rPr lang="en-US" sz="1050" dirty="0">
                          <a:solidFill>
                            <a:srgbClr val="5B6B73"/>
                          </a:solidFill>
                        </a:rPr>
                        <a:t>✓</a:t>
                      </a:r>
                      <a:endParaRPr lang="en-US" sz="1050" dirty="0"/>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solidFill>
                      <a:srgbClr val="EDF2F4"/>
                    </a:solidFill>
                  </a:tcPr>
                </a:tc>
                <a:tc>
                  <a:txBody>
                    <a:bodyPr/>
                    <a:lstStyle/>
                    <a:p>
                      <a:pPr algn="ctr" indent="0" marL="0">
                        <a:buNone/>
                      </a:pPr>
                      <a:r>
                        <a:rPr lang="en-US" sz="1050" dirty="0">
                          <a:solidFill>
                            <a:srgbClr val="5B6B73"/>
                          </a:solidFill>
                        </a:rPr>
                        <a:t>✓</a:t>
                      </a:r>
                      <a:endParaRPr lang="en-US" sz="1050" dirty="0"/>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solidFill>
                      <a:srgbClr val="EDF2F4"/>
                    </a:solidFill>
                  </a:tcPr>
                </a:tc>
                <a:tc>
                  <a:txBody>
                    <a:bodyPr/>
                    <a:lstStyle/>
                    <a:p>
                      <a:pPr algn="ctr" indent="0" marL="0">
                        <a:buNone/>
                      </a:pPr>
                      <a:r>
                        <a:rPr lang="en-US" sz="1050" dirty="0">
                          <a:solidFill>
                            <a:srgbClr val="5B6B73"/>
                          </a:solidFill>
                        </a:rPr>
                        <a:t>✓</a:t>
                      </a:r>
                      <a:endParaRPr lang="en-US" sz="1050" dirty="0"/>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solidFill>
                      <a:srgbClr val="EDF2F4"/>
                    </a:solidFill>
                  </a:tcPr>
                </a:tc>
              </a:tr>
              <a:tr h="292608">
                <a:tc>
                  <a:txBody>
                    <a:bodyPr/>
                    <a:lstStyle/>
                    <a:p>
                      <a:pPr algn="ctr" indent="0" marL="0">
                        <a:buNone/>
                      </a:pPr>
                      <a:r>
                        <a:rPr lang="en-US" sz="1050" dirty="0">
                          <a:solidFill>
                            <a:srgbClr val="5B6B73"/>
                          </a:solidFill>
                        </a:rPr>
                        <a:t>Mini-site SEO inclus</a:t>
                      </a:r>
                      <a:endParaRPr lang="en-US" sz="1050" dirty="0"/>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B3D5C"/>
                          </a:solidFill>
                        </a:rPr>
                        <a:t>✓</a:t>
                      </a:r>
                      <a:endParaRPr lang="en-US" sz="1050" dirty="0"/>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solidFill>
                      <a:srgbClr val="DCEEF2"/>
                    </a:solidFill>
                  </a:tcPr>
                </a:tc>
                <a:tc>
                  <a:txBody>
                    <a:bodyPr/>
                    <a:lstStyle/>
                    <a:p>
                      <a:pPr algn="ctr" indent="0" marL="0">
                        <a:buNone/>
                      </a:pPr>
                      <a:r>
                        <a:rPr lang="en-US" sz="1050" dirty="0">
                          <a:solidFill>
                            <a:srgbClr val="5B6B73"/>
                          </a:solidFill>
                        </a:rPr>
                        <a:t>✗</a:t>
                      </a:r>
                      <a:endParaRPr lang="en-US" sz="1050" dirty="0"/>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B6B73"/>
                          </a:solidFill>
                        </a:rPr>
                        <a:t>✗</a:t>
                      </a:r>
                      <a:endParaRPr lang="en-US" sz="1050" dirty="0"/>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B6B73"/>
                          </a:solidFill>
                        </a:rPr>
                        <a:t>✗</a:t>
                      </a:r>
                      <a:endParaRPr lang="en-US" sz="1050" dirty="0"/>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solidFill>
                      <a:srgbClr val="FFFFFF"/>
                    </a:solidFill>
                  </a:tcPr>
                </a:tc>
              </a:tr>
              <a:tr h="292608">
                <a:tc>
                  <a:txBody>
                    <a:bodyPr/>
                    <a:lstStyle/>
                    <a:p>
                      <a:pPr algn="ctr" indent="0" marL="0">
                        <a:buNone/>
                      </a:pPr>
                      <a:r>
                        <a:rPr lang="en-US" sz="1050" dirty="0">
                          <a:solidFill>
                            <a:srgbClr val="5B6B73"/>
                          </a:solidFill>
                        </a:rPr>
                        <a:t>Marketing intégré</a:t>
                      </a:r>
                      <a:endParaRPr lang="en-US" sz="1050" dirty="0"/>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solidFill>
                      <a:srgbClr val="EDF2F4"/>
                    </a:solidFill>
                  </a:tcPr>
                </a:tc>
                <a:tc>
                  <a:txBody>
                    <a:bodyPr/>
                    <a:lstStyle/>
                    <a:p>
                      <a:pPr algn="ctr" indent="0" marL="0">
                        <a:buNone/>
                      </a:pPr>
                      <a:r>
                        <a:rPr lang="en-US" sz="1050" b="1" dirty="0">
                          <a:solidFill>
                            <a:srgbClr val="0B3D5C"/>
                          </a:solidFill>
                        </a:rPr>
                        <a:t>✗</a:t>
                      </a:r>
                      <a:endParaRPr lang="en-US" sz="1050" dirty="0"/>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solidFill>
                      <a:srgbClr val="DCEEF2"/>
                    </a:solidFill>
                  </a:tcPr>
                </a:tc>
                <a:tc>
                  <a:txBody>
                    <a:bodyPr/>
                    <a:lstStyle/>
                    <a:p>
                      <a:pPr algn="ctr" indent="0" marL="0">
                        <a:buNone/>
                      </a:pPr>
                      <a:r>
                        <a:rPr lang="en-US" sz="1050" dirty="0">
                          <a:solidFill>
                            <a:srgbClr val="5B6B73"/>
                          </a:solidFill>
                        </a:rPr>
                        <a:t>✓</a:t>
                      </a:r>
                      <a:endParaRPr lang="en-US" sz="1050" dirty="0"/>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solidFill>
                      <a:srgbClr val="EDF2F4"/>
                    </a:solidFill>
                  </a:tcPr>
                </a:tc>
                <a:tc>
                  <a:txBody>
                    <a:bodyPr/>
                    <a:lstStyle/>
                    <a:p>
                      <a:pPr algn="ctr" indent="0" marL="0">
                        <a:buNone/>
                      </a:pPr>
                      <a:r>
                        <a:rPr lang="en-US" sz="1050" dirty="0">
                          <a:solidFill>
                            <a:srgbClr val="5B6B73"/>
                          </a:solidFill>
                        </a:rPr>
                        <a:t>✓</a:t>
                      </a:r>
                      <a:endParaRPr lang="en-US" sz="1050" dirty="0"/>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solidFill>
                      <a:srgbClr val="EDF2F4"/>
                    </a:solidFill>
                  </a:tcPr>
                </a:tc>
                <a:tc>
                  <a:txBody>
                    <a:bodyPr/>
                    <a:lstStyle/>
                    <a:p>
                      <a:pPr algn="ctr" indent="0" marL="0">
                        <a:buNone/>
                      </a:pPr>
                      <a:r>
                        <a:rPr lang="en-US" sz="1050" dirty="0">
                          <a:solidFill>
                            <a:srgbClr val="5B6B73"/>
                          </a:solidFill>
                        </a:rPr>
                        <a:t>✗</a:t>
                      </a:r>
                      <a:endParaRPr lang="en-US" sz="1050" dirty="0"/>
                    </a:p>
                  </a:txBody>
                  <a:tcPr marL="91440" marR="91440" marT="45720" marB="45720" anchor="ctr">
                    <a:lnL w="6350" cap="flat" cmpd="sng" algn="ctr">
                      <a:solidFill>
                        <a:srgbClr val="D7E2E5"/>
                      </a:solidFill>
                      <a:prstDash val="solid"/>
                      <a:round/>
                      <a:headEnd type="none" w="med" len="med"/>
                      <a:tailEnd type="none" w="med" len="med"/>
                    </a:lnL>
                    <a:lnR w="6350" cap="flat" cmpd="sng" algn="ctr">
                      <a:solidFill>
                        <a:srgbClr val="D7E2E5"/>
                      </a:solidFill>
                      <a:prstDash val="solid"/>
                      <a:round/>
                      <a:headEnd type="none" w="med" len="med"/>
                      <a:tailEnd type="none" w="med" len="med"/>
                    </a:lnR>
                    <a:lnT w="6350" cap="flat" cmpd="sng" algn="ctr">
                      <a:solidFill>
                        <a:srgbClr val="D7E2E5"/>
                      </a:solidFill>
                      <a:prstDash val="solid"/>
                      <a:round/>
                      <a:headEnd type="none" w="med" len="med"/>
                      <a:tailEnd type="none" w="med" len="med"/>
                    </a:lnT>
                    <a:lnB w="6350" cap="flat" cmpd="sng" algn="ctr">
                      <a:solidFill>
                        <a:srgbClr val="D7E2E5"/>
                      </a:solidFill>
                      <a:prstDash val="solid"/>
                      <a:round/>
                      <a:headEnd type="none" w="med" len="med"/>
                      <a:tailEnd type="none" w="med" len="med"/>
                    </a:lnB>
                    <a:solidFill>
                      <a:srgbClr val="EDF2F4"/>
                    </a:solidFill>
                  </a:tcPr>
                </a:tc>
              </a:tr>
            </a:tbl>
          </a:graphicData>
        </a:graphic>
      </p:graphicFrame>
      <p:sp>
        <p:nvSpPr>
          <p:cNvPr id="21" name="Shape 15"/>
          <p:cNvSpPr/>
          <p:nvPr/>
        </p:nvSpPr>
        <p:spPr>
          <a:xfrm>
            <a:off x="411480" y="4251960"/>
            <a:ext cx="8321040" cy="457200"/>
          </a:xfrm>
          <a:prstGeom prst="roundRect">
            <a:avLst>
              <a:gd name="adj" fmla="val 12000"/>
            </a:avLst>
          </a:prstGeom>
          <a:solidFill>
            <a:srgbClr val="FBE9DD"/>
          </a:solidFill>
          <a:ln/>
        </p:spPr>
      </p:sp>
      <p:sp>
        <p:nvSpPr>
          <p:cNvPr id="22" name="Text 16"/>
          <p:cNvSpPr/>
          <p:nvPr/>
        </p:nvSpPr>
        <p:spPr>
          <a:xfrm>
            <a:off x="594360" y="4251960"/>
            <a:ext cx="7955280" cy="457200"/>
          </a:xfrm>
          <a:prstGeom prst="rect">
            <a:avLst/>
          </a:prstGeom>
          <a:noFill/>
          <a:ln/>
        </p:spPr>
        <p:txBody>
          <a:bodyPr wrap="square" lIns="0" tIns="0" rIns="0" bIns="0" rtlCol="0" anchor="ctr"/>
          <a:lstStyle/>
          <a:p>
            <a:pPr indent="0" marL="0">
              <a:lnSpc>
                <a:spcPct val="110000"/>
              </a:lnSpc>
              <a:buNone/>
            </a:pPr>
            <a:r>
              <a:rPr lang="en-US" sz="1050" b="1" dirty="0">
                <a:solidFill>
                  <a:srgbClr val="7A3A1A"/>
                </a:solidFill>
                <a:latin typeface="Arial" pitchFamily="34" charset="0"/>
                <a:ea typeface="Arial" pitchFamily="34" charset="-122"/>
                <a:cs typeface="Arial" pitchFamily="34" charset="-120"/>
              </a:rPr>
              <a:t>Signal clé : quand des logiciels de réservation commencent à vendre des services marketing, l’accompagnement à la croissance devient une attente du marché.</a:t>
            </a:r>
            <a:endParaRPr lang="en-US" sz="1050" dirty="0"/>
          </a:p>
        </p:txBody>
      </p:sp>
      <p:sp>
        <p:nvSpPr>
          <p:cNvPr id="23" name="Text 17"/>
          <p:cNvSpPr/>
          <p:nvPr/>
        </p:nvSpPr>
        <p:spPr>
          <a:xfrm>
            <a:off x="411480" y="4864608"/>
            <a:ext cx="4114800" cy="228600"/>
          </a:xfrm>
          <a:prstGeom prst="rect">
            <a:avLst/>
          </a:prstGeom>
          <a:noFill/>
          <a:ln/>
        </p:spPr>
        <p:txBody>
          <a:bodyPr wrap="square" lIns="0" tIns="0" rIns="0" bIns="0" rtlCol="0" anchor="ctr"/>
          <a:lstStyle/>
          <a:p>
            <a:pPr algn="l" indent="0" marL="0">
              <a:buNone/>
            </a:pPr>
            <a:r>
              <a:rPr lang="en-US" sz="800" dirty="0">
                <a:solidFill>
                  <a:srgbClr val="9AA9AE"/>
                </a:solidFill>
                <a:latin typeface="Arial" pitchFamily="34" charset="0"/>
                <a:ea typeface="Arial" pitchFamily="34" charset="-122"/>
                <a:cs typeface="Arial" pitchFamily="34" charset="-120"/>
              </a:rPr>
              <a:t>Rapport de mission — SPOUTNIK S62 — Pascal Varomme</a:t>
            </a:r>
            <a:endParaRPr lang="en-US" sz="800" dirty="0"/>
          </a:p>
        </p:txBody>
      </p:sp>
      <p:sp>
        <p:nvSpPr>
          <p:cNvPr id="24" name="Text 18"/>
          <p:cNvSpPr/>
          <p:nvPr/>
        </p:nvSpPr>
        <p:spPr>
          <a:xfrm>
            <a:off x="8366760" y="4864608"/>
            <a:ext cx="365760" cy="228600"/>
          </a:xfrm>
          <a:prstGeom prst="rect">
            <a:avLst/>
          </a:prstGeom>
          <a:noFill/>
          <a:ln/>
        </p:spPr>
        <p:txBody>
          <a:bodyPr wrap="square" lIns="0" tIns="0" rIns="0" bIns="0" rtlCol="0" anchor="ctr"/>
          <a:lstStyle/>
          <a:p>
            <a:pPr algn="r" indent="0" marL="0">
              <a:buNone/>
            </a:pPr>
            <a:r>
              <a:rPr lang="en-US" sz="800" dirty="0">
                <a:solidFill>
                  <a:srgbClr val="9AA9AE"/>
                </a:solidFill>
                <a:latin typeface="Arial" pitchFamily="34" charset="0"/>
                <a:ea typeface="Arial" pitchFamily="34" charset="-122"/>
                <a:cs typeface="Arial" pitchFamily="34" charset="-120"/>
              </a:rPr>
              <a:t>6</a:t>
            </a:r>
            <a:endParaRPr lang="en-US" sz="800" dirty="0"/>
          </a:p>
        </p:txBody>
      </p:sp>
      <p:sp>
        <p:nvSpPr>
          <p:cNvPr id="25" name="Shape 19"/>
          <p:cNvSpPr/>
          <p:nvPr/>
        </p:nvSpPr>
        <p:spPr>
          <a:xfrm>
            <a:off x="6583680" y="406908"/>
            <a:ext cx="82296" cy="82296"/>
          </a:xfrm>
          <a:prstGeom prst="ellipse">
            <a:avLst/>
          </a:prstGeom>
          <a:solidFill>
            <a:srgbClr val="C7D6DB"/>
          </a:solidFill>
          <a:ln/>
        </p:spPr>
      </p:sp>
      <p:sp>
        <p:nvSpPr>
          <p:cNvPr id="26" name="Shape 20"/>
          <p:cNvSpPr/>
          <p:nvPr/>
        </p:nvSpPr>
        <p:spPr>
          <a:xfrm>
            <a:off x="6624828" y="448056"/>
            <a:ext cx="434340" cy="0"/>
          </a:xfrm>
          <a:prstGeom prst="line">
            <a:avLst/>
          </a:prstGeom>
          <a:noFill/>
          <a:ln w="12700">
            <a:solidFill>
              <a:srgbClr val="C7D6DB"/>
            </a:solidFill>
            <a:prstDash val="solid"/>
          </a:ln>
        </p:spPr>
      </p:sp>
      <p:sp>
        <p:nvSpPr>
          <p:cNvPr id="27" name="Shape 21"/>
          <p:cNvSpPr/>
          <p:nvPr/>
        </p:nvSpPr>
        <p:spPr>
          <a:xfrm>
            <a:off x="7100316" y="406908"/>
            <a:ext cx="82296" cy="82296"/>
          </a:xfrm>
          <a:prstGeom prst="ellipse">
            <a:avLst/>
          </a:prstGeom>
          <a:solidFill>
            <a:srgbClr val="E8743B"/>
          </a:solidFill>
          <a:ln/>
        </p:spPr>
      </p:sp>
      <p:sp>
        <p:nvSpPr>
          <p:cNvPr id="28" name="Shape 22"/>
          <p:cNvSpPr/>
          <p:nvPr/>
        </p:nvSpPr>
        <p:spPr>
          <a:xfrm>
            <a:off x="7141464" y="448056"/>
            <a:ext cx="434340" cy="0"/>
          </a:xfrm>
          <a:prstGeom prst="line">
            <a:avLst/>
          </a:prstGeom>
          <a:noFill/>
          <a:ln w="12700">
            <a:solidFill>
              <a:srgbClr val="C7D6DB"/>
            </a:solidFill>
            <a:prstDash val="solid"/>
          </a:ln>
        </p:spPr>
      </p:sp>
      <p:sp>
        <p:nvSpPr>
          <p:cNvPr id="29" name="Shape 23"/>
          <p:cNvSpPr/>
          <p:nvPr/>
        </p:nvSpPr>
        <p:spPr>
          <a:xfrm>
            <a:off x="7616952" y="406908"/>
            <a:ext cx="82296" cy="82296"/>
          </a:xfrm>
          <a:prstGeom prst="ellipse">
            <a:avLst/>
          </a:prstGeom>
          <a:solidFill>
            <a:srgbClr val="C7D6DB"/>
          </a:solidFill>
          <a:ln/>
        </p:spPr>
      </p:sp>
      <p:sp>
        <p:nvSpPr>
          <p:cNvPr id="30" name="Shape 24"/>
          <p:cNvSpPr/>
          <p:nvPr/>
        </p:nvSpPr>
        <p:spPr>
          <a:xfrm>
            <a:off x="7658100" y="448056"/>
            <a:ext cx="434340" cy="0"/>
          </a:xfrm>
          <a:prstGeom prst="line">
            <a:avLst/>
          </a:prstGeom>
          <a:noFill/>
          <a:ln w="12700">
            <a:solidFill>
              <a:srgbClr val="C7D6DB"/>
            </a:solidFill>
            <a:prstDash val="solid"/>
          </a:ln>
        </p:spPr>
      </p:sp>
      <p:sp>
        <p:nvSpPr>
          <p:cNvPr id="31" name="Shape 25"/>
          <p:cNvSpPr/>
          <p:nvPr/>
        </p:nvSpPr>
        <p:spPr>
          <a:xfrm>
            <a:off x="8133588" y="406908"/>
            <a:ext cx="82296" cy="82296"/>
          </a:xfrm>
          <a:prstGeom prst="ellipse">
            <a:avLst/>
          </a:prstGeom>
          <a:solidFill>
            <a:srgbClr val="C7D6DB"/>
          </a:solidFill>
          <a:ln/>
        </p:spPr>
      </p:sp>
      <p:sp>
        <p:nvSpPr>
          <p:cNvPr id="32" name="Shape 26"/>
          <p:cNvSpPr/>
          <p:nvPr/>
        </p:nvSpPr>
        <p:spPr>
          <a:xfrm>
            <a:off x="8174736" y="448056"/>
            <a:ext cx="434340" cy="0"/>
          </a:xfrm>
          <a:prstGeom prst="line">
            <a:avLst/>
          </a:prstGeom>
          <a:noFill/>
          <a:ln w="12700">
            <a:solidFill>
              <a:srgbClr val="C7D6DB"/>
            </a:solidFill>
            <a:prstDash val="solid"/>
          </a:ln>
        </p:spPr>
      </p:sp>
      <p:sp>
        <p:nvSpPr>
          <p:cNvPr id="33" name="Shape 27"/>
          <p:cNvSpPr/>
          <p:nvPr/>
        </p:nvSpPr>
        <p:spPr>
          <a:xfrm>
            <a:off x="8650224" y="406908"/>
            <a:ext cx="82296" cy="82296"/>
          </a:xfrm>
          <a:prstGeom prst="ellipse">
            <a:avLst/>
          </a:prstGeom>
          <a:solidFill>
            <a:srgbClr val="C7D6DB"/>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92608"/>
            <a:ext cx="8321040" cy="256032"/>
          </a:xfrm>
          <a:prstGeom prst="rect">
            <a:avLst/>
          </a:prstGeom>
          <a:noFill/>
          <a:ln/>
        </p:spPr>
        <p:txBody>
          <a:bodyPr wrap="square" lIns="0" tIns="0" rIns="0" bIns="0" rtlCol="0" anchor="ctr"/>
          <a:lstStyle/>
          <a:p>
            <a:pPr indent="0" marL="0">
              <a:buNone/>
            </a:pPr>
            <a:r>
              <a:rPr lang="en-US" sz="1100" b="1" spc="150" kern="0" dirty="0">
                <a:solidFill>
                  <a:srgbClr val="E8743B"/>
                </a:solidFill>
                <a:latin typeface="Arial" pitchFamily="34" charset="0"/>
                <a:ea typeface="Arial" pitchFamily="34" charset="-122"/>
                <a:cs typeface="Arial" pitchFamily="34" charset="-120"/>
              </a:rPr>
              <a:t>PARTIE 2 — DIAGNOSTIC (2/2)</a:t>
            </a:r>
            <a:endParaRPr lang="en-US" sz="1100" dirty="0"/>
          </a:p>
        </p:txBody>
      </p:sp>
      <p:sp>
        <p:nvSpPr>
          <p:cNvPr id="3" name="Text 1"/>
          <p:cNvSpPr/>
          <p:nvPr/>
        </p:nvSpPr>
        <p:spPr>
          <a:xfrm>
            <a:off x="411480" y="530352"/>
            <a:ext cx="8321040" cy="566928"/>
          </a:xfrm>
          <a:prstGeom prst="rect">
            <a:avLst/>
          </a:prstGeom>
          <a:noFill/>
          <a:ln/>
        </p:spPr>
        <p:txBody>
          <a:bodyPr wrap="square" lIns="0" tIns="0" rIns="0" bIns="0" rtlCol="0" anchor="t"/>
          <a:lstStyle/>
          <a:p>
            <a:pPr indent="0" marL="0">
              <a:buNone/>
            </a:pPr>
            <a:r>
              <a:rPr lang="en-US" sz="2500" b="1" dirty="0">
                <a:solidFill>
                  <a:srgbClr val="0B3D5C"/>
                </a:solidFill>
                <a:latin typeface="Arial" pitchFamily="34" charset="0"/>
                <a:ea typeface="Arial" pitchFamily="34" charset="-122"/>
                <a:cs typeface="Arial" pitchFamily="34" charset="-120"/>
              </a:rPr>
              <a:t>La vraie faiblesse, c’est la rétention — pas l’acquisition</a:t>
            </a:r>
            <a:endParaRPr lang="en-US" sz="2500" dirty="0"/>
          </a:p>
        </p:txBody>
      </p:sp>
      <p:sp>
        <p:nvSpPr>
          <p:cNvPr id="4" name="Shape 2"/>
          <p:cNvSpPr/>
          <p:nvPr/>
        </p:nvSpPr>
        <p:spPr>
          <a:xfrm>
            <a:off x="411480" y="1078992"/>
            <a:ext cx="4069080" cy="1051560"/>
          </a:xfrm>
          <a:prstGeom prst="roundRect">
            <a:avLst>
              <a:gd name="adj" fmla="val 6087"/>
            </a:avLst>
          </a:prstGeom>
          <a:solidFill>
            <a:srgbClr val="EDF2F4"/>
          </a:solidFill>
          <a:ln/>
        </p:spPr>
      </p:sp>
      <p:sp>
        <p:nvSpPr>
          <p:cNvPr id="5" name="Shape 3"/>
          <p:cNvSpPr/>
          <p:nvPr/>
        </p:nvSpPr>
        <p:spPr>
          <a:xfrm>
            <a:off x="557784" y="1216152"/>
            <a:ext cx="384048" cy="384048"/>
          </a:xfrm>
          <a:prstGeom prst="ellipse">
            <a:avLst/>
          </a:prstGeom>
          <a:solidFill>
            <a:srgbClr val="1C7293"/>
          </a:solidFill>
          <a:ln/>
        </p:spPr>
      </p:sp>
      <p:pic>
        <p:nvPicPr>
          <p:cNvPr id="6" name="Image 0" descr="preencoded.png">    </p:cNvPr>
          <p:cNvPicPr>
            <a:picLocks noChangeAspect="1"/>
          </p:cNvPicPr>
          <p:nvPr/>
        </p:nvPicPr>
        <p:blipFill>
          <a:blip r:embed="rId1"/>
          <a:stretch>
            <a:fillRect/>
          </a:stretch>
        </p:blipFill>
        <p:spPr>
          <a:xfrm>
            <a:off x="657636" y="1316004"/>
            <a:ext cx="184343" cy="184343"/>
          </a:xfrm>
          <a:prstGeom prst="rect">
            <a:avLst/>
          </a:prstGeom>
        </p:spPr>
      </p:pic>
      <p:sp>
        <p:nvSpPr>
          <p:cNvPr id="7" name="Text 4"/>
          <p:cNvSpPr/>
          <p:nvPr/>
        </p:nvSpPr>
        <p:spPr>
          <a:xfrm>
            <a:off x="1051560" y="1152144"/>
            <a:ext cx="3291840" cy="274320"/>
          </a:xfrm>
          <a:prstGeom prst="rect">
            <a:avLst/>
          </a:prstGeom>
          <a:noFill/>
          <a:ln/>
        </p:spPr>
        <p:txBody>
          <a:bodyPr wrap="square" lIns="0" tIns="0" rIns="0" bIns="0" rtlCol="0" anchor="ctr"/>
          <a:lstStyle/>
          <a:p>
            <a:pPr indent="0" marL="0">
              <a:buNone/>
            </a:pPr>
            <a:r>
              <a:rPr lang="en-US" sz="1250" b="1" dirty="0">
                <a:solidFill>
                  <a:srgbClr val="0B3D5C"/>
                </a:solidFill>
                <a:latin typeface="Arial" pitchFamily="34" charset="0"/>
                <a:ea typeface="Arial" pitchFamily="34" charset="-122"/>
                <a:cs typeface="Arial" pitchFamily="34" charset="-120"/>
              </a:rPr>
              <a:t>Forces</a:t>
            </a:r>
            <a:endParaRPr lang="en-US" sz="1250" dirty="0"/>
          </a:p>
        </p:txBody>
      </p:sp>
      <p:sp>
        <p:nvSpPr>
          <p:cNvPr id="8" name="Text 5"/>
          <p:cNvSpPr/>
          <p:nvPr/>
        </p:nvSpPr>
        <p:spPr>
          <a:xfrm>
            <a:off x="557784" y="1481328"/>
            <a:ext cx="3776472" cy="594360"/>
          </a:xfrm>
          <a:prstGeom prst="rect">
            <a:avLst/>
          </a:prstGeom>
          <a:noFill/>
          <a:ln/>
        </p:spPr>
        <p:txBody>
          <a:bodyPr wrap="square" lIns="0" tIns="0" rIns="0" bIns="0" rtlCol="0" anchor="ctr"/>
          <a:lstStyle/>
          <a:p>
            <a:pPr indent="0" marL="0">
              <a:lnSpc>
                <a:spcPct val="115000"/>
              </a:lnSpc>
              <a:buNone/>
            </a:pPr>
            <a:r>
              <a:rPr lang="en-US" sz="950" dirty="0">
                <a:solidFill>
                  <a:srgbClr val="5B6B73"/>
                </a:solidFill>
                <a:latin typeface="Arial" pitchFamily="34" charset="0"/>
                <a:ea typeface="Arial" pitchFamily="34" charset="-122"/>
                <a:cs typeface="Arial" pitchFamily="34" charset="-120"/>
              </a:rPr>
              <a:t>Spécialisation sport · page SEO incluse · prix d’entrée (29€) · grands comptes (LGM, Accor)</a:t>
            </a:r>
            <a:endParaRPr lang="en-US" sz="950" dirty="0"/>
          </a:p>
        </p:txBody>
      </p:sp>
      <p:sp>
        <p:nvSpPr>
          <p:cNvPr id="9" name="Shape 6"/>
          <p:cNvSpPr/>
          <p:nvPr/>
        </p:nvSpPr>
        <p:spPr>
          <a:xfrm>
            <a:off x="4663440" y="1078992"/>
            <a:ext cx="4069080" cy="1051560"/>
          </a:xfrm>
          <a:prstGeom prst="roundRect">
            <a:avLst>
              <a:gd name="adj" fmla="val 6087"/>
            </a:avLst>
          </a:prstGeom>
          <a:solidFill>
            <a:srgbClr val="EDF2F4"/>
          </a:solidFill>
          <a:ln/>
        </p:spPr>
      </p:sp>
      <p:sp>
        <p:nvSpPr>
          <p:cNvPr id="10" name="Shape 7"/>
          <p:cNvSpPr/>
          <p:nvPr/>
        </p:nvSpPr>
        <p:spPr>
          <a:xfrm>
            <a:off x="4809744" y="1216152"/>
            <a:ext cx="384048" cy="384048"/>
          </a:xfrm>
          <a:prstGeom prst="ellipse">
            <a:avLst/>
          </a:prstGeom>
          <a:solidFill>
            <a:srgbClr val="E8743B"/>
          </a:solidFill>
          <a:ln/>
        </p:spPr>
      </p:sp>
      <p:pic>
        <p:nvPicPr>
          <p:cNvPr id="11" name="Image 1" descr="preencoded.png">    </p:cNvPr>
          <p:cNvPicPr>
            <a:picLocks noChangeAspect="1"/>
          </p:cNvPicPr>
          <p:nvPr/>
        </p:nvPicPr>
        <p:blipFill>
          <a:blip r:embed="rId2"/>
          <a:stretch>
            <a:fillRect/>
          </a:stretch>
        </p:blipFill>
        <p:spPr>
          <a:xfrm>
            <a:off x="4909596" y="1316004"/>
            <a:ext cx="184343" cy="184343"/>
          </a:xfrm>
          <a:prstGeom prst="rect">
            <a:avLst/>
          </a:prstGeom>
        </p:spPr>
      </p:pic>
      <p:sp>
        <p:nvSpPr>
          <p:cNvPr id="12" name="Text 8"/>
          <p:cNvSpPr/>
          <p:nvPr/>
        </p:nvSpPr>
        <p:spPr>
          <a:xfrm>
            <a:off x="5303520" y="1152144"/>
            <a:ext cx="3291840" cy="274320"/>
          </a:xfrm>
          <a:prstGeom prst="rect">
            <a:avLst/>
          </a:prstGeom>
          <a:noFill/>
          <a:ln/>
        </p:spPr>
        <p:txBody>
          <a:bodyPr wrap="square" lIns="0" tIns="0" rIns="0" bIns="0" rtlCol="0" anchor="ctr"/>
          <a:lstStyle/>
          <a:p>
            <a:pPr indent="0" marL="0">
              <a:buNone/>
            </a:pPr>
            <a:r>
              <a:rPr lang="en-US" sz="1250" b="1" dirty="0">
                <a:solidFill>
                  <a:srgbClr val="0B3D5C"/>
                </a:solidFill>
                <a:latin typeface="Arial" pitchFamily="34" charset="0"/>
                <a:ea typeface="Arial" pitchFamily="34" charset="-122"/>
                <a:cs typeface="Arial" pitchFamily="34" charset="-120"/>
              </a:rPr>
              <a:t>Faiblesses</a:t>
            </a:r>
            <a:endParaRPr lang="en-US" sz="1250" dirty="0"/>
          </a:p>
        </p:txBody>
      </p:sp>
      <p:sp>
        <p:nvSpPr>
          <p:cNvPr id="13" name="Text 9"/>
          <p:cNvSpPr/>
          <p:nvPr/>
        </p:nvSpPr>
        <p:spPr>
          <a:xfrm>
            <a:off x="4809744" y="1481328"/>
            <a:ext cx="3776472" cy="594360"/>
          </a:xfrm>
          <a:prstGeom prst="rect">
            <a:avLst/>
          </a:prstGeom>
          <a:noFill/>
          <a:ln/>
        </p:spPr>
        <p:txBody>
          <a:bodyPr wrap="square" lIns="0" tIns="0" rIns="0" bIns="0" rtlCol="0" anchor="ctr"/>
          <a:lstStyle/>
          <a:p>
            <a:pPr indent="0" marL="0">
              <a:lnSpc>
                <a:spcPct val="115000"/>
              </a:lnSpc>
              <a:buNone/>
            </a:pPr>
            <a:r>
              <a:rPr lang="en-US" sz="950" dirty="0">
                <a:solidFill>
                  <a:srgbClr val="5B6B73"/>
                </a:solidFill>
                <a:latin typeface="Arial" pitchFamily="34" charset="0"/>
                <a:ea typeface="Arial" pitchFamily="34" charset="-122"/>
                <a:cs typeface="Arial" pitchFamily="34" charset="-120"/>
              </a:rPr>
              <a:t>Interface vieillissante · pas d’app mobile · rétention faible (~14 mois)</a:t>
            </a:r>
            <a:endParaRPr lang="en-US" sz="950" dirty="0"/>
          </a:p>
        </p:txBody>
      </p:sp>
      <p:graphicFrame>
        <p:nvGraphicFramePr>
          <p:cNvPr id="14" name="Chart 0" descr=""/>
          <p:cNvGraphicFramePr/>
          <p:nvPr/>
        </p:nvGraphicFramePr>
        <p:xfrm>
          <a:off x="411480" y="2331720"/>
          <a:ext cx="4069080" cy="2423160"/>
        </p:xfrm>
        <a:graphic xmlns:a="http://schemas.openxmlformats.org/drawingml/2006/main">
          <a:graphicData uri="http://schemas.openxmlformats.org/drawingml/2006/chart">
            <c:chart xmlns:c="http://schemas.openxmlformats.org/drawingml/2006/chart" r:id="rId3"/>
          </a:graphicData>
        </a:graphic>
      </p:graphicFrame>
      <p:sp>
        <p:nvSpPr>
          <p:cNvPr id="15" name="Shape 10"/>
          <p:cNvSpPr/>
          <p:nvPr/>
        </p:nvSpPr>
        <p:spPr>
          <a:xfrm>
            <a:off x="4663440" y="2331720"/>
            <a:ext cx="4069080" cy="1115568"/>
          </a:xfrm>
          <a:prstGeom prst="roundRect">
            <a:avLst>
              <a:gd name="adj" fmla="val 5738"/>
            </a:avLst>
          </a:prstGeom>
          <a:solidFill>
            <a:srgbClr val="0B3D5C"/>
          </a:solidFill>
          <a:ln/>
          <a:effectLst>
            <a:outerShdw sx="100000" sy="100000" kx="0" ky="0" algn="bl" rotWithShape="0" blurRad="88900" dist="25400" dir="5400000">
              <a:srgbClr val="0B3D5C">
                <a:alpha val="12000"/>
              </a:srgbClr>
            </a:outerShdw>
          </a:effectLst>
        </p:spPr>
      </p:sp>
      <p:sp>
        <p:nvSpPr>
          <p:cNvPr id="16" name="Text 11"/>
          <p:cNvSpPr/>
          <p:nvPr/>
        </p:nvSpPr>
        <p:spPr>
          <a:xfrm>
            <a:off x="4846320" y="2423160"/>
            <a:ext cx="1371600" cy="50292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 1,0</a:t>
            </a:r>
            <a:endParaRPr lang="en-US" sz="2600" dirty="0"/>
          </a:p>
        </p:txBody>
      </p:sp>
      <p:sp>
        <p:nvSpPr>
          <p:cNvPr id="17" name="Text 12"/>
          <p:cNvSpPr/>
          <p:nvPr/>
        </p:nvSpPr>
        <p:spPr>
          <a:xfrm>
            <a:off x="6172200" y="2450592"/>
            <a:ext cx="2423160" cy="914400"/>
          </a:xfrm>
          <a:prstGeom prst="rect">
            <a:avLst/>
          </a:prstGeom>
          <a:noFill/>
          <a:ln/>
        </p:spPr>
        <p:txBody>
          <a:bodyPr wrap="square" lIns="0" tIns="0" rIns="0" bIns="0" rtlCol="0" anchor="t"/>
          <a:lstStyle/>
          <a:p>
            <a:pPr indent="0" marL="0">
              <a:lnSpc>
                <a:spcPct val="115000"/>
              </a:lnSpc>
              <a:buNone/>
            </a:pPr>
            <a:r>
              <a:rPr lang="en-US" sz="950" dirty="0">
                <a:solidFill>
                  <a:srgbClr val="C7DCE3"/>
                </a:solidFill>
                <a:latin typeface="Arial" pitchFamily="34" charset="0"/>
                <a:ea typeface="Arial" pitchFamily="34" charset="-122"/>
                <a:cs typeface="Arial" pitchFamily="34" charset="-120"/>
              </a:rPr>
              <a:t>ratio LTV / CAC actuel : le canal cold calling ne dégage aucune marge pour financer la croissance.</a:t>
            </a:r>
            <a:endParaRPr lang="en-US" sz="950" dirty="0"/>
          </a:p>
        </p:txBody>
      </p:sp>
      <p:sp>
        <p:nvSpPr>
          <p:cNvPr id="18" name="Shape 13"/>
          <p:cNvSpPr/>
          <p:nvPr/>
        </p:nvSpPr>
        <p:spPr>
          <a:xfrm>
            <a:off x="4663440" y="3611880"/>
            <a:ext cx="4069080" cy="1143000"/>
          </a:xfrm>
          <a:prstGeom prst="roundRect">
            <a:avLst>
              <a:gd name="adj" fmla="val 5600"/>
            </a:avLst>
          </a:prstGeom>
          <a:solidFill>
            <a:srgbClr val="FBE9DD"/>
          </a:solidFill>
          <a:ln/>
          <a:effectLst>
            <a:outerShdw sx="100000" sy="100000" kx="0" ky="0" algn="bl" rotWithShape="0" blurRad="88900" dist="25400" dir="5400000">
              <a:srgbClr val="0B3D5C">
                <a:alpha val="12000"/>
              </a:srgbClr>
            </a:outerShdw>
          </a:effectLst>
        </p:spPr>
      </p:sp>
      <p:sp>
        <p:nvSpPr>
          <p:cNvPr id="19" name="Text 14"/>
          <p:cNvSpPr/>
          <p:nvPr/>
        </p:nvSpPr>
        <p:spPr>
          <a:xfrm>
            <a:off x="4846320" y="3703320"/>
            <a:ext cx="1371600" cy="502920"/>
          </a:xfrm>
          <a:prstGeom prst="rect">
            <a:avLst/>
          </a:prstGeom>
          <a:noFill/>
          <a:ln/>
        </p:spPr>
        <p:txBody>
          <a:bodyPr wrap="square" lIns="0" tIns="0" rIns="0" bIns="0" rtlCol="0" anchor="ctr"/>
          <a:lstStyle/>
          <a:p>
            <a:pPr indent="0" marL="0">
              <a:buNone/>
            </a:pPr>
            <a:r>
              <a:rPr lang="en-US" sz="2600" b="1" dirty="0">
                <a:solidFill>
                  <a:srgbClr val="E8743B"/>
                </a:solidFill>
                <a:latin typeface="Arial" pitchFamily="34" charset="0"/>
                <a:ea typeface="Arial" pitchFamily="34" charset="-122"/>
                <a:cs typeface="Arial" pitchFamily="34" charset="-120"/>
              </a:rPr>
              <a:t>× 1,7</a:t>
            </a:r>
            <a:endParaRPr lang="en-US" sz="2600" dirty="0"/>
          </a:p>
        </p:txBody>
      </p:sp>
      <p:sp>
        <p:nvSpPr>
          <p:cNvPr id="20" name="Text 15"/>
          <p:cNvSpPr/>
          <p:nvPr/>
        </p:nvSpPr>
        <p:spPr>
          <a:xfrm>
            <a:off x="6172200" y="3730752"/>
            <a:ext cx="2423160" cy="914400"/>
          </a:xfrm>
          <a:prstGeom prst="rect">
            <a:avLst/>
          </a:prstGeom>
          <a:noFill/>
          <a:ln/>
        </p:spPr>
        <p:txBody>
          <a:bodyPr wrap="square" lIns="0" tIns="0" rIns="0" bIns="0" rtlCol="0" anchor="t"/>
          <a:lstStyle/>
          <a:p>
            <a:pPr indent="0" marL="0">
              <a:lnSpc>
                <a:spcPct val="115000"/>
              </a:lnSpc>
              <a:buNone/>
            </a:pPr>
            <a:r>
              <a:rPr lang="en-US" sz="950" dirty="0">
                <a:solidFill>
                  <a:srgbClr val="7A3A1A"/>
                </a:solidFill>
                <a:latin typeface="Arial" pitchFamily="34" charset="0"/>
                <a:ea typeface="Arial" pitchFamily="34" charset="-122"/>
                <a:cs typeface="Arial" pitchFamily="34" charset="-120"/>
              </a:rPr>
              <a:t>le ratio visé en portant la durée de vie client de 14 à 24 mois (LTV nette → ~790€).</a:t>
            </a:r>
            <a:endParaRPr lang="en-US" sz="950" dirty="0"/>
          </a:p>
        </p:txBody>
      </p:sp>
      <p:sp>
        <p:nvSpPr>
          <p:cNvPr id="21" name="Text 16"/>
          <p:cNvSpPr/>
          <p:nvPr/>
        </p:nvSpPr>
        <p:spPr>
          <a:xfrm>
            <a:off x="411480" y="4864608"/>
            <a:ext cx="4114800" cy="228600"/>
          </a:xfrm>
          <a:prstGeom prst="rect">
            <a:avLst/>
          </a:prstGeom>
          <a:noFill/>
          <a:ln/>
        </p:spPr>
        <p:txBody>
          <a:bodyPr wrap="square" lIns="0" tIns="0" rIns="0" bIns="0" rtlCol="0" anchor="ctr"/>
          <a:lstStyle/>
          <a:p>
            <a:pPr algn="l" indent="0" marL="0">
              <a:buNone/>
            </a:pPr>
            <a:r>
              <a:rPr lang="en-US" sz="800" dirty="0">
                <a:solidFill>
                  <a:srgbClr val="9AA9AE"/>
                </a:solidFill>
                <a:latin typeface="Arial" pitchFamily="34" charset="0"/>
                <a:ea typeface="Arial" pitchFamily="34" charset="-122"/>
                <a:cs typeface="Arial" pitchFamily="34" charset="-120"/>
              </a:rPr>
              <a:t>Rapport de mission — SPOUTNIK S62 — Pascal Varomme</a:t>
            </a:r>
            <a:endParaRPr lang="en-US" sz="800" dirty="0"/>
          </a:p>
        </p:txBody>
      </p:sp>
      <p:sp>
        <p:nvSpPr>
          <p:cNvPr id="22" name="Text 17"/>
          <p:cNvSpPr/>
          <p:nvPr/>
        </p:nvSpPr>
        <p:spPr>
          <a:xfrm>
            <a:off x="8366760" y="4864608"/>
            <a:ext cx="365760" cy="228600"/>
          </a:xfrm>
          <a:prstGeom prst="rect">
            <a:avLst/>
          </a:prstGeom>
          <a:noFill/>
          <a:ln/>
        </p:spPr>
        <p:txBody>
          <a:bodyPr wrap="square" lIns="0" tIns="0" rIns="0" bIns="0" rtlCol="0" anchor="ctr"/>
          <a:lstStyle/>
          <a:p>
            <a:pPr algn="r" indent="0" marL="0">
              <a:buNone/>
            </a:pPr>
            <a:r>
              <a:rPr lang="en-US" sz="800" dirty="0">
                <a:solidFill>
                  <a:srgbClr val="9AA9AE"/>
                </a:solidFill>
                <a:latin typeface="Arial" pitchFamily="34" charset="0"/>
                <a:ea typeface="Arial" pitchFamily="34" charset="-122"/>
                <a:cs typeface="Arial" pitchFamily="34" charset="-120"/>
              </a:rPr>
              <a:t>7</a:t>
            </a:r>
            <a:endParaRPr lang="en-US" sz="800" dirty="0"/>
          </a:p>
        </p:txBody>
      </p:sp>
      <p:sp>
        <p:nvSpPr>
          <p:cNvPr id="23" name="Shape 18"/>
          <p:cNvSpPr/>
          <p:nvPr/>
        </p:nvSpPr>
        <p:spPr>
          <a:xfrm>
            <a:off x="6583680" y="406908"/>
            <a:ext cx="82296" cy="82296"/>
          </a:xfrm>
          <a:prstGeom prst="ellipse">
            <a:avLst/>
          </a:prstGeom>
          <a:solidFill>
            <a:srgbClr val="C7D6DB"/>
          </a:solidFill>
          <a:ln/>
        </p:spPr>
      </p:sp>
      <p:sp>
        <p:nvSpPr>
          <p:cNvPr id="24" name="Shape 19"/>
          <p:cNvSpPr/>
          <p:nvPr/>
        </p:nvSpPr>
        <p:spPr>
          <a:xfrm>
            <a:off x="6624828" y="448056"/>
            <a:ext cx="434340" cy="0"/>
          </a:xfrm>
          <a:prstGeom prst="line">
            <a:avLst/>
          </a:prstGeom>
          <a:noFill/>
          <a:ln w="12700">
            <a:solidFill>
              <a:srgbClr val="C7D6DB"/>
            </a:solidFill>
            <a:prstDash val="solid"/>
          </a:ln>
        </p:spPr>
      </p:sp>
      <p:sp>
        <p:nvSpPr>
          <p:cNvPr id="25" name="Shape 20"/>
          <p:cNvSpPr/>
          <p:nvPr/>
        </p:nvSpPr>
        <p:spPr>
          <a:xfrm>
            <a:off x="7100316" y="406908"/>
            <a:ext cx="82296" cy="82296"/>
          </a:xfrm>
          <a:prstGeom prst="ellipse">
            <a:avLst/>
          </a:prstGeom>
          <a:solidFill>
            <a:srgbClr val="E8743B"/>
          </a:solidFill>
          <a:ln/>
        </p:spPr>
      </p:sp>
      <p:sp>
        <p:nvSpPr>
          <p:cNvPr id="26" name="Shape 21"/>
          <p:cNvSpPr/>
          <p:nvPr/>
        </p:nvSpPr>
        <p:spPr>
          <a:xfrm>
            <a:off x="7141464" y="448056"/>
            <a:ext cx="434340" cy="0"/>
          </a:xfrm>
          <a:prstGeom prst="line">
            <a:avLst/>
          </a:prstGeom>
          <a:noFill/>
          <a:ln w="12700">
            <a:solidFill>
              <a:srgbClr val="C7D6DB"/>
            </a:solidFill>
            <a:prstDash val="solid"/>
          </a:ln>
        </p:spPr>
      </p:sp>
      <p:sp>
        <p:nvSpPr>
          <p:cNvPr id="27" name="Shape 22"/>
          <p:cNvSpPr/>
          <p:nvPr/>
        </p:nvSpPr>
        <p:spPr>
          <a:xfrm>
            <a:off x="7616952" y="406908"/>
            <a:ext cx="82296" cy="82296"/>
          </a:xfrm>
          <a:prstGeom prst="ellipse">
            <a:avLst/>
          </a:prstGeom>
          <a:solidFill>
            <a:srgbClr val="C7D6DB"/>
          </a:solidFill>
          <a:ln/>
        </p:spPr>
      </p:sp>
      <p:sp>
        <p:nvSpPr>
          <p:cNvPr id="28" name="Shape 23"/>
          <p:cNvSpPr/>
          <p:nvPr/>
        </p:nvSpPr>
        <p:spPr>
          <a:xfrm>
            <a:off x="7658100" y="448056"/>
            <a:ext cx="434340" cy="0"/>
          </a:xfrm>
          <a:prstGeom prst="line">
            <a:avLst/>
          </a:prstGeom>
          <a:noFill/>
          <a:ln w="12700">
            <a:solidFill>
              <a:srgbClr val="C7D6DB"/>
            </a:solidFill>
            <a:prstDash val="solid"/>
          </a:ln>
        </p:spPr>
      </p:sp>
      <p:sp>
        <p:nvSpPr>
          <p:cNvPr id="29" name="Shape 24"/>
          <p:cNvSpPr/>
          <p:nvPr/>
        </p:nvSpPr>
        <p:spPr>
          <a:xfrm>
            <a:off x="8133588" y="406908"/>
            <a:ext cx="82296" cy="82296"/>
          </a:xfrm>
          <a:prstGeom prst="ellipse">
            <a:avLst/>
          </a:prstGeom>
          <a:solidFill>
            <a:srgbClr val="C7D6DB"/>
          </a:solidFill>
          <a:ln/>
        </p:spPr>
      </p:sp>
      <p:sp>
        <p:nvSpPr>
          <p:cNvPr id="30" name="Shape 25"/>
          <p:cNvSpPr/>
          <p:nvPr/>
        </p:nvSpPr>
        <p:spPr>
          <a:xfrm>
            <a:off x="8174736" y="448056"/>
            <a:ext cx="434340" cy="0"/>
          </a:xfrm>
          <a:prstGeom prst="line">
            <a:avLst/>
          </a:prstGeom>
          <a:noFill/>
          <a:ln w="12700">
            <a:solidFill>
              <a:srgbClr val="C7D6DB"/>
            </a:solidFill>
            <a:prstDash val="solid"/>
          </a:ln>
        </p:spPr>
      </p:sp>
      <p:sp>
        <p:nvSpPr>
          <p:cNvPr id="31" name="Shape 26"/>
          <p:cNvSpPr/>
          <p:nvPr/>
        </p:nvSpPr>
        <p:spPr>
          <a:xfrm>
            <a:off x="8650224" y="406908"/>
            <a:ext cx="82296" cy="82296"/>
          </a:xfrm>
          <a:prstGeom prst="ellipse">
            <a:avLst/>
          </a:prstGeom>
          <a:solidFill>
            <a:srgbClr val="C7D6DB"/>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2A4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3D5C">
              <a:alpha val="65000"/>
            </a:srgbClr>
          </a:solidFill>
          <a:ln/>
        </p:spPr>
      </p:sp>
      <p:sp>
        <p:nvSpPr>
          <p:cNvPr id="3" name="Shape 1"/>
          <p:cNvSpPr/>
          <p:nvPr/>
        </p:nvSpPr>
        <p:spPr>
          <a:xfrm>
            <a:off x="-1280160" y="-1280160"/>
            <a:ext cx="3657600" cy="3657600"/>
          </a:xfrm>
          <a:prstGeom prst="ellipse">
            <a:avLst/>
          </a:prstGeom>
          <a:solidFill>
            <a:srgbClr val="1C7293">
              <a:alpha val="20000"/>
            </a:srgbClr>
          </a:solidFill>
          <a:ln/>
        </p:spPr>
      </p:sp>
      <p:sp>
        <p:nvSpPr>
          <p:cNvPr id="4" name="Text 2"/>
          <p:cNvSpPr/>
          <p:nvPr/>
        </p:nvSpPr>
        <p:spPr>
          <a:xfrm>
            <a:off x="640080" y="502920"/>
            <a:ext cx="7863840" cy="274320"/>
          </a:xfrm>
          <a:prstGeom prst="rect">
            <a:avLst/>
          </a:prstGeom>
          <a:noFill/>
          <a:ln/>
        </p:spPr>
        <p:txBody>
          <a:bodyPr wrap="square" lIns="0" tIns="0" rIns="0" bIns="0" rtlCol="0" anchor="ctr"/>
          <a:lstStyle/>
          <a:p>
            <a:pPr indent="0" marL="0">
              <a:buNone/>
            </a:pPr>
            <a:r>
              <a:rPr lang="en-US" sz="1200" b="1" spc="200" kern="0" dirty="0">
                <a:solidFill>
                  <a:srgbClr val="E8743B"/>
                </a:solidFill>
                <a:latin typeface="Arial" pitchFamily="34" charset="0"/>
                <a:ea typeface="Arial" pitchFamily="34" charset="-122"/>
                <a:cs typeface="Arial" pitchFamily="34" charset="-120"/>
              </a:rPr>
              <a:t>LA PROBLÉMATIQUE</a:t>
            </a:r>
            <a:endParaRPr lang="en-US" sz="1200" dirty="0"/>
          </a:p>
        </p:txBody>
      </p:sp>
      <p:sp>
        <p:nvSpPr>
          <p:cNvPr id="5" name="Shape 3"/>
          <p:cNvSpPr/>
          <p:nvPr/>
        </p:nvSpPr>
        <p:spPr>
          <a:xfrm>
            <a:off x="640080" y="960120"/>
            <a:ext cx="7863840" cy="960120"/>
          </a:xfrm>
          <a:prstGeom prst="roundRect">
            <a:avLst>
              <a:gd name="adj" fmla="val 7619"/>
            </a:avLst>
          </a:prstGeom>
          <a:solidFill>
            <a:srgbClr val="FFFFFF">
              <a:alpha val="8000"/>
            </a:srgbClr>
          </a:solidFill>
          <a:ln w="12700">
            <a:solidFill>
              <a:srgbClr val="3D5C70"/>
            </a:solidFill>
            <a:prstDash val="solid"/>
          </a:ln>
        </p:spPr>
      </p:sp>
      <p:sp>
        <p:nvSpPr>
          <p:cNvPr id="6" name="Shape 4"/>
          <p:cNvSpPr/>
          <p:nvPr/>
        </p:nvSpPr>
        <p:spPr>
          <a:xfrm>
            <a:off x="841248" y="1143000"/>
            <a:ext cx="548640" cy="548640"/>
          </a:xfrm>
          <a:prstGeom prst="ellipse">
            <a:avLst/>
          </a:prstGeom>
          <a:solidFill>
            <a:srgbClr val="E8743B"/>
          </a:solidFill>
          <a:ln/>
        </p:spPr>
      </p:sp>
      <p:pic>
        <p:nvPicPr>
          <p:cNvPr id="7" name="Image 0" descr="preencoded.png">    </p:cNvPr>
          <p:cNvPicPr>
            <a:picLocks noChangeAspect="1"/>
          </p:cNvPicPr>
          <p:nvPr/>
        </p:nvPicPr>
        <p:blipFill>
          <a:blip r:embed="rId1"/>
          <a:stretch>
            <a:fillRect/>
          </a:stretch>
        </p:blipFill>
        <p:spPr>
          <a:xfrm>
            <a:off x="983894" y="1285646"/>
            <a:ext cx="263347" cy="263347"/>
          </a:xfrm>
          <a:prstGeom prst="rect">
            <a:avLst/>
          </a:prstGeom>
        </p:spPr>
      </p:pic>
      <p:sp>
        <p:nvSpPr>
          <p:cNvPr id="8" name="Text 5"/>
          <p:cNvSpPr/>
          <p:nvPr/>
        </p:nvSpPr>
        <p:spPr>
          <a:xfrm>
            <a:off x="1554480" y="1078992"/>
            <a:ext cx="6766560" cy="411480"/>
          </a:xfrm>
          <a:prstGeom prst="rect">
            <a:avLst/>
          </a:prstGeom>
          <a:noFill/>
          <a:ln/>
        </p:spPr>
        <p:txBody>
          <a:bodyPr wrap="square" lIns="0" tIns="0" rIns="0" bIns="0" rtlCol="0" anchor="ctr"/>
          <a:lstStyle/>
          <a:p>
            <a:pPr indent="0" marL="0">
              <a:buNone/>
            </a:pPr>
            <a:r>
              <a:rPr lang="en-US" sz="1700" b="1" i="1" dirty="0">
                <a:solidFill>
                  <a:srgbClr val="FFFFFF"/>
                </a:solidFill>
                <a:latin typeface="Arial" pitchFamily="34" charset="0"/>
                <a:ea typeface="Arial" pitchFamily="34" charset="-122"/>
                <a:cs typeface="Arial" pitchFamily="34" charset="-120"/>
              </a:rPr>
              <a:t>« Mais est-ce que vous pouvez nous amener des clients ? »</a:t>
            </a:r>
            <a:endParaRPr lang="en-US" sz="1700" dirty="0"/>
          </a:p>
        </p:txBody>
      </p:sp>
      <p:sp>
        <p:nvSpPr>
          <p:cNvPr id="9" name="Text 6"/>
          <p:cNvSpPr/>
          <p:nvPr/>
        </p:nvSpPr>
        <p:spPr>
          <a:xfrm>
            <a:off x="1554480" y="1463040"/>
            <a:ext cx="6766560" cy="320040"/>
          </a:xfrm>
          <a:prstGeom prst="rect">
            <a:avLst/>
          </a:prstGeom>
          <a:noFill/>
          <a:ln/>
        </p:spPr>
        <p:txBody>
          <a:bodyPr wrap="square" lIns="0" tIns="0" rIns="0" bIns="0" rtlCol="0" anchor="ctr"/>
          <a:lstStyle/>
          <a:p>
            <a:pPr indent="0" marL="0">
              <a:buNone/>
            </a:pPr>
            <a:r>
              <a:rPr lang="en-US" sz="1050" dirty="0">
                <a:solidFill>
                  <a:srgbClr val="9AB7C2"/>
                </a:solidFill>
                <a:latin typeface="Arial" pitchFamily="34" charset="0"/>
                <a:ea typeface="Arial" pitchFamily="34" charset="-122"/>
                <a:cs typeface="Arial" pitchFamily="34" charset="-120"/>
              </a:rPr>
              <a:t>— question récurrente des gérants de structures sportives, en prospection</a:t>
            </a:r>
            <a:endParaRPr lang="en-US" sz="1050" dirty="0"/>
          </a:p>
        </p:txBody>
      </p:sp>
      <p:sp>
        <p:nvSpPr>
          <p:cNvPr id="10" name="Text 7"/>
          <p:cNvSpPr/>
          <p:nvPr/>
        </p:nvSpPr>
        <p:spPr>
          <a:xfrm>
            <a:off x="640080" y="2331720"/>
            <a:ext cx="7863840" cy="1828800"/>
          </a:xfrm>
          <a:prstGeom prst="rect">
            <a:avLst/>
          </a:prstGeom>
          <a:noFill/>
          <a:ln/>
        </p:spPr>
        <p:txBody>
          <a:bodyPr wrap="square" lIns="0" tIns="0" rIns="0" bIns="0" rtlCol="0" anchor="t"/>
          <a:lstStyle/>
          <a:p>
            <a:pPr indent="0" marL="0">
              <a:lnSpc>
                <a:spcPct val="125000"/>
              </a:lnSpc>
              <a:buNone/>
            </a:pPr>
            <a:r>
              <a:rPr lang="en-US" sz="2100" b="1" dirty="0">
                <a:solidFill>
                  <a:srgbClr val="FFFFFF"/>
                </a:solidFill>
                <a:latin typeface="Arial" pitchFamily="34" charset="0"/>
                <a:ea typeface="Arial" pitchFamily="34" charset="-122"/>
                <a:cs typeface="Arial" pitchFamily="34" charset="-120"/>
              </a:rPr>
              <a:t>Dans quelle mesure l’élargissement de l’offre de My Sport Session vers le marketing opérationnel constitue-t-il un levier de différenciation et d’acquisition durable sur un marché de la réservation sportive fortement concurrentiel ?</a:t>
            </a:r>
            <a:endParaRPr lang="en-US" sz="2100" dirty="0"/>
          </a:p>
        </p:txBody>
      </p:sp>
      <p:sp>
        <p:nvSpPr>
          <p:cNvPr id="11" name="Shape 8"/>
          <p:cNvSpPr/>
          <p:nvPr/>
        </p:nvSpPr>
        <p:spPr>
          <a:xfrm>
            <a:off x="658368" y="4224528"/>
            <a:ext cx="1280160" cy="0"/>
          </a:xfrm>
          <a:prstGeom prst="line">
            <a:avLst/>
          </a:prstGeom>
          <a:noFill/>
          <a:ln w="38100">
            <a:solidFill>
              <a:srgbClr val="E8743B"/>
            </a:solidFill>
            <a:prstDash val="solid"/>
          </a:ln>
        </p:spPr>
      </p:sp>
      <p:sp>
        <p:nvSpPr>
          <p:cNvPr id="12" name="Text 9"/>
          <p:cNvSpPr/>
          <p:nvPr/>
        </p:nvSpPr>
        <p:spPr>
          <a:xfrm>
            <a:off x="640080" y="4370832"/>
            <a:ext cx="7863840" cy="411480"/>
          </a:xfrm>
          <a:prstGeom prst="rect">
            <a:avLst/>
          </a:prstGeom>
          <a:noFill/>
          <a:ln/>
        </p:spPr>
        <p:txBody>
          <a:bodyPr wrap="square" lIns="0" tIns="0" rIns="0" bIns="0" rtlCol="0" anchor="ctr"/>
          <a:lstStyle/>
          <a:p>
            <a:pPr indent="0" marL="0">
              <a:lnSpc>
                <a:spcPct val="115000"/>
              </a:lnSpc>
              <a:buNone/>
            </a:pPr>
            <a:r>
              <a:rPr lang="en-US" sz="1100" i="1" dirty="0">
                <a:solidFill>
                  <a:srgbClr val="C7DCE3"/>
                </a:solidFill>
                <a:latin typeface="Arial" pitchFamily="34" charset="0"/>
                <a:ea typeface="Arial" pitchFamily="34" charset="-122"/>
                <a:cs typeface="Arial" pitchFamily="34" charset="-120"/>
              </a:rPr>
              <a:t>Un logiciel de réservation est un moyen. Remplir ses créneaux, fidéliser ses adhérents, se différencier localement : voilà les fins réelles.</a:t>
            </a:r>
            <a:endParaRPr lang="en-US" sz="1100" dirty="0"/>
          </a:p>
        </p:txBody>
      </p:sp>
      <p:sp>
        <p:nvSpPr>
          <p:cNvPr id="13" name="Text 10"/>
          <p:cNvSpPr/>
          <p:nvPr/>
        </p:nvSpPr>
        <p:spPr>
          <a:xfrm>
            <a:off x="411480" y="4864608"/>
            <a:ext cx="4114800" cy="228600"/>
          </a:xfrm>
          <a:prstGeom prst="rect">
            <a:avLst/>
          </a:prstGeom>
          <a:noFill/>
          <a:ln/>
        </p:spPr>
        <p:txBody>
          <a:bodyPr wrap="square" lIns="0" tIns="0" rIns="0" bIns="0" rtlCol="0" anchor="ctr"/>
          <a:lstStyle/>
          <a:p>
            <a:pPr algn="l" indent="0" marL="0">
              <a:buNone/>
            </a:pPr>
            <a:r>
              <a:rPr lang="en-US" sz="800" dirty="0">
                <a:solidFill>
                  <a:srgbClr val="7E97A0"/>
                </a:solidFill>
                <a:latin typeface="Arial" pitchFamily="34" charset="0"/>
                <a:ea typeface="Arial" pitchFamily="34" charset="-122"/>
                <a:cs typeface="Arial" pitchFamily="34" charset="-120"/>
              </a:rPr>
              <a:t>Rapport de mission — SPOUTNIK S62 — Pascal Varomme</a:t>
            </a:r>
            <a:endParaRPr lang="en-US" sz="800" dirty="0"/>
          </a:p>
        </p:txBody>
      </p:sp>
      <p:sp>
        <p:nvSpPr>
          <p:cNvPr id="14" name="Text 11"/>
          <p:cNvSpPr/>
          <p:nvPr/>
        </p:nvSpPr>
        <p:spPr>
          <a:xfrm>
            <a:off x="8366760" y="4864608"/>
            <a:ext cx="365760" cy="228600"/>
          </a:xfrm>
          <a:prstGeom prst="rect">
            <a:avLst/>
          </a:prstGeom>
          <a:noFill/>
          <a:ln/>
        </p:spPr>
        <p:txBody>
          <a:bodyPr wrap="square" lIns="0" tIns="0" rIns="0" bIns="0" rtlCol="0" anchor="ctr"/>
          <a:lstStyle/>
          <a:p>
            <a:pPr algn="r" indent="0" marL="0">
              <a:buNone/>
            </a:pPr>
            <a:r>
              <a:rPr lang="en-US" sz="800" dirty="0">
                <a:solidFill>
                  <a:srgbClr val="7E97A0"/>
                </a:solidFill>
                <a:latin typeface="Arial" pitchFamily="34" charset="0"/>
                <a:ea typeface="Arial" pitchFamily="34" charset="-122"/>
                <a:cs typeface="Arial" pitchFamily="34" charset="-120"/>
              </a:rPr>
              <a:t>8</a:t>
            </a:r>
            <a:endParaRPr lang="en-US" sz="800" dirty="0"/>
          </a:p>
        </p:txBody>
      </p:sp>
      <p:sp>
        <p:nvSpPr>
          <p:cNvPr id="15" name="Shape 12"/>
          <p:cNvSpPr/>
          <p:nvPr/>
        </p:nvSpPr>
        <p:spPr>
          <a:xfrm>
            <a:off x="6583680" y="406908"/>
            <a:ext cx="82296" cy="82296"/>
          </a:xfrm>
          <a:prstGeom prst="ellipse">
            <a:avLst/>
          </a:prstGeom>
          <a:solidFill>
            <a:srgbClr val="3D5C70"/>
          </a:solidFill>
          <a:ln/>
        </p:spPr>
      </p:sp>
      <p:sp>
        <p:nvSpPr>
          <p:cNvPr id="16" name="Shape 13"/>
          <p:cNvSpPr/>
          <p:nvPr/>
        </p:nvSpPr>
        <p:spPr>
          <a:xfrm>
            <a:off x="6624828" y="448056"/>
            <a:ext cx="434340" cy="0"/>
          </a:xfrm>
          <a:prstGeom prst="line">
            <a:avLst/>
          </a:prstGeom>
          <a:noFill/>
          <a:ln w="12700">
            <a:solidFill>
              <a:srgbClr val="3D5C70"/>
            </a:solidFill>
            <a:prstDash val="solid"/>
          </a:ln>
        </p:spPr>
      </p:sp>
      <p:sp>
        <p:nvSpPr>
          <p:cNvPr id="17" name="Shape 14"/>
          <p:cNvSpPr/>
          <p:nvPr/>
        </p:nvSpPr>
        <p:spPr>
          <a:xfrm>
            <a:off x="7100316" y="406908"/>
            <a:ext cx="82296" cy="82296"/>
          </a:xfrm>
          <a:prstGeom prst="ellipse">
            <a:avLst/>
          </a:prstGeom>
          <a:solidFill>
            <a:srgbClr val="3D5C70"/>
          </a:solidFill>
          <a:ln/>
        </p:spPr>
      </p:sp>
      <p:sp>
        <p:nvSpPr>
          <p:cNvPr id="18" name="Shape 15"/>
          <p:cNvSpPr/>
          <p:nvPr/>
        </p:nvSpPr>
        <p:spPr>
          <a:xfrm>
            <a:off x="7141464" y="448056"/>
            <a:ext cx="434340" cy="0"/>
          </a:xfrm>
          <a:prstGeom prst="line">
            <a:avLst/>
          </a:prstGeom>
          <a:noFill/>
          <a:ln w="12700">
            <a:solidFill>
              <a:srgbClr val="3D5C70"/>
            </a:solidFill>
            <a:prstDash val="solid"/>
          </a:ln>
        </p:spPr>
      </p:sp>
      <p:sp>
        <p:nvSpPr>
          <p:cNvPr id="19" name="Shape 16"/>
          <p:cNvSpPr/>
          <p:nvPr/>
        </p:nvSpPr>
        <p:spPr>
          <a:xfrm>
            <a:off x="7616952" y="406908"/>
            <a:ext cx="82296" cy="82296"/>
          </a:xfrm>
          <a:prstGeom prst="ellipse">
            <a:avLst/>
          </a:prstGeom>
          <a:solidFill>
            <a:srgbClr val="E8743B"/>
          </a:solidFill>
          <a:ln/>
        </p:spPr>
      </p:sp>
      <p:sp>
        <p:nvSpPr>
          <p:cNvPr id="20" name="Shape 17"/>
          <p:cNvSpPr/>
          <p:nvPr/>
        </p:nvSpPr>
        <p:spPr>
          <a:xfrm>
            <a:off x="7658100" y="448056"/>
            <a:ext cx="434340" cy="0"/>
          </a:xfrm>
          <a:prstGeom prst="line">
            <a:avLst/>
          </a:prstGeom>
          <a:noFill/>
          <a:ln w="12700">
            <a:solidFill>
              <a:srgbClr val="3D5C70"/>
            </a:solidFill>
            <a:prstDash val="solid"/>
          </a:ln>
        </p:spPr>
      </p:sp>
      <p:sp>
        <p:nvSpPr>
          <p:cNvPr id="21" name="Shape 18"/>
          <p:cNvSpPr/>
          <p:nvPr/>
        </p:nvSpPr>
        <p:spPr>
          <a:xfrm>
            <a:off x="8133588" y="406908"/>
            <a:ext cx="82296" cy="82296"/>
          </a:xfrm>
          <a:prstGeom prst="ellipse">
            <a:avLst/>
          </a:prstGeom>
          <a:solidFill>
            <a:srgbClr val="3D5C70"/>
          </a:solidFill>
          <a:ln/>
        </p:spPr>
      </p:sp>
      <p:sp>
        <p:nvSpPr>
          <p:cNvPr id="22" name="Shape 19"/>
          <p:cNvSpPr/>
          <p:nvPr/>
        </p:nvSpPr>
        <p:spPr>
          <a:xfrm>
            <a:off x="8174736" y="448056"/>
            <a:ext cx="434340" cy="0"/>
          </a:xfrm>
          <a:prstGeom prst="line">
            <a:avLst/>
          </a:prstGeom>
          <a:noFill/>
          <a:ln w="12700">
            <a:solidFill>
              <a:srgbClr val="3D5C70"/>
            </a:solidFill>
            <a:prstDash val="solid"/>
          </a:ln>
        </p:spPr>
      </p:sp>
      <p:sp>
        <p:nvSpPr>
          <p:cNvPr id="23" name="Shape 20"/>
          <p:cNvSpPr/>
          <p:nvPr/>
        </p:nvSpPr>
        <p:spPr>
          <a:xfrm>
            <a:off x="8650224" y="406908"/>
            <a:ext cx="82296" cy="82296"/>
          </a:xfrm>
          <a:prstGeom prst="ellipse">
            <a:avLst/>
          </a:prstGeom>
          <a:solidFill>
            <a:srgbClr val="3D5C70"/>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92608"/>
            <a:ext cx="8321040" cy="256032"/>
          </a:xfrm>
          <a:prstGeom prst="rect">
            <a:avLst/>
          </a:prstGeom>
          <a:noFill/>
          <a:ln/>
        </p:spPr>
        <p:txBody>
          <a:bodyPr wrap="square" lIns="0" tIns="0" rIns="0" bIns="0" rtlCol="0" anchor="ctr"/>
          <a:lstStyle/>
          <a:p>
            <a:pPr indent="0" marL="0">
              <a:buNone/>
            </a:pPr>
            <a:r>
              <a:rPr lang="en-US" sz="1100" b="1" spc="150" kern="0" dirty="0">
                <a:solidFill>
                  <a:srgbClr val="E8743B"/>
                </a:solidFill>
                <a:latin typeface="Arial" pitchFamily="34" charset="0"/>
                <a:ea typeface="Arial" pitchFamily="34" charset="-122"/>
                <a:cs typeface="Arial" pitchFamily="34" charset="-120"/>
              </a:rPr>
              <a:t>PARTIE 3 — PLAN D’ACTION</a:t>
            </a:r>
            <a:endParaRPr lang="en-US" sz="1100" dirty="0"/>
          </a:p>
        </p:txBody>
      </p:sp>
      <p:sp>
        <p:nvSpPr>
          <p:cNvPr id="3" name="Text 1"/>
          <p:cNvSpPr/>
          <p:nvPr/>
        </p:nvSpPr>
        <p:spPr>
          <a:xfrm>
            <a:off x="411480" y="530352"/>
            <a:ext cx="8321040" cy="566928"/>
          </a:xfrm>
          <a:prstGeom prst="rect">
            <a:avLst/>
          </a:prstGeom>
          <a:noFill/>
          <a:ln/>
        </p:spPr>
        <p:txBody>
          <a:bodyPr wrap="square" lIns="0" tIns="0" rIns="0" bIns="0" rtlCol="0" anchor="t"/>
          <a:lstStyle/>
          <a:p>
            <a:pPr indent="0" marL="0">
              <a:buNone/>
            </a:pPr>
            <a:r>
              <a:rPr lang="en-US" sz="2500" b="1" dirty="0">
                <a:solidFill>
                  <a:srgbClr val="0B3D5C"/>
                </a:solidFill>
                <a:latin typeface="Arial" pitchFamily="34" charset="0"/>
                <a:ea typeface="Arial" pitchFamily="34" charset="-122"/>
                <a:cs typeface="Arial" pitchFamily="34" charset="-120"/>
              </a:rPr>
              <a:t>My Sport Business : le modèle Done For You</a:t>
            </a:r>
            <a:endParaRPr lang="en-US" sz="2500" dirty="0"/>
          </a:p>
        </p:txBody>
      </p:sp>
      <p:sp>
        <p:nvSpPr>
          <p:cNvPr id="4" name="Text 2"/>
          <p:cNvSpPr/>
          <p:nvPr/>
        </p:nvSpPr>
        <p:spPr>
          <a:xfrm>
            <a:off x="411480" y="987552"/>
            <a:ext cx="8321040" cy="384048"/>
          </a:xfrm>
          <a:prstGeom prst="rect">
            <a:avLst/>
          </a:prstGeom>
          <a:noFill/>
          <a:ln/>
        </p:spPr>
        <p:txBody>
          <a:bodyPr wrap="square" lIns="0" tIns="0" rIns="0" bIns="0" rtlCol="0" anchor="ctr"/>
          <a:lstStyle/>
          <a:p>
            <a:pPr indent="0" marL="0">
              <a:lnSpc>
                <a:spcPct val="120000"/>
              </a:lnSpc>
              <a:buNone/>
            </a:pPr>
            <a:r>
              <a:rPr lang="en-US" sz="1150" dirty="0">
                <a:solidFill>
                  <a:srgbClr val="5B6B73"/>
                </a:solidFill>
                <a:latin typeface="Arial" pitchFamily="34" charset="0"/>
                <a:ea typeface="Arial" pitchFamily="34" charset="-122"/>
                <a:cs typeface="Arial" pitchFamily="34" charset="-120"/>
              </a:rPr>
              <a:t>Plutôt que développer des fonctionnalités que les clients n’utiliseraient pas, My Sport Session externalise l’exécution marketing, structurée en 5 piliers, pour le compte de ses clients.</a:t>
            </a:r>
            <a:endParaRPr lang="en-US" sz="1150" dirty="0"/>
          </a:p>
        </p:txBody>
      </p:sp>
      <p:sp>
        <p:nvSpPr>
          <p:cNvPr id="5" name="Shape 3"/>
          <p:cNvSpPr/>
          <p:nvPr/>
        </p:nvSpPr>
        <p:spPr>
          <a:xfrm>
            <a:off x="411480" y="1481328"/>
            <a:ext cx="1576426" cy="1078992"/>
          </a:xfrm>
          <a:prstGeom prst="roundRect">
            <a:avLst>
              <a:gd name="adj" fmla="val 5932"/>
            </a:avLst>
          </a:prstGeom>
          <a:solidFill>
            <a:srgbClr val="0B3D5C"/>
          </a:solidFill>
          <a:ln/>
          <a:effectLst>
            <a:outerShdw sx="100000" sy="100000" kx="0" ky="0" algn="bl" rotWithShape="0" blurRad="88900" dist="25400" dir="5400000">
              <a:srgbClr val="0B3D5C">
                <a:alpha val="12000"/>
              </a:srgbClr>
            </a:outerShdw>
          </a:effectLst>
        </p:spPr>
      </p:sp>
      <p:sp>
        <p:nvSpPr>
          <p:cNvPr id="6" name="Text 4"/>
          <p:cNvSpPr/>
          <p:nvPr/>
        </p:nvSpPr>
        <p:spPr>
          <a:xfrm>
            <a:off x="411480" y="1554480"/>
            <a:ext cx="1576426" cy="182880"/>
          </a:xfrm>
          <a:prstGeom prst="rect">
            <a:avLst/>
          </a:prstGeom>
          <a:noFill/>
          <a:ln/>
        </p:spPr>
        <p:txBody>
          <a:bodyPr wrap="square" lIns="0" tIns="0" rIns="0" bIns="0" rtlCol="0" anchor="ctr"/>
          <a:lstStyle/>
          <a:p>
            <a:pPr algn="ctr" indent="0" marL="0">
              <a:buNone/>
            </a:pPr>
            <a:r>
              <a:rPr lang="en-US" sz="750" b="1" spc="100" kern="0" dirty="0">
                <a:solidFill>
                  <a:srgbClr val="8FB6C4"/>
                </a:solidFill>
                <a:latin typeface="Arial" pitchFamily="34" charset="0"/>
                <a:ea typeface="Arial" pitchFamily="34" charset="-122"/>
                <a:cs typeface="Arial" pitchFamily="34" charset="-120"/>
              </a:rPr>
              <a:t>PILIER 1</a:t>
            </a:r>
            <a:endParaRPr lang="en-US" sz="750" dirty="0"/>
          </a:p>
        </p:txBody>
      </p:sp>
      <p:sp>
        <p:nvSpPr>
          <p:cNvPr id="7" name="Shape 5"/>
          <p:cNvSpPr/>
          <p:nvPr/>
        </p:nvSpPr>
        <p:spPr>
          <a:xfrm>
            <a:off x="980237" y="1764792"/>
            <a:ext cx="438912" cy="438912"/>
          </a:xfrm>
          <a:prstGeom prst="ellipse">
            <a:avLst/>
          </a:prstGeom>
          <a:solidFill>
            <a:srgbClr val="1C7293"/>
          </a:solidFill>
          <a:ln/>
        </p:spPr>
      </p:sp>
      <p:pic>
        <p:nvPicPr>
          <p:cNvPr id="8" name="Image 0" descr="preencoded.png">    </p:cNvPr>
          <p:cNvPicPr>
            <a:picLocks noChangeAspect="1"/>
          </p:cNvPicPr>
          <p:nvPr/>
        </p:nvPicPr>
        <p:blipFill>
          <a:blip r:embed="rId1"/>
          <a:stretch>
            <a:fillRect/>
          </a:stretch>
        </p:blipFill>
        <p:spPr>
          <a:xfrm>
            <a:off x="1094354" y="1878909"/>
            <a:ext cx="210678" cy="210678"/>
          </a:xfrm>
          <a:prstGeom prst="rect">
            <a:avLst/>
          </a:prstGeom>
        </p:spPr>
      </p:pic>
      <p:sp>
        <p:nvSpPr>
          <p:cNvPr id="9" name="Text 6"/>
          <p:cNvSpPr/>
          <p:nvPr/>
        </p:nvSpPr>
        <p:spPr>
          <a:xfrm>
            <a:off x="457200" y="2240280"/>
            <a:ext cx="1484986" cy="27432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Arial" pitchFamily="34" charset="0"/>
                <a:ea typeface="Arial" pitchFamily="34" charset="-122"/>
                <a:cs typeface="Arial" pitchFamily="34" charset="-120"/>
              </a:rPr>
              <a:t>Acquisition</a:t>
            </a:r>
            <a:endParaRPr lang="en-US" sz="950" dirty="0"/>
          </a:p>
        </p:txBody>
      </p:sp>
      <p:sp>
        <p:nvSpPr>
          <p:cNvPr id="10" name="Shape 7"/>
          <p:cNvSpPr/>
          <p:nvPr/>
        </p:nvSpPr>
        <p:spPr>
          <a:xfrm>
            <a:off x="2097634" y="1481328"/>
            <a:ext cx="1576426" cy="1078992"/>
          </a:xfrm>
          <a:prstGeom prst="roundRect">
            <a:avLst>
              <a:gd name="adj" fmla="val 5932"/>
            </a:avLst>
          </a:prstGeom>
          <a:solidFill>
            <a:srgbClr val="0B3D5C"/>
          </a:solidFill>
          <a:ln/>
          <a:effectLst>
            <a:outerShdw sx="100000" sy="100000" kx="0" ky="0" algn="bl" rotWithShape="0" blurRad="88900" dist="25400" dir="5400000">
              <a:srgbClr val="0B3D5C">
                <a:alpha val="12000"/>
              </a:srgbClr>
            </a:outerShdw>
          </a:effectLst>
        </p:spPr>
      </p:sp>
      <p:sp>
        <p:nvSpPr>
          <p:cNvPr id="11" name="Text 8"/>
          <p:cNvSpPr/>
          <p:nvPr/>
        </p:nvSpPr>
        <p:spPr>
          <a:xfrm>
            <a:off x="2097634" y="1554480"/>
            <a:ext cx="1576426" cy="182880"/>
          </a:xfrm>
          <a:prstGeom prst="rect">
            <a:avLst/>
          </a:prstGeom>
          <a:noFill/>
          <a:ln/>
        </p:spPr>
        <p:txBody>
          <a:bodyPr wrap="square" lIns="0" tIns="0" rIns="0" bIns="0" rtlCol="0" anchor="ctr"/>
          <a:lstStyle/>
          <a:p>
            <a:pPr algn="ctr" indent="0" marL="0">
              <a:buNone/>
            </a:pPr>
            <a:r>
              <a:rPr lang="en-US" sz="750" b="1" spc="100" kern="0" dirty="0">
                <a:solidFill>
                  <a:srgbClr val="8FB6C4"/>
                </a:solidFill>
                <a:latin typeface="Arial" pitchFamily="34" charset="0"/>
                <a:ea typeface="Arial" pitchFamily="34" charset="-122"/>
                <a:cs typeface="Arial" pitchFamily="34" charset="-120"/>
              </a:rPr>
              <a:t>PILIER 2</a:t>
            </a:r>
            <a:endParaRPr lang="en-US" sz="750" dirty="0"/>
          </a:p>
        </p:txBody>
      </p:sp>
      <p:sp>
        <p:nvSpPr>
          <p:cNvPr id="12" name="Shape 9"/>
          <p:cNvSpPr/>
          <p:nvPr/>
        </p:nvSpPr>
        <p:spPr>
          <a:xfrm>
            <a:off x="2666390" y="1764792"/>
            <a:ext cx="438912" cy="438912"/>
          </a:xfrm>
          <a:prstGeom prst="ellipse">
            <a:avLst/>
          </a:prstGeom>
          <a:solidFill>
            <a:srgbClr val="1C7293"/>
          </a:solidFill>
          <a:ln/>
        </p:spPr>
      </p:sp>
      <p:pic>
        <p:nvPicPr>
          <p:cNvPr id="13" name="Image 1" descr="preencoded.png">    </p:cNvPr>
          <p:cNvPicPr>
            <a:picLocks noChangeAspect="1"/>
          </p:cNvPicPr>
          <p:nvPr/>
        </p:nvPicPr>
        <p:blipFill>
          <a:blip r:embed="rId2"/>
          <a:stretch>
            <a:fillRect/>
          </a:stretch>
        </p:blipFill>
        <p:spPr>
          <a:xfrm>
            <a:off x="2780508" y="1878909"/>
            <a:ext cx="210678" cy="210678"/>
          </a:xfrm>
          <a:prstGeom prst="rect">
            <a:avLst/>
          </a:prstGeom>
        </p:spPr>
      </p:pic>
      <p:sp>
        <p:nvSpPr>
          <p:cNvPr id="14" name="Text 10"/>
          <p:cNvSpPr/>
          <p:nvPr/>
        </p:nvSpPr>
        <p:spPr>
          <a:xfrm>
            <a:off x="2143354" y="2240280"/>
            <a:ext cx="1484986" cy="27432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Arial" pitchFamily="34" charset="0"/>
                <a:ea typeface="Arial" pitchFamily="34" charset="-122"/>
                <a:cs typeface="Arial" pitchFamily="34" charset="-120"/>
              </a:rPr>
              <a:t>Conversion</a:t>
            </a:r>
            <a:endParaRPr lang="en-US" sz="950" dirty="0"/>
          </a:p>
        </p:txBody>
      </p:sp>
      <p:sp>
        <p:nvSpPr>
          <p:cNvPr id="15" name="Shape 11"/>
          <p:cNvSpPr/>
          <p:nvPr/>
        </p:nvSpPr>
        <p:spPr>
          <a:xfrm>
            <a:off x="3783787" y="1481328"/>
            <a:ext cx="1576426" cy="1078992"/>
          </a:xfrm>
          <a:prstGeom prst="roundRect">
            <a:avLst>
              <a:gd name="adj" fmla="val 5932"/>
            </a:avLst>
          </a:prstGeom>
          <a:solidFill>
            <a:srgbClr val="0B3D5C"/>
          </a:solidFill>
          <a:ln/>
          <a:effectLst>
            <a:outerShdw sx="100000" sy="100000" kx="0" ky="0" algn="bl" rotWithShape="0" blurRad="88900" dist="25400" dir="5400000">
              <a:srgbClr val="0B3D5C">
                <a:alpha val="12000"/>
              </a:srgbClr>
            </a:outerShdw>
          </a:effectLst>
        </p:spPr>
      </p:sp>
      <p:sp>
        <p:nvSpPr>
          <p:cNvPr id="16" name="Text 12"/>
          <p:cNvSpPr/>
          <p:nvPr/>
        </p:nvSpPr>
        <p:spPr>
          <a:xfrm>
            <a:off x="3783787" y="1554480"/>
            <a:ext cx="1576426" cy="182880"/>
          </a:xfrm>
          <a:prstGeom prst="rect">
            <a:avLst/>
          </a:prstGeom>
          <a:noFill/>
          <a:ln/>
        </p:spPr>
        <p:txBody>
          <a:bodyPr wrap="square" lIns="0" tIns="0" rIns="0" bIns="0" rtlCol="0" anchor="ctr"/>
          <a:lstStyle/>
          <a:p>
            <a:pPr algn="ctr" indent="0" marL="0">
              <a:buNone/>
            </a:pPr>
            <a:r>
              <a:rPr lang="en-US" sz="750" b="1" spc="100" kern="0" dirty="0">
                <a:solidFill>
                  <a:srgbClr val="8FB6C4"/>
                </a:solidFill>
                <a:latin typeface="Arial" pitchFamily="34" charset="0"/>
                <a:ea typeface="Arial" pitchFamily="34" charset="-122"/>
                <a:cs typeface="Arial" pitchFamily="34" charset="-120"/>
              </a:rPr>
              <a:t>PILIER 3</a:t>
            </a:r>
            <a:endParaRPr lang="en-US" sz="750" dirty="0"/>
          </a:p>
        </p:txBody>
      </p:sp>
      <p:sp>
        <p:nvSpPr>
          <p:cNvPr id="17" name="Shape 13"/>
          <p:cNvSpPr/>
          <p:nvPr/>
        </p:nvSpPr>
        <p:spPr>
          <a:xfrm>
            <a:off x="4352544" y="1764792"/>
            <a:ext cx="438912" cy="438912"/>
          </a:xfrm>
          <a:prstGeom prst="ellipse">
            <a:avLst/>
          </a:prstGeom>
          <a:solidFill>
            <a:srgbClr val="1C7293"/>
          </a:solidFill>
          <a:ln/>
        </p:spPr>
      </p:sp>
      <p:pic>
        <p:nvPicPr>
          <p:cNvPr id="18" name="Image 2" descr="preencoded.png">    </p:cNvPr>
          <p:cNvPicPr>
            <a:picLocks noChangeAspect="1"/>
          </p:cNvPicPr>
          <p:nvPr/>
        </p:nvPicPr>
        <p:blipFill>
          <a:blip r:embed="rId3"/>
          <a:stretch>
            <a:fillRect/>
          </a:stretch>
        </p:blipFill>
        <p:spPr>
          <a:xfrm>
            <a:off x="4466661" y="1878909"/>
            <a:ext cx="210678" cy="210678"/>
          </a:xfrm>
          <a:prstGeom prst="rect">
            <a:avLst/>
          </a:prstGeom>
        </p:spPr>
      </p:pic>
      <p:sp>
        <p:nvSpPr>
          <p:cNvPr id="19" name="Text 14"/>
          <p:cNvSpPr/>
          <p:nvPr/>
        </p:nvSpPr>
        <p:spPr>
          <a:xfrm>
            <a:off x="3829507" y="2240280"/>
            <a:ext cx="1484986" cy="27432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Arial" pitchFamily="34" charset="0"/>
                <a:ea typeface="Arial" pitchFamily="34" charset="-122"/>
                <a:cs typeface="Arial" pitchFamily="34" charset="-120"/>
              </a:rPr>
              <a:t>Suivi &amp; relation</a:t>
            </a:r>
            <a:endParaRPr lang="en-US" sz="950" dirty="0"/>
          </a:p>
        </p:txBody>
      </p:sp>
      <p:sp>
        <p:nvSpPr>
          <p:cNvPr id="20" name="Shape 15"/>
          <p:cNvSpPr/>
          <p:nvPr/>
        </p:nvSpPr>
        <p:spPr>
          <a:xfrm>
            <a:off x="5469941" y="1481328"/>
            <a:ext cx="1576426" cy="1078992"/>
          </a:xfrm>
          <a:prstGeom prst="roundRect">
            <a:avLst>
              <a:gd name="adj" fmla="val 5932"/>
            </a:avLst>
          </a:prstGeom>
          <a:solidFill>
            <a:srgbClr val="0B3D5C"/>
          </a:solidFill>
          <a:ln/>
          <a:effectLst>
            <a:outerShdw sx="100000" sy="100000" kx="0" ky="0" algn="bl" rotWithShape="0" blurRad="88900" dist="25400" dir="5400000">
              <a:srgbClr val="0B3D5C">
                <a:alpha val="12000"/>
              </a:srgbClr>
            </a:outerShdw>
          </a:effectLst>
        </p:spPr>
      </p:sp>
      <p:sp>
        <p:nvSpPr>
          <p:cNvPr id="21" name="Text 16"/>
          <p:cNvSpPr/>
          <p:nvPr/>
        </p:nvSpPr>
        <p:spPr>
          <a:xfrm>
            <a:off x="5469941" y="1554480"/>
            <a:ext cx="1576426" cy="182880"/>
          </a:xfrm>
          <a:prstGeom prst="rect">
            <a:avLst/>
          </a:prstGeom>
          <a:noFill/>
          <a:ln/>
        </p:spPr>
        <p:txBody>
          <a:bodyPr wrap="square" lIns="0" tIns="0" rIns="0" bIns="0" rtlCol="0" anchor="ctr"/>
          <a:lstStyle/>
          <a:p>
            <a:pPr algn="ctr" indent="0" marL="0">
              <a:buNone/>
            </a:pPr>
            <a:r>
              <a:rPr lang="en-US" sz="750" b="1" spc="100" kern="0" dirty="0">
                <a:solidFill>
                  <a:srgbClr val="8FB6C4"/>
                </a:solidFill>
                <a:latin typeface="Arial" pitchFamily="34" charset="0"/>
                <a:ea typeface="Arial" pitchFamily="34" charset="-122"/>
                <a:cs typeface="Arial" pitchFamily="34" charset="-120"/>
              </a:rPr>
              <a:t>PILIER 4</a:t>
            </a:r>
            <a:endParaRPr lang="en-US" sz="750" dirty="0"/>
          </a:p>
        </p:txBody>
      </p:sp>
      <p:sp>
        <p:nvSpPr>
          <p:cNvPr id="22" name="Shape 17"/>
          <p:cNvSpPr/>
          <p:nvPr/>
        </p:nvSpPr>
        <p:spPr>
          <a:xfrm>
            <a:off x="6038698" y="1764792"/>
            <a:ext cx="438912" cy="438912"/>
          </a:xfrm>
          <a:prstGeom prst="ellipse">
            <a:avLst/>
          </a:prstGeom>
          <a:solidFill>
            <a:srgbClr val="1C7293"/>
          </a:solidFill>
          <a:ln/>
        </p:spPr>
      </p:sp>
      <p:pic>
        <p:nvPicPr>
          <p:cNvPr id="23" name="Image 3" descr="preencoded.png">    </p:cNvPr>
          <p:cNvPicPr>
            <a:picLocks noChangeAspect="1"/>
          </p:cNvPicPr>
          <p:nvPr/>
        </p:nvPicPr>
        <p:blipFill>
          <a:blip r:embed="rId4"/>
          <a:stretch>
            <a:fillRect/>
          </a:stretch>
        </p:blipFill>
        <p:spPr>
          <a:xfrm>
            <a:off x="6152815" y="1878909"/>
            <a:ext cx="210678" cy="210678"/>
          </a:xfrm>
          <a:prstGeom prst="rect">
            <a:avLst/>
          </a:prstGeom>
        </p:spPr>
      </p:pic>
      <p:sp>
        <p:nvSpPr>
          <p:cNvPr id="24" name="Text 18"/>
          <p:cNvSpPr/>
          <p:nvPr/>
        </p:nvSpPr>
        <p:spPr>
          <a:xfrm>
            <a:off x="5515661" y="2240280"/>
            <a:ext cx="1484986" cy="27432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Arial" pitchFamily="34" charset="0"/>
                <a:ea typeface="Arial" pitchFamily="34" charset="-122"/>
                <a:cs typeface="Arial" pitchFamily="34" charset="-120"/>
              </a:rPr>
              <a:t>Process &amp; outils</a:t>
            </a:r>
            <a:endParaRPr lang="en-US" sz="950" dirty="0"/>
          </a:p>
        </p:txBody>
      </p:sp>
      <p:sp>
        <p:nvSpPr>
          <p:cNvPr id="25" name="Shape 19"/>
          <p:cNvSpPr/>
          <p:nvPr/>
        </p:nvSpPr>
        <p:spPr>
          <a:xfrm>
            <a:off x="7156094" y="1481328"/>
            <a:ext cx="1576426" cy="1078992"/>
          </a:xfrm>
          <a:prstGeom prst="roundRect">
            <a:avLst>
              <a:gd name="adj" fmla="val 5932"/>
            </a:avLst>
          </a:prstGeom>
          <a:solidFill>
            <a:srgbClr val="0B3D5C"/>
          </a:solidFill>
          <a:ln/>
          <a:effectLst>
            <a:outerShdw sx="100000" sy="100000" kx="0" ky="0" algn="bl" rotWithShape="0" blurRad="88900" dist="25400" dir="5400000">
              <a:srgbClr val="0B3D5C">
                <a:alpha val="12000"/>
              </a:srgbClr>
            </a:outerShdw>
          </a:effectLst>
        </p:spPr>
      </p:sp>
      <p:sp>
        <p:nvSpPr>
          <p:cNvPr id="26" name="Text 20"/>
          <p:cNvSpPr/>
          <p:nvPr/>
        </p:nvSpPr>
        <p:spPr>
          <a:xfrm>
            <a:off x="7156094" y="1554480"/>
            <a:ext cx="1576426" cy="182880"/>
          </a:xfrm>
          <a:prstGeom prst="rect">
            <a:avLst/>
          </a:prstGeom>
          <a:noFill/>
          <a:ln/>
        </p:spPr>
        <p:txBody>
          <a:bodyPr wrap="square" lIns="0" tIns="0" rIns="0" bIns="0" rtlCol="0" anchor="ctr"/>
          <a:lstStyle/>
          <a:p>
            <a:pPr algn="ctr" indent="0" marL="0">
              <a:buNone/>
            </a:pPr>
            <a:r>
              <a:rPr lang="en-US" sz="750" b="1" spc="100" kern="0" dirty="0">
                <a:solidFill>
                  <a:srgbClr val="8FB6C4"/>
                </a:solidFill>
                <a:latin typeface="Arial" pitchFamily="34" charset="0"/>
                <a:ea typeface="Arial" pitchFamily="34" charset="-122"/>
                <a:cs typeface="Arial" pitchFamily="34" charset="-120"/>
              </a:rPr>
              <a:t>PILIER 5</a:t>
            </a:r>
            <a:endParaRPr lang="en-US" sz="750" dirty="0"/>
          </a:p>
        </p:txBody>
      </p:sp>
      <p:sp>
        <p:nvSpPr>
          <p:cNvPr id="27" name="Shape 21"/>
          <p:cNvSpPr/>
          <p:nvPr/>
        </p:nvSpPr>
        <p:spPr>
          <a:xfrm>
            <a:off x="7724851" y="1764792"/>
            <a:ext cx="438912" cy="438912"/>
          </a:xfrm>
          <a:prstGeom prst="ellipse">
            <a:avLst/>
          </a:prstGeom>
          <a:solidFill>
            <a:srgbClr val="1C7293"/>
          </a:solidFill>
          <a:ln/>
        </p:spPr>
      </p:sp>
      <p:pic>
        <p:nvPicPr>
          <p:cNvPr id="28" name="Image 4" descr="preencoded.png">    </p:cNvPr>
          <p:cNvPicPr>
            <a:picLocks noChangeAspect="1"/>
          </p:cNvPicPr>
          <p:nvPr/>
        </p:nvPicPr>
        <p:blipFill>
          <a:blip r:embed="rId5"/>
          <a:stretch>
            <a:fillRect/>
          </a:stretch>
        </p:blipFill>
        <p:spPr>
          <a:xfrm>
            <a:off x="7838968" y="1878909"/>
            <a:ext cx="210678" cy="210678"/>
          </a:xfrm>
          <a:prstGeom prst="rect">
            <a:avLst/>
          </a:prstGeom>
        </p:spPr>
      </p:pic>
      <p:sp>
        <p:nvSpPr>
          <p:cNvPr id="29" name="Text 22"/>
          <p:cNvSpPr/>
          <p:nvPr/>
        </p:nvSpPr>
        <p:spPr>
          <a:xfrm>
            <a:off x="7201814" y="2240280"/>
            <a:ext cx="1484986" cy="274320"/>
          </a:xfrm>
          <a:prstGeom prst="rect">
            <a:avLst/>
          </a:prstGeom>
          <a:noFill/>
          <a:ln/>
        </p:spPr>
        <p:txBody>
          <a:bodyPr wrap="square" lIns="0" tIns="0" rIns="0" bIns="0" rtlCol="0" anchor="ctr"/>
          <a:lstStyle/>
          <a:p>
            <a:pPr algn="ctr" indent="0" marL="0">
              <a:lnSpc>
                <a:spcPct val="100000"/>
              </a:lnSpc>
              <a:buNone/>
            </a:pPr>
            <a:r>
              <a:rPr lang="en-US" sz="950" b="1" dirty="0">
                <a:solidFill>
                  <a:srgbClr val="FFFFFF"/>
                </a:solidFill>
                <a:latin typeface="Arial" pitchFamily="34" charset="0"/>
                <a:ea typeface="Arial" pitchFamily="34" charset="-122"/>
                <a:cs typeface="Arial" pitchFamily="34" charset="-120"/>
              </a:rPr>
              <a:t>Pilotage &amp; ROI</a:t>
            </a:r>
            <a:endParaRPr lang="en-US" sz="950" dirty="0"/>
          </a:p>
        </p:txBody>
      </p:sp>
      <p:sp>
        <p:nvSpPr>
          <p:cNvPr id="30" name="Text 23"/>
          <p:cNvSpPr/>
          <p:nvPr/>
        </p:nvSpPr>
        <p:spPr>
          <a:xfrm>
            <a:off x="411480" y="2788920"/>
            <a:ext cx="8321040" cy="256032"/>
          </a:xfrm>
          <a:prstGeom prst="rect">
            <a:avLst/>
          </a:prstGeom>
          <a:noFill/>
          <a:ln/>
        </p:spPr>
        <p:txBody>
          <a:bodyPr wrap="square" lIns="0" tIns="0" rIns="0" bIns="0" rtlCol="0" anchor="ctr"/>
          <a:lstStyle/>
          <a:p>
            <a:pPr indent="0" marL="0">
              <a:buNone/>
            </a:pPr>
            <a:r>
              <a:rPr lang="en-US" sz="1250" b="1" dirty="0">
                <a:solidFill>
                  <a:srgbClr val="0B3D5C"/>
                </a:solidFill>
                <a:latin typeface="Arial" pitchFamily="34" charset="0"/>
                <a:ea typeface="Arial" pitchFamily="34" charset="-122"/>
                <a:cs typeface="Arial" pitchFamily="34" charset="-120"/>
              </a:rPr>
              <a:t>Trois phases d’exécution, neuf mois</a:t>
            </a:r>
            <a:endParaRPr lang="en-US" sz="1250" dirty="0"/>
          </a:p>
        </p:txBody>
      </p:sp>
      <p:sp>
        <p:nvSpPr>
          <p:cNvPr id="31" name="Shape 24"/>
          <p:cNvSpPr/>
          <p:nvPr/>
        </p:nvSpPr>
        <p:spPr>
          <a:xfrm>
            <a:off x="685800" y="3611880"/>
            <a:ext cx="7772400" cy="0"/>
          </a:xfrm>
          <a:prstGeom prst="line">
            <a:avLst/>
          </a:prstGeom>
          <a:noFill/>
          <a:ln w="19050">
            <a:solidFill>
              <a:srgbClr val="C7D6DB"/>
            </a:solidFill>
            <a:prstDash val="solid"/>
          </a:ln>
        </p:spPr>
      </p:sp>
      <p:sp>
        <p:nvSpPr>
          <p:cNvPr id="32" name="Shape 25"/>
          <p:cNvSpPr/>
          <p:nvPr/>
        </p:nvSpPr>
        <p:spPr>
          <a:xfrm>
            <a:off x="1602486" y="3557016"/>
            <a:ext cx="109728" cy="109728"/>
          </a:xfrm>
          <a:prstGeom prst="ellipse">
            <a:avLst/>
          </a:prstGeom>
          <a:solidFill>
            <a:srgbClr val="1C7293"/>
          </a:solidFill>
          <a:ln/>
        </p:spPr>
      </p:sp>
      <p:sp>
        <p:nvSpPr>
          <p:cNvPr id="33" name="Text 26"/>
          <p:cNvSpPr/>
          <p:nvPr/>
        </p:nvSpPr>
        <p:spPr>
          <a:xfrm>
            <a:off x="731520" y="3063240"/>
            <a:ext cx="1851660" cy="228600"/>
          </a:xfrm>
          <a:prstGeom prst="rect">
            <a:avLst/>
          </a:prstGeom>
          <a:noFill/>
          <a:ln/>
        </p:spPr>
        <p:txBody>
          <a:bodyPr wrap="square" lIns="0" tIns="0" rIns="0" bIns="0" rtlCol="0" anchor="ctr"/>
          <a:lstStyle/>
          <a:p>
            <a:pPr algn="ctr" indent="0" marL="0">
              <a:buNone/>
            </a:pPr>
            <a:r>
              <a:rPr lang="en-US" sz="850" dirty="0">
                <a:solidFill>
                  <a:srgbClr val="5B6B73"/>
                </a:solidFill>
                <a:latin typeface="Arial" pitchFamily="34" charset="0"/>
                <a:ea typeface="Arial" pitchFamily="34" charset="-122"/>
                <a:cs typeface="Arial" pitchFamily="34" charset="-120"/>
              </a:rPr>
              <a:t>Sept. 2025 – Jan. 2026</a:t>
            </a:r>
            <a:endParaRPr lang="en-US" sz="850" dirty="0"/>
          </a:p>
        </p:txBody>
      </p:sp>
      <p:sp>
        <p:nvSpPr>
          <p:cNvPr id="34" name="Text 27"/>
          <p:cNvSpPr/>
          <p:nvPr/>
        </p:nvSpPr>
        <p:spPr>
          <a:xfrm>
            <a:off x="731520" y="3291840"/>
            <a:ext cx="1851660" cy="292608"/>
          </a:xfrm>
          <a:prstGeom prst="rect">
            <a:avLst/>
          </a:prstGeom>
          <a:noFill/>
          <a:ln/>
        </p:spPr>
        <p:txBody>
          <a:bodyPr wrap="square" lIns="0" tIns="0" rIns="0" bIns="0" rtlCol="0" anchor="ctr"/>
          <a:lstStyle/>
          <a:p>
            <a:pPr algn="ctr" indent="0" marL="0">
              <a:lnSpc>
                <a:spcPct val="100000"/>
              </a:lnSpc>
              <a:buNone/>
            </a:pPr>
            <a:r>
              <a:rPr lang="en-US" sz="1000" b="1" dirty="0">
                <a:solidFill>
                  <a:srgbClr val="0B3D5C"/>
                </a:solidFill>
                <a:latin typeface="Arial" pitchFamily="34" charset="0"/>
                <a:ea typeface="Arial" pitchFamily="34" charset="-122"/>
                <a:cs typeface="Arial" pitchFamily="34" charset="-120"/>
              </a:rPr>
              <a:t>Fondations</a:t>
            </a:r>
            <a:endParaRPr lang="en-US" sz="1000" dirty="0"/>
          </a:p>
        </p:txBody>
      </p:sp>
      <p:sp>
        <p:nvSpPr>
          <p:cNvPr id="35" name="Text 28"/>
          <p:cNvSpPr/>
          <p:nvPr/>
        </p:nvSpPr>
        <p:spPr>
          <a:xfrm>
            <a:off x="731520" y="3749040"/>
            <a:ext cx="1851660" cy="502920"/>
          </a:xfrm>
          <a:prstGeom prst="rect">
            <a:avLst/>
          </a:prstGeom>
          <a:noFill/>
          <a:ln/>
        </p:spPr>
        <p:txBody>
          <a:bodyPr wrap="square" lIns="0" tIns="0" rIns="0" bIns="0" rtlCol="0" anchor="t"/>
          <a:lstStyle/>
          <a:p>
            <a:pPr algn="ctr" indent="0" marL="0">
              <a:lnSpc>
                <a:spcPct val="115000"/>
              </a:lnSpc>
              <a:buNone/>
            </a:pPr>
            <a:r>
              <a:rPr lang="en-US" sz="850" dirty="0">
                <a:solidFill>
                  <a:srgbClr val="5B6B73"/>
                </a:solidFill>
                <a:latin typeface="Arial" pitchFamily="34" charset="0"/>
                <a:ea typeface="Arial" pitchFamily="34" charset="-122"/>
                <a:cs typeface="Arial" pitchFamily="34" charset="-120"/>
              </a:rPr>
              <a:t>CRM Brevo, scripts de vente, refonte du site</a:t>
            </a:r>
            <a:endParaRPr lang="en-US" sz="850" dirty="0"/>
          </a:p>
        </p:txBody>
      </p:sp>
      <p:sp>
        <p:nvSpPr>
          <p:cNvPr id="36" name="Shape 29"/>
          <p:cNvSpPr/>
          <p:nvPr/>
        </p:nvSpPr>
        <p:spPr>
          <a:xfrm>
            <a:off x="3545586" y="3557016"/>
            <a:ext cx="109728" cy="109728"/>
          </a:xfrm>
          <a:prstGeom prst="ellipse">
            <a:avLst/>
          </a:prstGeom>
          <a:solidFill>
            <a:srgbClr val="1C7293"/>
          </a:solidFill>
          <a:ln/>
        </p:spPr>
      </p:sp>
      <p:sp>
        <p:nvSpPr>
          <p:cNvPr id="37" name="Text 30"/>
          <p:cNvSpPr/>
          <p:nvPr/>
        </p:nvSpPr>
        <p:spPr>
          <a:xfrm>
            <a:off x="2674620" y="3063240"/>
            <a:ext cx="1851660" cy="228600"/>
          </a:xfrm>
          <a:prstGeom prst="rect">
            <a:avLst/>
          </a:prstGeom>
          <a:noFill/>
          <a:ln/>
        </p:spPr>
        <p:txBody>
          <a:bodyPr wrap="square" lIns="0" tIns="0" rIns="0" bIns="0" rtlCol="0" anchor="ctr"/>
          <a:lstStyle/>
          <a:p>
            <a:pPr algn="ctr" indent="0" marL="0">
              <a:buNone/>
            </a:pPr>
            <a:r>
              <a:rPr lang="en-US" sz="850" dirty="0">
                <a:solidFill>
                  <a:srgbClr val="5B6B73"/>
                </a:solidFill>
                <a:latin typeface="Arial" pitchFamily="34" charset="0"/>
                <a:ea typeface="Arial" pitchFamily="34" charset="-122"/>
                <a:cs typeface="Arial" pitchFamily="34" charset="-120"/>
              </a:rPr>
              <a:t>Avril – Mai 2026</a:t>
            </a:r>
            <a:endParaRPr lang="en-US" sz="850" dirty="0"/>
          </a:p>
        </p:txBody>
      </p:sp>
      <p:sp>
        <p:nvSpPr>
          <p:cNvPr id="38" name="Text 31"/>
          <p:cNvSpPr/>
          <p:nvPr/>
        </p:nvSpPr>
        <p:spPr>
          <a:xfrm>
            <a:off x="2674620" y="3291840"/>
            <a:ext cx="1851660" cy="292608"/>
          </a:xfrm>
          <a:prstGeom prst="rect">
            <a:avLst/>
          </a:prstGeom>
          <a:noFill/>
          <a:ln/>
        </p:spPr>
        <p:txBody>
          <a:bodyPr wrap="square" lIns="0" tIns="0" rIns="0" bIns="0" rtlCol="0" anchor="ctr"/>
          <a:lstStyle/>
          <a:p>
            <a:pPr algn="ctr" indent="0" marL="0">
              <a:lnSpc>
                <a:spcPct val="100000"/>
              </a:lnSpc>
              <a:buNone/>
            </a:pPr>
            <a:r>
              <a:rPr lang="en-US" sz="1000" b="1" dirty="0">
                <a:solidFill>
                  <a:srgbClr val="0B3D5C"/>
                </a:solidFill>
                <a:latin typeface="Arial" pitchFamily="34" charset="0"/>
                <a:ea typeface="Arial" pitchFamily="34" charset="-122"/>
                <a:cs typeface="Arial" pitchFamily="34" charset="-120"/>
              </a:rPr>
              <a:t>POC 1 : Aquabike Center</a:t>
            </a:r>
            <a:endParaRPr lang="en-US" sz="1000" dirty="0"/>
          </a:p>
        </p:txBody>
      </p:sp>
      <p:sp>
        <p:nvSpPr>
          <p:cNvPr id="39" name="Text 32"/>
          <p:cNvSpPr/>
          <p:nvPr/>
        </p:nvSpPr>
        <p:spPr>
          <a:xfrm>
            <a:off x="2674620" y="3749040"/>
            <a:ext cx="1851660" cy="502920"/>
          </a:xfrm>
          <a:prstGeom prst="rect">
            <a:avLst/>
          </a:prstGeom>
          <a:noFill/>
          <a:ln/>
        </p:spPr>
        <p:txBody>
          <a:bodyPr wrap="square" lIns="0" tIns="0" rIns="0" bIns="0" rtlCol="0" anchor="t"/>
          <a:lstStyle/>
          <a:p>
            <a:pPr algn="ctr" indent="0" marL="0">
              <a:lnSpc>
                <a:spcPct val="115000"/>
              </a:lnSpc>
              <a:buNone/>
            </a:pPr>
            <a:r>
              <a:rPr lang="en-US" sz="850" dirty="0">
                <a:solidFill>
                  <a:srgbClr val="5B6B73"/>
                </a:solidFill>
                <a:latin typeface="Arial" pitchFamily="34" charset="0"/>
                <a:ea typeface="Arial" pitchFamily="34" charset="-122"/>
                <a:cs typeface="Arial" pitchFamily="34" charset="-120"/>
              </a:rPr>
              <a:t>Premier client, résultats mesurés</a:t>
            </a:r>
            <a:endParaRPr lang="en-US" sz="850" dirty="0"/>
          </a:p>
        </p:txBody>
      </p:sp>
      <p:sp>
        <p:nvSpPr>
          <p:cNvPr id="40" name="Shape 33"/>
          <p:cNvSpPr/>
          <p:nvPr/>
        </p:nvSpPr>
        <p:spPr>
          <a:xfrm>
            <a:off x="5488686" y="3557016"/>
            <a:ext cx="109728" cy="109728"/>
          </a:xfrm>
          <a:prstGeom prst="ellipse">
            <a:avLst/>
          </a:prstGeom>
          <a:solidFill>
            <a:srgbClr val="1C7293"/>
          </a:solidFill>
          <a:ln/>
        </p:spPr>
      </p:sp>
      <p:sp>
        <p:nvSpPr>
          <p:cNvPr id="41" name="Text 34"/>
          <p:cNvSpPr/>
          <p:nvPr/>
        </p:nvSpPr>
        <p:spPr>
          <a:xfrm>
            <a:off x="4617720" y="3063240"/>
            <a:ext cx="1851660" cy="228600"/>
          </a:xfrm>
          <a:prstGeom prst="rect">
            <a:avLst/>
          </a:prstGeom>
          <a:noFill/>
          <a:ln/>
        </p:spPr>
        <p:txBody>
          <a:bodyPr wrap="square" lIns="0" tIns="0" rIns="0" bIns="0" rtlCol="0" anchor="ctr"/>
          <a:lstStyle/>
          <a:p>
            <a:pPr algn="ctr" indent="0" marL="0">
              <a:buNone/>
            </a:pPr>
            <a:r>
              <a:rPr lang="en-US" sz="850" dirty="0">
                <a:solidFill>
                  <a:srgbClr val="5B6B73"/>
                </a:solidFill>
                <a:latin typeface="Arial" pitchFamily="34" charset="0"/>
                <a:ea typeface="Arial" pitchFamily="34" charset="-122"/>
                <a:cs typeface="Arial" pitchFamily="34" charset="-120"/>
              </a:rPr>
              <a:t>Juin 2026</a:t>
            </a:r>
            <a:endParaRPr lang="en-US" sz="850" dirty="0"/>
          </a:p>
        </p:txBody>
      </p:sp>
      <p:sp>
        <p:nvSpPr>
          <p:cNvPr id="42" name="Text 35"/>
          <p:cNvSpPr/>
          <p:nvPr/>
        </p:nvSpPr>
        <p:spPr>
          <a:xfrm>
            <a:off x="4617720" y="3291840"/>
            <a:ext cx="1851660" cy="292608"/>
          </a:xfrm>
          <a:prstGeom prst="rect">
            <a:avLst/>
          </a:prstGeom>
          <a:noFill/>
          <a:ln/>
        </p:spPr>
        <p:txBody>
          <a:bodyPr wrap="square" lIns="0" tIns="0" rIns="0" bIns="0" rtlCol="0" anchor="ctr"/>
          <a:lstStyle/>
          <a:p>
            <a:pPr algn="ctr" indent="0" marL="0">
              <a:lnSpc>
                <a:spcPct val="100000"/>
              </a:lnSpc>
              <a:buNone/>
            </a:pPr>
            <a:r>
              <a:rPr lang="en-US" sz="1000" b="1" dirty="0">
                <a:solidFill>
                  <a:srgbClr val="0B3D5C"/>
                </a:solidFill>
                <a:latin typeface="Arial" pitchFamily="34" charset="0"/>
                <a:ea typeface="Arial" pitchFamily="34" charset="-122"/>
                <a:cs typeface="Arial" pitchFamily="34" charset="-120"/>
              </a:rPr>
              <a:t>POC 2 : Maison du Bosquet</a:t>
            </a:r>
            <a:endParaRPr lang="en-US" sz="1000" dirty="0"/>
          </a:p>
        </p:txBody>
      </p:sp>
      <p:sp>
        <p:nvSpPr>
          <p:cNvPr id="43" name="Text 36"/>
          <p:cNvSpPr/>
          <p:nvPr/>
        </p:nvSpPr>
        <p:spPr>
          <a:xfrm>
            <a:off x="4617720" y="3749040"/>
            <a:ext cx="1851660" cy="502920"/>
          </a:xfrm>
          <a:prstGeom prst="rect">
            <a:avLst/>
          </a:prstGeom>
          <a:noFill/>
          <a:ln/>
        </p:spPr>
        <p:txBody>
          <a:bodyPr wrap="square" lIns="0" tIns="0" rIns="0" bIns="0" rtlCol="0" anchor="t"/>
          <a:lstStyle/>
          <a:p>
            <a:pPr algn="ctr" indent="0" marL="0">
              <a:lnSpc>
                <a:spcPct val="115000"/>
              </a:lnSpc>
              <a:buNone/>
            </a:pPr>
            <a:r>
              <a:rPr lang="en-US" sz="850" dirty="0">
                <a:solidFill>
                  <a:srgbClr val="5B6B73"/>
                </a:solidFill>
                <a:latin typeface="Arial" pitchFamily="34" charset="0"/>
                <a:ea typeface="Arial" pitchFamily="34" charset="-122"/>
                <a:cs typeface="Arial" pitchFamily="34" charset="-120"/>
              </a:rPr>
              <a:t>Deuxième client, cas atypique</a:t>
            </a:r>
            <a:endParaRPr lang="en-US" sz="850" dirty="0"/>
          </a:p>
        </p:txBody>
      </p:sp>
      <p:sp>
        <p:nvSpPr>
          <p:cNvPr id="44" name="Shape 37"/>
          <p:cNvSpPr/>
          <p:nvPr/>
        </p:nvSpPr>
        <p:spPr>
          <a:xfrm>
            <a:off x="7431786" y="3557016"/>
            <a:ext cx="109728" cy="109728"/>
          </a:xfrm>
          <a:prstGeom prst="ellipse">
            <a:avLst/>
          </a:prstGeom>
          <a:solidFill>
            <a:srgbClr val="E8743B"/>
          </a:solidFill>
          <a:ln/>
        </p:spPr>
      </p:sp>
      <p:sp>
        <p:nvSpPr>
          <p:cNvPr id="45" name="Text 38"/>
          <p:cNvSpPr/>
          <p:nvPr/>
        </p:nvSpPr>
        <p:spPr>
          <a:xfrm>
            <a:off x="6560820" y="3063240"/>
            <a:ext cx="1851660" cy="228600"/>
          </a:xfrm>
          <a:prstGeom prst="rect">
            <a:avLst/>
          </a:prstGeom>
          <a:noFill/>
          <a:ln/>
        </p:spPr>
        <p:txBody>
          <a:bodyPr wrap="square" lIns="0" tIns="0" rIns="0" bIns="0" rtlCol="0" anchor="ctr"/>
          <a:lstStyle/>
          <a:p>
            <a:pPr algn="ctr" indent="0" marL="0">
              <a:buNone/>
            </a:pPr>
            <a:r>
              <a:rPr lang="en-US" sz="850" dirty="0">
                <a:solidFill>
                  <a:srgbClr val="5B6B73"/>
                </a:solidFill>
                <a:latin typeface="Arial" pitchFamily="34" charset="0"/>
                <a:ea typeface="Arial" pitchFamily="34" charset="-122"/>
                <a:cs typeface="Arial" pitchFamily="34" charset="-120"/>
              </a:rPr>
              <a:t>Horizon 12 mois</a:t>
            </a:r>
            <a:endParaRPr lang="en-US" sz="850" dirty="0"/>
          </a:p>
        </p:txBody>
      </p:sp>
      <p:sp>
        <p:nvSpPr>
          <p:cNvPr id="46" name="Text 39"/>
          <p:cNvSpPr/>
          <p:nvPr/>
        </p:nvSpPr>
        <p:spPr>
          <a:xfrm>
            <a:off x="6560820" y="3291840"/>
            <a:ext cx="1851660" cy="292608"/>
          </a:xfrm>
          <a:prstGeom prst="rect">
            <a:avLst/>
          </a:prstGeom>
          <a:noFill/>
          <a:ln/>
        </p:spPr>
        <p:txBody>
          <a:bodyPr wrap="square" lIns="0" tIns="0" rIns="0" bIns="0" rtlCol="0" anchor="ctr"/>
          <a:lstStyle/>
          <a:p>
            <a:pPr algn="ctr" indent="0" marL="0">
              <a:lnSpc>
                <a:spcPct val="100000"/>
              </a:lnSpc>
              <a:buNone/>
            </a:pPr>
            <a:r>
              <a:rPr lang="en-US" sz="1000" b="1" dirty="0">
                <a:solidFill>
                  <a:srgbClr val="0B3D5C"/>
                </a:solidFill>
                <a:latin typeface="Arial" pitchFamily="34" charset="0"/>
                <a:ea typeface="Arial" pitchFamily="34" charset="-122"/>
                <a:cs typeface="Arial" pitchFamily="34" charset="-120"/>
              </a:rPr>
              <a:t>Scaling</a:t>
            </a:r>
            <a:endParaRPr lang="en-US" sz="1000" dirty="0"/>
          </a:p>
        </p:txBody>
      </p:sp>
      <p:sp>
        <p:nvSpPr>
          <p:cNvPr id="47" name="Text 40"/>
          <p:cNvSpPr/>
          <p:nvPr/>
        </p:nvSpPr>
        <p:spPr>
          <a:xfrm>
            <a:off x="6560820" y="3749040"/>
            <a:ext cx="1851660" cy="502920"/>
          </a:xfrm>
          <a:prstGeom prst="rect">
            <a:avLst/>
          </a:prstGeom>
          <a:noFill/>
          <a:ln/>
        </p:spPr>
        <p:txBody>
          <a:bodyPr wrap="square" lIns="0" tIns="0" rIns="0" bIns="0" rtlCol="0" anchor="t"/>
          <a:lstStyle/>
          <a:p>
            <a:pPr algn="ctr" indent="0" marL="0">
              <a:lnSpc>
                <a:spcPct val="115000"/>
              </a:lnSpc>
              <a:buNone/>
            </a:pPr>
            <a:r>
              <a:rPr lang="en-US" sz="850" dirty="0">
                <a:solidFill>
                  <a:srgbClr val="5B6B73"/>
                </a:solidFill>
                <a:latin typeface="Arial" pitchFamily="34" charset="0"/>
                <a:ea typeface="Arial" pitchFamily="34" charset="-122"/>
                <a:cs typeface="Arial" pitchFamily="34" charset="-120"/>
              </a:rPr>
              <a:t>Recommandations &amp; passage à l’échelle</a:t>
            </a:r>
            <a:endParaRPr lang="en-US" sz="850" dirty="0"/>
          </a:p>
        </p:txBody>
      </p:sp>
      <p:sp>
        <p:nvSpPr>
          <p:cNvPr id="48" name="Shape 41"/>
          <p:cNvSpPr/>
          <p:nvPr/>
        </p:nvSpPr>
        <p:spPr>
          <a:xfrm>
            <a:off x="411480" y="4370832"/>
            <a:ext cx="8321040" cy="384048"/>
          </a:xfrm>
          <a:prstGeom prst="roundRect">
            <a:avLst>
              <a:gd name="adj" fmla="val 14286"/>
            </a:avLst>
          </a:prstGeom>
          <a:solidFill>
            <a:srgbClr val="FBE9DD"/>
          </a:solidFill>
          <a:ln/>
        </p:spPr>
      </p:sp>
      <p:sp>
        <p:nvSpPr>
          <p:cNvPr id="49" name="Text 42"/>
          <p:cNvSpPr/>
          <p:nvPr/>
        </p:nvSpPr>
        <p:spPr>
          <a:xfrm>
            <a:off x="594360" y="4370832"/>
            <a:ext cx="7955280" cy="384048"/>
          </a:xfrm>
          <a:prstGeom prst="rect">
            <a:avLst/>
          </a:prstGeom>
          <a:noFill/>
          <a:ln/>
        </p:spPr>
        <p:txBody>
          <a:bodyPr wrap="square" lIns="0" tIns="0" rIns="0" bIns="0" rtlCol="0" anchor="ctr"/>
          <a:lstStyle/>
          <a:p>
            <a:pPr indent="0" marL="0">
              <a:buNone/>
            </a:pPr>
            <a:r>
              <a:rPr lang="en-US" sz="1000" b="1" dirty="0">
                <a:solidFill>
                  <a:srgbClr val="7A3A1A"/>
                </a:solidFill>
                <a:latin typeface="Arial" pitchFamily="34" charset="0"/>
                <a:ea typeface="Arial" pitchFamily="34" charset="-122"/>
                <a:cs typeface="Arial" pitchFamily="34" charset="-120"/>
              </a:rPr>
              <a:t>Option retenue : externaliser l’exécution (DFY) — plutôt que du développement logiciel coûteux ou le statu quo.</a:t>
            </a:r>
            <a:endParaRPr lang="en-US" sz="1000" dirty="0"/>
          </a:p>
        </p:txBody>
      </p:sp>
      <p:sp>
        <p:nvSpPr>
          <p:cNvPr id="50" name="Text 43"/>
          <p:cNvSpPr/>
          <p:nvPr/>
        </p:nvSpPr>
        <p:spPr>
          <a:xfrm>
            <a:off x="411480" y="4864608"/>
            <a:ext cx="4114800" cy="228600"/>
          </a:xfrm>
          <a:prstGeom prst="rect">
            <a:avLst/>
          </a:prstGeom>
          <a:noFill/>
          <a:ln/>
        </p:spPr>
        <p:txBody>
          <a:bodyPr wrap="square" lIns="0" tIns="0" rIns="0" bIns="0" rtlCol="0" anchor="ctr"/>
          <a:lstStyle/>
          <a:p>
            <a:pPr algn="l" indent="0" marL="0">
              <a:buNone/>
            </a:pPr>
            <a:r>
              <a:rPr lang="en-US" sz="800" dirty="0">
                <a:solidFill>
                  <a:srgbClr val="9AA9AE"/>
                </a:solidFill>
                <a:latin typeface="Arial" pitchFamily="34" charset="0"/>
                <a:ea typeface="Arial" pitchFamily="34" charset="-122"/>
                <a:cs typeface="Arial" pitchFamily="34" charset="-120"/>
              </a:rPr>
              <a:t>Rapport de mission — SPOUTNIK S62 — Pascal Varomme</a:t>
            </a:r>
            <a:endParaRPr lang="en-US" sz="800" dirty="0"/>
          </a:p>
        </p:txBody>
      </p:sp>
      <p:sp>
        <p:nvSpPr>
          <p:cNvPr id="51" name="Text 44"/>
          <p:cNvSpPr/>
          <p:nvPr/>
        </p:nvSpPr>
        <p:spPr>
          <a:xfrm>
            <a:off x="8366760" y="4864608"/>
            <a:ext cx="365760" cy="228600"/>
          </a:xfrm>
          <a:prstGeom prst="rect">
            <a:avLst/>
          </a:prstGeom>
          <a:noFill/>
          <a:ln/>
        </p:spPr>
        <p:txBody>
          <a:bodyPr wrap="square" lIns="0" tIns="0" rIns="0" bIns="0" rtlCol="0" anchor="ctr"/>
          <a:lstStyle/>
          <a:p>
            <a:pPr algn="r" indent="0" marL="0">
              <a:buNone/>
            </a:pPr>
            <a:r>
              <a:rPr lang="en-US" sz="800" dirty="0">
                <a:solidFill>
                  <a:srgbClr val="9AA9AE"/>
                </a:solidFill>
                <a:latin typeface="Arial" pitchFamily="34" charset="0"/>
                <a:ea typeface="Arial" pitchFamily="34" charset="-122"/>
                <a:cs typeface="Arial" pitchFamily="34" charset="-120"/>
              </a:rPr>
              <a:t>9</a:t>
            </a:r>
            <a:endParaRPr lang="en-US" sz="800" dirty="0"/>
          </a:p>
        </p:txBody>
      </p:sp>
      <p:sp>
        <p:nvSpPr>
          <p:cNvPr id="52" name="Shape 45"/>
          <p:cNvSpPr/>
          <p:nvPr/>
        </p:nvSpPr>
        <p:spPr>
          <a:xfrm>
            <a:off x="6583680" y="406908"/>
            <a:ext cx="82296" cy="82296"/>
          </a:xfrm>
          <a:prstGeom prst="ellipse">
            <a:avLst/>
          </a:prstGeom>
          <a:solidFill>
            <a:srgbClr val="C7D6DB"/>
          </a:solidFill>
          <a:ln/>
        </p:spPr>
      </p:sp>
      <p:sp>
        <p:nvSpPr>
          <p:cNvPr id="53" name="Shape 46"/>
          <p:cNvSpPr/>
          <p:nvPr/>
        </p:nvSpPr>
        <p:spPr>
          <a:xfrm>
            <a:off x="6624828" y="448056"/>
            <a:ext cx="434340" cy="0"/>
          </a:xfrm>
          <a:prstGeom prst="line">
            <a:avLst/>
          </a:prstGeom>
          <a:noFill/>
          <a:ln w="12700">
            <a:solidFill>
              <a:srgbClr val="C7D6DB"/>
            </a:solidFill>
            <a:prstDash val="solid"/>
          </a:ln>
        </p:spPr>
      </p:sp>
      <p:sp>
        <p:nvSpPr>
          <p:cNvPr id="54" name="Shape 47"/>
          <p:cNvSpPr/>
          <p:nvPr/>
        </p:nvSpPr>
        <p:spPr>
          <a:xfrm>
            <a:off x="7100316" y="406908"/>
            <a:ext cx="82296" cy="82296"/>
          </a:xfrm>
          <a:prstGeom prst="ellipse">
            <a:avLst/>
          </a:prstGeom>
          <a:solidFill>
            <a:srgbClr val="C7D6DB"/>
          </a:solidFill>
          <a:ln/>
        </p:spPr>
      </p:sp>
      <p:sp>
        <p:nvSpPr>
          <p:cNvPr id="55" name="Shape 48"/>
          <p:cNvSpPr/>
          <p:nvPr/>
        </p:nvSpPr>
        <p:spPr>
          <a:xfrm>
            <a:off x="7141464" y="448056"/>
            <a:ext cx="434340" cy="0"/>
          </a:xfrm>
          <a:prstGeom prst="line">
            <a:avLst/>
          </a:prstGeom>
          <a:noFill/>
          <a:ln w="12700">
            <a:solidFill>
              <a:srgbClr val="C7D6DB"/>
            </a:solidFill>
            <a:prstDash val="solid"/>
          </a:ln>
        </p:spPr>
      </p:sp>
      <p:sp>
        <p:nvSpPr>
          <p:cNvPr id="56" name="Shape 49"/>
          <p:cNvSpPr/>
          <p:nvPr/>
        </p:nvSpPr>
        <p:spPr>
          <a:xfrm>
            <a:off x="7616952" y="406908"/>
            <a:ext cx="82296" cy="82296"/>
          </a:xfrm>
          <a:prstGeom prst="ellipse">
            <a:avLst/>
          </a:prstGeom>
          <a:solidFill>
            <a:srgbClr val="C7D6DB"/>
          </a:solidFill>
          <a:ln/>
        </p:spPr>
      </p:sp>
      <p:sp>
        <p:nvSpPr>
          <p:cNvPr id="57" name="Shape 50"/>
          <p:cNvSpPr/>
          <p:nvPr/>
        </p:nvSpPr>
        <p:spPr>
          <a:xfrm>
            <a:off x="7658100" y="448056"/>
            <a:ext cx="434340" cy="0"/>
          </a:xfrm>
          <a:prstGeom prst="line">
            <a:avLst/>
          </a:prstGeom>
          <a:noFill/>
          <a:ln w="12700">
            <a:solidFill>
              <a:srgbClr val="C7D6DB"/>
            </a:solidFill>
            <a:prstDash val="solid"/>
          </a:ln>
        </p:spPr>
      </p:sp>
      <p:sp>
        <p:nvSpPr>
          <p:cNvPr id="58" name="Shape 51"/>
          <p:cNvSpPr/>
          <p:nvPr/>
        </p:nvSpPr>
        <p:spPr>
          <a:xfrm>
            <a:off x="8133588" y="406908"/>
            <a:ext cx="82296" cy="82296"/>
          </a:xfrm>
          <a:prstGeom prst="ellipse">
            <a:avLst/>
          </a:prstGeom>
          <a:solidFill>
            <a:srgbClr val="E8743B"/>
          </a:solidFill>
          <a:ln/>
        </p:spPr>
      </p:sp>
      <p:sp>
        <p:nvSpPr>
          <p:cNvPr id="59" name="Shape 52"/>
          <p:cNvSpPr/>
          <p:nvPr/>
        </p:nvSpPr>
        <p:spPr>
          <a:xfrm>
            <a:off x="8174736" y="448056"/>
            <a:ext cx="434340" cy="0"/>
          </a:xfrm>
          <a:prstGeom prst="line">
            <a:avLst/>
          </a:prstGeom>
          <a:noFill/>
          <a:ln w="12700">
            <a:solidFill>
              <a:srgbClr val="C7D6DB"/>
            </a:solidFill>
            <a:prstDash val="solid"/>
          </a:ln>
        </p:spPr>
      </p:sp>
      <p:sp>
        <p:nvSpPr>
          <p:cNvPr id="60" name="Shape 53"/>
          <p:cNvSpPr/>
          <p:nvPr/>
        </p:nvSpPr>
        <p:spPr>
          <a:xfrm>
            <a:off x="8650224" y="406908"/>
            <a:ext cx="82296" cy="82296"/>
          </a:xfrm>
          <a:prstGeom prst="ellipse">
            <a:avLst/>
          </a:prstGeom>
          <a:solidFill>
            <a:srgbClr val="C7D6DB"/>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92608"/>
            <a:ext cx="8321040" cy="256032"/>
          </a:xfrm>
          <a:prstGeom prst="rect">
            <a:avLst/>
          </a:prstGeom>
          <a:noFill/>
          <a:ln/>
        </p:spPr>
        <p:txBody>
          <a:bodyPr wrap="square" lIns="0" tIns="0" rIns="0" bIns="0" rtlCol="0" anchor="ctr"/>
          <a:lstStyle/>
          <a:p>
            <a:pPr indent="0" marL="0">
              <a:buNone/>
            </a:pPr>
            <a:r>
              <a:rPr lang="en-US" sz="1100" b="1" spc="150" kern="0" dirty="0">
                <a:solidFill>
                  <a:srgbClr val="E8743B"/>
                </a:solidFill>
                <a:latin typeface="Arial" pitchFamily="34" charset="0"/>
                <a:ea typeface="Arial" pitchFamily="34" charset="-122"/>
                <a:cs typeface="Arial" pitchFamily="34" charset="-120"/>
              </a:rPr>
              <a:t>PARTIE 3 — ACTION 1</a:t>
            </a:r>
            <a:endParaRPr lang="en-US" sz="1100" dirty="0"/>
          </a:p>
        </p:txBody>
      </p:sp>
      <p:sp>
        <p:nvSpPr>
          <p:cNvPr id="3" name="Text 1"/>
          <p:cNvSpPr/>
          <p:nvPr/>
        </p:nvSpPr>
        <p:spPr>
          <a:xfrm>
            <a:off x="411480" y="530352"/>
            <a:ext cx="8321040" cy="566928"/>
          </a:xfrm>
          <a:prstGeom prst="rect">
            <a:avLst/>
          </a:prstGeom>
          <a:noFill/>
          <a:ln/>
        </p:spPr>
        <p:txBody>
          <a:bodyPr wrap="square" lIns="0" tIns="0" rIns="0" bIns="0" rtlCol="0" anchor="t"/>
          <a:lstStyle/>
          <a:p>
            <a:pPr indent="0" marL="0">
              <a:buNone/>
            </a:pPr>
            <a:r>
              <a:rPr lang="en-US" sz="2500" b="1" dirty="0">
                <a:solidFill>
                  <a:srgbClr val="0B3D5C"/>
                </a:solidFill>
                <a:latin typeface="Arial" pitchFamily="34" charset="0"/>
                <a:ea typeface="Arial" pitchFamily="34" charset="-122"/>
                <a:cs typeface="Arial" pitchFamily="34" charset="-120"/>
              </a:rPr>
              <a:t>Aquabike Center : la première preuve de concept</a:t>
            </a:r>
            <a:endParaRPr lang="en-US" sz="2500" dirty="0"/>
          </a:p>
        </p:txBody>
      </p:sp>
      <p:sp>
        <p:nvSpPr>
          <p:cNvPr id="4" name="Shape 2"/>
          <p:cNvSpPr/>
          <p:nvPr/>
        </p:nvSpPr>
        <p:spPr>
          <a:xfrm>
            <a:off x="411480" y="1078992"/>
            <a:ext cx="3931920" cy="2788920"/>
          </a:xfrm>
          <a:prstGeom prst="roundRect">
            <a:avLst>
              <a:gd name="adj" fmla="val 2623"/>
            </a:avLst>
          </a:prstGeom>
          <a:solidFill>
            <a:srgbClr val="EDF2F4"/>
          </a:solidFill>
          <a:ln/>
          <a:effectLst>
            <a:outerShdw sx="100000" sy="100000" kx="0" ky="0" algn="bl" rotWithShape="0" blurRad="88900" dist="25400" dir="5400000">
              <a:srgbClr val="0B3D5C">
                <a:alpha val="12000"/>
              </a:srgbClr>
            </a:outerShdw>
          </a:effectLst>
        </p:spPr>
      </p:sp>
      <p:sp>
        <p:nvSpPr>
          <p:cNvPr id="5" name="Shape 3"/>
          <p:cNvSpPr/>
          <p:nvPr/>
        </p:nvSpPr>
        <p:spPr>
          <a:xfrm>
            <a:off x="630936" y="1280160"/>
            <a:ext cx="502920" cy="502920"/>
          </a:xfrm>
          <a:prstGeom prst="ellipse">
            <a:avLst/>
          </a:prstGeom>
          <a:solidFill>
            <a:srgbClr val="0B3D5C"/>
          </a:solidFill>
          <a:ln/>
        </p:spPr>
      </p:sp>
      <p:pic>
        <p:nvPicPr>
          <p:cNvPr id="6" name="Image 0" descr="preencoded.png">    </p:cNvPr>
          <p:cNvPicPr>
            <a:picLocks noChangeAspect="1"/>
          </p:cNvPicPr>
          <p:nvPr/>
        </p:nvPicPr>
        <p:blipFill>
          <a:blip r:embed="rId1"/>
          <a:stretch>
            <a:fillRect/>
          </a:stretch>
        </p:blipFill>
        <p:spPr>
          <a:xfrm>
            <a:off x="761695" y="1410919"/>
            <a:ext cx="241402" cy="241402"/>
          </a:xfrm>
          <a:prstGeom prst="rect">
            <a:avLst/>
          </a:prstGeom>
        </p:spPr>
      </p:pic>
      <p:sp>
        <p:nvSpPr>
          <p:cNvPr id="7" name="Text 4"/>
          <p:cNvSpPr/>
          <p:nvPr/>
        </p:nvSpPr>
        <p:spPr>
          <a:xfrm>
            <a:off x="1280160" y="1298448"/>
            <a:ext cx="2926080" cy="457200"/>
          </a:xfrm>
          <a:prstGeom prst="rect">
            <a:avLst/>
          </a:prstGeom>
          <a:noFill/>
          <a:ln/>
        </p:spPr>
        <p:txBody>
          <a:bodyPr wrap="square" lIns="0" tIns="0" rIns="0" bIns="0" rtlCol="0" anchor="ctr"/>
          <a:lstStyle/>
          <a:p>
            <a:pPr indent="0" marL="0">
              <a:buNone/>
            </a:pPr>
            <a:r>
              <a:rPr lang="en-US" sz="1300" b="1" dirty="0">
                <a:solidFill>
                  <a:srgbClr val="0B3D5C"/>
                </a:solidFill>
                <a:latin typeface="Arial" pitchFamily="34" charset="0"/>
                <a:ea typeface="Arial" pitchFamily="34" charset="-122"/>
                <a:cs typeface="Arial" pitchFamily="34" charset="-120"/>
              </a:rPr>
              <a:t>Raphaël Ritter — Aquabike Center</a:t>
            </a:r>
            <a:endParaRPr lang="en-US" sz="1300" dirty="0"/>
          </a:p>
        </p:txBody>
      </p:sp>
      <p:sp>
        <p:nvSpPr>
          <p:cNvPr id="8" name="Shape 5"/>
          <p:cNvSpPr/>
          <p:nvPr/>
        </p:nvSpPr>
        <p:spPr>
          <a:xfrm>
            <a:off x="630936" y="1975104"/>
            <a:ext cx="73152" cy="73152"/>
          </a:xfrm>
          <a:prstGeom prst="ellipse">
            <a:avLst/>
          </a:prstGeom>
          <a:solidFill>
            <a:srgbClr val="E8743B"/>
          </a:solidFill>
          <a:ln/>
        </p:spPr>
      </p:sp>
      <p:sp>
        <p:nvSpPr>
          <p:cNvPr id="9" name="Text 6"/>
          <p:cNvSpPr/>
          <p:nvPr/>
        </p:nvSpPr>
        <p:spPr>
          <a:xfrm>
            <a:off x="841248" y="1874520"/>
            <a:ext cx="3291840" cy="457200"/>
          </a:xfrm>
          <a:prstGeom prst="rect">
            <a:avLst/>
          </a:prstGeom>
          <a:noFill/>
          <a:ln/>
        </p:spPr>
        <p:txBody>
          <a:bodyPr wrap="square" lIns="0" tIns="0" rIns="0" bIns="0" rtlCol="0" anchor="t"/>
          <a:lstStyle/>
          <a:p>
            <a:pPr indent="0" marL="0">
              <a:lnSpc>
                <a:spcPct val="115000"/>
              </a:lnSpc>
              <a:buNone/>
            </a:pPr>
            <a:r>
              <a:rPr lang="en-US" sz="1050" dirty="0">
                <a:solidFill>
                  <a:srgbClr val="5B6B73"/>
                </a:solidFill>
                <a:latin typeface="Arial" pitchFamily="34" charset="0"/>
                <a:ea typeface="Arial" pitchFamily="34" charset="-122"/>
                <a:cs typeface="Arial" pitchFamily="34" charset="-120"/>
              </a:rPr>
              <a:t>2 sites à Montpellier : Port Marianne &amp; Castelnau-le-lez</a:t>
            </a:r>
            <a:endParaRPr lang="en-US" sz="1050" dirty="0"/>
          </a:p>
        </p:txBody>
      </p:sp>
      <p:sp>
        <p:nvSpPr>
          <p:cNvPr id="10" name="Shape 7"/>
          <p:cNvSpPr/>
          <p:nvPr/>
        </p:nvSpPr>
        <p:spPr>
          <a:xfrm>
            <a:off x="630936" y="2478024"/>
            <a:ext cx="73152" cy="73152"/>
          </a:xfrm>
          <a:prstGeom prst="ellipse">
            <a:avLst/>
          </a:prstGeom>
          <a:solidFill>
            <a:srgbClr val="E8743B"/>
          </a:solidFill>
          <a:ln/>
        </p:spPr>
      </p:sp>
      <p:sp>
        <p:nvSpPr>
          <p:cNvPr id="11" name="Text 8"/>
          <p:cNvSpPr/>
          <p:nvPr/>
        </p:nvSpPr>
        <p:spPr>
          <a:xfrm>
            <a:off x="841248" y="2377440"/>
            <a:ext cx="3291840" cy="457200"/>
          </a:xfrm>
          <a:prstGeom prst="rect">
            <a:avLst/>
          </a:prstGeom>
          <a:noFill/>
          <a:ln/>
        </p:spPr>
        <p:txBody>
          <a:bodyPr wrap="square" lIns="0" tIns="0" rIns="0" bIns="0" rtlCol="0" anchor="t"/>
          <a:lstStyle/>
          <a:p>
            <a:pPr indent="0" marL="0">
              <a:lnSpc>
                <a:spcPct val="115000"/>
              </a:lnSpc>
              <a:buNone/>
            </a:pPr>
            <a:r>
              <a:rPr lang="en-US" sz="1050" dirty="0">
                <a:solidFill>
                  <a:srgbClr val="5B6B73"/>
                </a:solidFill>
                <a:latin typeface="Arial" pitchFamily="34" charset="0"/>
                <a:ea typeface="Arial" pitchFamily="34" charset="-122"/>
                <a:cs typeface="Arial" pitchFamily="34" charset="-120"/>
              </a:rPr>
              <a:t>Logiciel utilisé : Deciplus — un concurrent direct de My Sport Session</a:t>
            </a:r>
            <a:endParaRPr lang="en-US" sz="1050" dirty="0"/>
          </a:p>
        </p:txBody>
      </p:sp>
      <p:sp>
        <p:nvSpPr>
          <p:cNvPr id="12" name="Shape 9"/>
          <p:cNvSpPr/>
          <p:nvPr/>
        </p:nvSpPr>
        <p:spPr>
          <a:xfrm>
            <a:off x="630936" y="2980944"/>
            <a:ext cx="73152" cy="73152"/>
          </a:xfrm>
          <a:prstGeom prst="ellipse">
            <a:avLst/>
          </a:prstGeom>
          <a:solidFill>
            <a:srgbClr val="E8743B"/>
          </a:solidFill>
          <a:ln/>
        </p:spPr>
      </p:sp>
      <p:sp>
        <p:nvSpPr>
          <p:cNvPr id="13" name="Text 10"/>
          <p:cNvSpPr/>
          <p:nvPr/>
        </p:nvSpPr>
        <p:spPr>
          <a:xfrm>
            <a:off x="841248" y="2880360"/>
            <a:ext cx="3291840" cy="457200"/>
          </a:xfrm>
          <a:prstGeom prst="rect">
            <a:avLst/>
          </a:prstGeom>
          <a:noFill/>
          <a:ln/>
        </p:spPr>
        <p:txBody>
          <a:bodyPr wrap="square" lIns="0" tIns="0" rIns="0" bIns="0" rtlCol="0" anchor="t"/>
          <a:lstStyle/>
          <a:p>
            <a:pPr indent="0" marL="0">
              <a:lnSpc>
                <a:spcPct val="115000"/>
              </a:lnSpc>
              <a:buNone/>
            </a:pPr>
            <a:r>
              <a:rPr lang="en-US" sz="1050" dirty="0">
                <a:solidFill>
                  <a:srgbClr val="5B6B73"/>
                </a:solidFill>
                <a:latin typeface="Arial" pitchFamily="34" charset="0"/>
                <a:ea typeface="Arial" pitchFamily="34" charset="-122"/>
                <a:cs typeface="Arial" pitchFamily="34" charset="-120"/>
              </a:rPr>
              <a:t>Contrat signé le 30 mars 2026, démarrage le 1er avril 2026</a:t>
            </a:r>
            <a:endParaRPr lang="en-US" sz="1050" dirty="0"/>
          </a:p>
        </p:txBody>
      </p:sp>
      <p:sp>
        <p:nvSpPr>
          <p:cNvPr id="14" name="Shape 11"/>
          <p:cNvSpPr/>
          <p:nvPr/>
        </p:nvSpPr>
        <p:spPr>
          <a:xfrm>
            <a:off x="630936" y="3483864"/>
            <a:ext cx="73152" cy="73152"/>
          </a:xfrm>
          <a:prstGeom prst="ellipse">
            <a:avLst/>
          </a:prstGeom>
          <a:solidFill>
            <a:srgbClr val="E8743B"/>
          </a:solidFill>
          <a:ln/>
        </p:spPr>
      </p:sp>
      <p:sp>
        <p:nvSpPr>
          <p:cNvPr id="15" name="Text 12"/>
          <p:cNvSpPr/>
          <p:nvPr/>
        </p:nvSpPr>
        <p:spPr>
          <a:xfrm>
            <a:off x="841248" y="3383280"/>
            <a:ext cx="3291840" cy="457200"/>
          </a:xfrm>
          <a:prstGeom prst="rect">
            <a:avLst/>
          </a:prstGeom>
          <a:noFill/>
          <a:ln/>
        </p:spPr>
        <p:txBody>
          <a:bodyPr wrap="square" lIns="0" tIns="0" rIns="0" bIns="0" rtlCol="0" anchor="t"/>
          <a:lstStyle/>
          <a:p>
            <a:pPr indent="0" marL="0">
              <a:lnSpc>
                <a:spcPct val="115000"/>
              </a:lnSpc>
              <a:buNone/>
            </a:pPr>
            <a:r>
              <a:rPr lang="en-US" sz="1050" dirty="0">
                <a:solidFill>
                  <a:srgbClr val="5B6B73"/>
                </a:solidFill>
                <a:latin typeface="Arial" pitchFamily="34" charset="0"/>
                <a:ea typeface="Arial" pitchFamily="34" charset="-122"/>
                <a:cs typeface="Arial" pitchFamily="34" charset="-120"/>
              </a:rPr>
              <a:t>250 € HT / mois × 6 mois ferme = 1 500 € HT</a:t>
            </a:r>
            <a:endParaRPr lang="en-US" sz="1050" dirty="0"/>
          </a:p>
        </p:txBody>
      </p:sp>
      <p:sp>
        <p:nvSpPr>
          <p:cNvPr id="16" name="Shape 13"/>
          <p:cNvSpPr/>
          <p:nvPr/>
        </p:nvSpPr>
        <p:spPr>
          <a:xfrm>
            <a:off x="4572000" y="1097280"/>
            <a:ext cx="365760" cy="365760"/>
          </a:xfrm>
          <a:prstGeom prst="ellipse">
            <a:avLst/>
          </a:prstGeom>
          <a:solidFill>
            <a:srgbClr val="1C7293"/>
          </a:solidFill>
          <a:ln/>
        </p:spPr>
      </p:sp>
      <p:pic>
        <p:nvPicPr>
          <p:cNvPr id="17" name="Image 1" descr="preencoded.png">    </p:cNvPr>
          <p:cNvPicPr>
            <a:picLocks noChangeAspect="1"/>
          </p:cNvPicPr>
          <p:nvPr/>
        </p:nvPicPr>
        <p:blipFill>
          <a:blip r:embed="rId2"/>
          <a:stretch>
            <a:fillRect/>
          </a:stretch>
        </p:blipFill>
        <p:spPr>
          <a:xfrm>
            <a:off x="4667098" y="1192378"/>
            <a:ext cx="175565" cy="175565"/>
          </a:xfrm>
          <a:prstGeom prst="rect">
            <a:avLst/>
          </a:prstGeom>
        </p:spPr>
      </p:pic>
      <p:sp>
        <p:nvSpPr>
          <p:cNvPr id="18" name="Text 14"/>
          <p:cNvSpPr/>
          <p:nvPr/>
        </p:nvSpPr>
        <p:spPr>
          <a:xfrm>
            <a:off x="5074920" y="1078992"/>
            <a:ext cx="3611880" cy="384048"/>
          </a:xfrm>
          <a:prstGeom prst="rect">
            <a:avLst/>
          </a:prstGeom>
          <a:noFill/>
          <a:ln/>
        </p:spPr>
        <p:txBody>
          <a:bodyPr wrap="square" lIns="0" tIns="0" rIns="0" bIns="0" rtlCol="0" anchor="ctr"/>
          <a:lstStyle/>
          <a:p>
            <a:pPr indent="0" marL="0">
              <a:lnSpc>
                <a:spcPct val="110000"/>
              </a:lnSpc>
              <a:buNone/>
            </a:pPr>
            <a:r>
              <a:rPr lang="en-US" sz="1000" dirty="0">
                <a:solidFill>
                  <a:srgbClr val="5B6B73"/>
                </a:solidFill>
                <a:latin typeface="Arial" pitchFamily="34" charset="0"/>
                <a:ea typeface="Arial" pitchFamily="34" charset="-122"/>
                <a:cs typeface="Arial" pitchFamily="34" charset="-120"/>
              </a:rPr>
              <a:t>Audit initial : présence digitale + Google Business Profile</a:t>
            </a:r>
            <a:endParaRPr lang="en-US" sz="1000" dirty="0"/>
          </a:p>
        </p:txBody>
      </p:sp>
      <p:sp>
        <p:nvSpPr>
          <p:cNvPr id="19" name="Shape 15"/>
          <p:cNvSpPr/>
          <p:nvPr/>
        </p:nvSpPr>
        <p:spPr>
          <a:xfrm>
            <a:off x="4572000" y="1572768"/>
            <a:ext cx="365760" cy="365760"/>
          </a:xfrm>
          <a:prstGeom prst="ellipse">
            <a:avLst/>
          </a:prstGeom>
          <a:solidFill>
            <a:srgbClr val="1C7293"/>
          </a:solidFill>
          <a:ln/>
        </p:spPr>
      </p:sp>
      <p:pic>
        <p:nvPicPr>
          <p:cNvPr id="20" name="Image 2" descr="preencoded.png">    </p:cNvPr>
          <p:cNvPicPr>
            <a:picLocks noChangeAspect="1"/>
          </p:cNvPicPr>
          <p:nvPr/>
        </p:nvPicPr>
        <p:blipFill>
          <a:blip r:embed="rId3"/>
          <a:stretch>
            <a:fillRect/>
          </a:stretch>
        </p:blipFill>
        <p:spPr>
          <a:xfrm>
            <a:off x="4667098" y="1667866"/>
            <a:ext cx="175565" cy="175565"/>
          </a:xfrm>
          <a:prstGeom prst="rect">
            <a:avLst/>
          </a:prstGeom>
        </p:spPr>
      </p:pic>
      <p:sp>
        <p:nvSpPr>
          <p:cNvPr id="21" name="Text 16"/>
          <p:cNvSpPr/>
          <p:nvPr/>
        </p:nvSpPr>
        <p:spPr>
          <a:xfrm>
            <a:off x="5074920" y="1554480"/>
            <a:ext cx="3611880" cy="384048"/>
          </a:xfrm>
          <a:prstGeom prst="rect">
            <a:avLst/>
          </a:prstGeom>
          <a:noFill/>
          <a:ln/>
        </p:spPr>
        <p:txBody>
          <a:bodyPr wrap="square" lIns="0" tIns="0" rIns="0" bIns="0" rtlCol="0" anchor="ctr"/>
          <a:lstStyle/>
          <a:p>
            <a:pPr indent="0" marL="0">
              <a:lnSpc>
                <a:spcPct val="110000"/>
              </a:lnSpc>
              <a:buNone/>
            </a:pPr>
            <a:r>
              <a:rPr lang="en-US" sz="1000" dirty="0">
                <a:solidFill>
                  <a:srgbClr val="5B6B73"/>
                </a:solidFill>
                <a:latin typeface="Arial" pitchFamily="34" charset="0"/>
                <a:ea typeface="Arial" pitchFamily="34" charset="-122"/>
                <a:cs typeface="Arial" pitchFamily="34" charset="-120"/>
              </a:rPr>
              <a:t>Optimisation Google Business Profile (mots-clés, photos, catégories)</a:t>
            </a:r>
            <a:endParaRPr lang="en-US" sz="1000" dirty="0"/>
          </a:p>
        </p:txBody>
      </p:sp>
      <p:sp>
        <p:nvSpPr>
          <p:cNvPr id="22" name="Shape 17"/>
          <p:cNvSpPr/>
          <p:nvPr/>
        </p:nvSpPr>
        <p:spPr>
          <a:xfrm>
            <a:off x="4572000" y="2048256"/>
            <a:ext cx="365760" cy="365760"/>
          </a:xfrm>
          <a:prstGeom prst="ellipse">
            <a:avLst/>
          </a:prstGeom>
          <a:solidFill>
            <a:srgbClr val="1C7293"/>
          </a:solidFill>
          <a:ln/>
        </p:spPr>
      </p:sp>
      <p:pic>
        <p:nvPicPr>
          <p:cNvPr id="23" name="Image 3" descr="preencoded.png">    </p:cNvPr>
          <p:cNvPicPr>
            <a:picLocks noChangeAspect="1"/>
          </p:cNvPicPr>
          <p:nvPr/>
        </p:nvPicPr>
        <p:blipFill>
          <a:blip r:embed="rId4"/>
          <a:stretch>
            <a:fillRect/>
          </a:stretch>
        </p:blipFill>
        <p:spPr>
          <a:xfrm>
            <a:off x="4667098" y="2143354"/>
            <a:ext cx="175565" cy="175565"/>
          </a:xfrm>
          <a:prstGeom prst="rect">
            <a:avLst/>
          </a:prstGeom>
        </p:spPr>
      </p:pic>
      <p:sp>
        <p:nvSpPr>
          <p:cNvPr id="24" name="Text 18"/>
          <p:cNvSpPr/>
          <p:nvPr/>
        </p:nvSpPr>
        <p:spPr>
          <a:xfrm>
            <a:off x="5074920" y="2029968"/>
            <a:ext cx="3611880" cy="384048"/>
          </a:xfrm>
          <a:prstGeom prst="rect">
            <a:avLst/>
          </a:prstGeom>
          <a:noFill/>
          <a:ln/>
        </p:spPr>
        <p:txBody>
          <a:bodyPr wrap="square" lIns="0" tIns="0" rIns="0" bIns="0" rtlCol="0" anchor="ctr"/>
          <a:lstStyle/>
          <a:p>
            <a:pPr indent="0" marL="0">
              <a:lnSpc>
                <a:spcPct val="110000"/>
              </a:lnSpc>
              <a:buNone/>
            </a:pPr>
            <a:r>
              <a:rPr lang="en-US" sz="1000" dirty="0">
                <a:solidFill>
                  <a:srgbClr val="5B6B73"/>
                </a:solidFill>
                <a:latin typeface="Arial" pitchFamily="34" charset="0"/>
                <a:ea typeface="Arial" pitchFamily="34" charset="-122"/>
                <a:cs typeface="Arial" pitchFamily="34" charset="-120"/>
              </a:rPr>
              <a:t>Système d’avis clients automatisé (email, QR code, réponses IA)</a:t>
            </a:r>
            <a:endParaRPr lang="en-US" sz="1000" dirty="0"/>
          </a:p>
        </p:txBody>
      </p:sp>
      <p:sp>
        <p:nvSpPr>
          <p:cNvPr id="25" name="Shape 19"/>
          <p:cNvSpPr/>
          <p:nvPr/>
        </p:nvSpPr>
        <p:spPr>
          <a:xfrm>
            <a:off x="4572000" y="2523744"/>
            <a:ext cx="365760" cy="365760"/>
          </a:xfrm>
          <a:prstGeom prst="ellipse">
            <a:avLst/>
          </a:prstGeom>
          <a:solidFill>
            <a:srgbClr val="1C7293"/>
          </a:solidFill>
          <a:ln/>
        </p:spPr>
      </p:sp>
      <p:pic>
        <p:nvPicPr>
          <p:cNvPr id="26" name="Image 4" descr="preencoded.png">    </p:cNvPr>
          <p:cNvPicPr>
            <a:picLocks noChangeAspect="1"/>
          </p:cNvPicPr>
          <p:nvPr/>
        </p:nvPicPr>
        <p:blipFill>
          <a:blip r:embed="rId5"/>
          <a:stretch>
            <a:fillRect/>
          </a:stretch>
        </p:blipFill>
        <p:spPr>
          <a:xfrm>
            <a:off x="4667098" y="2618842"/>
            <a:ext cx="175565" cy="175565"/>
          </a:xfrm>
          <a:prstGeom prst="rect">
            <a:avLst/>
          </a:prstGeom>
        </p:spPr>
      </p:pic>
      <p:sp>
        <p:nvSpPr>
          <p:cNvPr id="27" name="Text 20"/>
          <p:cNvSpPr/>
          <p:nvPr/>
        </p:nvSpPr>
        <p:spPr>
          <a:xfrm>
            <a:off x="5074920" y="2505456"/>
            <a:ext cx="3611880" cy="384048"/>
          </a:xfrm>
          <a:prstGeom prst="rect">
            <a:avLst/>
          </a:prstGeom>
          <a:noFill/>
          <a:ln/>
        </p:spPr>
        <p:txBody>
          <a:bodyPr wrap="square" lIns="0" tIns="0" rIns="0" bIns="0" rtlCol="0" anchor="ctr"/>
          <a:lstStyle/>
          <a:p>
            <a:pPr indent="0" marL="0">
              <a:lnSpc>
                <a:spcPct val="110000"/>
              </a:lnSpc>
              <a:buNone/>
            </a:pPr>
            <a:r>
              <a:rPr lang="en-US" sz="1000" dirty="0">
                <a:solidFill>
                  <a:srgbClr val="5B6B73"/>
                </a:solidFill>
                <a:latin typeface="Arial" pitchFamily="34" charset="0"/>
                <a:ea typeface="Arial" pitchFamily="34" charset="-122"/>
                <a:cs typeface="Arial" pitchFamily="34" charset="-120"/>
              </a:rPr>
              <a:t>Nouveau site optimisé conversion + réseaux sociaux hebdomadaires</a:t>
            </a:r>
            <a:endParaRPr lang="en-US" sz="1000" dirty="0"/>
          </a:p>
        </p:txBody>
      </p:sp>
      <p:sp>
        <p:nvSpPr>
          <p:cNvPr id="28" name="Shape 21"/>
          <p:cNvSpPr/>
          <p:nvPr/>
        </p:nvSpPr>
        <p:spPr>
          <a:xfrm>
            <a:off x="4572000" y="2999232"/>
            <a:ext cx="365760" cy="365760"/>
          </a:xfrm>
          <a:prstGeom prst="ellipse">
            <a:avLst/>
          </a:prstGeom>
          <a:solidFill>
            <a:srgbClr val="1C7293"/>
          </a:solidFill>
          <a:ln/>
        </p:spPr>
      </p:sp>
      <p:pic>
        <p:nvPicPr>
          <p:cNvPr id="29" name="Image 5" descr="preencoded.png">    </p:cNvPr>
          <p:cNvPicPr>
            <a:picLocks noChangeAspect="1"/>
          </p:cNvPicPr>
          <p:nvPr/>
        </p:nvPicPr>
        <p:blipFill>
          <a:blip r:embed="rId6"/>
          <a:stretch>
            <a:fillRect/>
          </a:stretch>
        </p:blipFill>
        <p:spPr>
          <a:xfrm>
            <a:off x="4667098" y="3094330"/>
            <a:ext cx="175565" cy="175565"/>
          </a:xfrm>
          <a:prstGeom prst="rect">
            <a:avLst/>
          </a:prstGeom>
        </p:spPr>
      </p:pic>
      <p:sp>
        <p:nvSpPr>
          <p:cNvPr id="30" name="Text 22"/>
          <p:cNvSpPr/>
          <p:nvPr/>
        </p:nvSpPr>
        <p:spPr>
          <a:xfrm>
            <a:off x="5074920" y="2980944"/>
            <a:ext cx="3611880" cy="384048"/>
          </a:xfrm>
          <a:prstGeom prst="rect">
            <a:avLst/>
          </a:prstGeom>
          <a:noFill/>
          <a:ln/>
        </p:spPr>
        <p:txBody>
          <a:bodyPr wrap="square" lIns="0" tIns="0" rIns="0" bIns="0" rtlCol="0" anchor="ctr"/>
          <a:lstStyle/>
          <a:p>
            <a:pPr indent="0" marL="0">
              <a:lnSpc>
                <a:spcPct val="110000"/>
              </a:lnSpc>
              <a:buNone/>
            </a:pPr>
            <a:r>
              <a:rPr lang="en-US" sz="1000" dirty="0">
                <a:solidFill>
                  <a:srgbClr val="5B6B73"/>
                </a:solidFill>
                <a:latin typeface="Arial" pitchFamily="34" charset="0"/>
                <a:ea typeface="Arial" pitchFamily="34" charset="-122"/>
                <a:cs typeface="Arial" pitchFamily="34" charset="-120"/>
              </a:rPr>
              <a:t>Process de vente sur place (flyers coachs, -15 % incentive)</a:t>
            </a:r>
            <a:endParaRPr lang="en-US" sz="1000" dirty="0"/>
          </a:p>
        </p:txBody>
      </p:sp>
      <p:sp>
        <p:nvSpPr>
          <p:cNvPr id="31" name="Shape 23"/>
          <p:cNvSpPr/>
          <p:nvPr/>
        </p:nvSpPr>
        <p:spPr>
          <a:xfrm>
            <a:off x="4572000" y="3474720"/>
            <a:ext cx="365760" cy="365760"/>
          </a:xfrm>
          <a:prstGeom prst="ellipse">
            <a:avLst/>
          </a:prstGeom>
          <a:solidFill>
            <a:srgbClr val="1C7293"/>
          </a:solidFill>
          <a:ln/>
        </p:spPr>
      </p:sp>
      <p:pic>
        <p:nvPicPr>
          <p:cNvPr id="32" name="Image 6" descr="preencoded.png">    </p:cNvPr>
          <p:cNvPicPr>
            <a:picLocks noChangeAspect="1"/>
          </p:cNvPicPr>
          <p:nvPr/>
        </p:nvPicPr>
        <p:blipFill>
          <a:blip r:embed="rId7"/>
          <a:stretch>
            <a:fillRect/>
          </a:stretch>
        </p:blipFill>
        <p:spPr>
          <a:xfrm>
            <a:off x="4667098" y="3569818"/>
            <a:ext cx="175565" cy="175565"/>
          </a:xfrm>
          <a:prstGeom prst="rect">
            <a:avLst/>
          </a:prstGeom>
        </p:spPr>
      </p:pic>
      <p:sp>
        <p:nvSpPr>
          <p:cNvPr id="33" name="Text 24"/>
          <p:cNvSpPr/>
          <p:nvPr/>
        </p:nvSpPr>
        <p:spPr>
          <a:xfrm>
            <a:off x="5074920" y="3456432"/>
            <a:ext cx="3611880" cy="384048"/>
          </a:xfrm>
          <a:prstGeom prst="rect">
            <a:avLst/>
          </a:prstGeom>
          <a:noFill/>
          <a:ln/>
        </p:spPr>
        <p:txBody>
          <a:bodyPr wrap="square" lIns="0" tIns="0" rIns="0" bIns="0" rtlCol="0" anchor="ctr"/>
          <a:lstStyle/>
          <a:p>
            <a:pPr indent="0" marL="0">
              <a:lnSpc>
                <a:spcPct val="110000"/>
              </a:lnSpc>
              <a:buNone/>
            </a:pPr>
            <a:r>
              <a:rPr lang="en-US" sz="1000" dirty="0">
                <a:solidFill>
                  <a:srgbClr val="5B6B73"/>
                </a:solidFill>
                <a:latin typeface="Arial" pitchFamily="34" charset="0"/>
                <a:ea typeface="Arial" pitchFamily="34" charset="-122"/>
                <a:cs typeface="Arial" pitchFamily="34" charset="-120"/>
              </a:rPr>
              <a:t>Campagne Meta prévue juin–juillet 2026</a:t>
            </a:r>
            <a:endParaRPr lang="en-US" sz="1000" dirty="0"/>
          </a:p>
        </p:txBody>
      </p:sp>
      <p:sp>
        <p:nvSpPr>
          <p:cNvPr id="34" name="Shape 25"/>
          <p:cNvSpPr/>
          <p:nvPr/>
        </p:nvSpPr>
        <p:spPr>
          <a:xfrm>
            <a:off x="411480" y="4041648"/>
            <a:ext cx="8321040" cy="566928"/>
          </a:xfrm>
          <a:prstGeom prst="roundRect">
            <a:avLst>
              <a:gd name="adj" fmla="val 9677"/>
            </a:avLst>
          </a:prstGeom>
          <a:solidFill>
            <a:srgbClr val="0B3D5C"/>
          </a:solidFill>
          <a:ln/>
        </p:spPr>
      </p:sp>
      <p:sp>
        <p:nvSpPr>
          <p:cNvPr id="35" name="Text 26"/>
          <p:cNvSpPr/>
          <p:nvPr/>
        </p:nvSpPr>
        <p:spPr>
          <a:xfrm>
            <a:off x="594360" y="4041648"/>
            <a:ext cx="7955280" cy="566928"/>
          </a:xfrm>
          <a:prstGeom prst="rect">
            <a:avLst/>
          </a:prstGeom>
          <a:noFill/>
          <a:ln/>
        </p:spPr>
        <p:txBody>
          <a:bodyPr wrap="square" lIns="0" tIns="0" rIns="0" bIns="0" rtlCol="0" anchor="ctr"/>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Aquabike Center utilise un concurrent direct (Deciplus). My Sport Business crée de la valeur indépendamment du logiciel — preuve qu’il adresse l’intégralité du marché.</a:t>
            </a:r>
            <a:endParaRPr lang="en-US" sz="1050" dirty="0"/>
          </a:p>
        </p:txBody>
      </p:sp>
      <p:sp>
        <p:nvSpPr>
          <p:cNvPr id="36" name="Text 27"/>
          <p:cNvSpPr/>
          <p:nvPr/>
        </p:nvSpPr>
        <p:spPr>
          <a:xfrm>
            <a:off x="411480" y="4864608"/>
            <a:ext cx="4114800" cy="228600"/>
          </a:xfrm>
          <a:prstGeom prst="rect">
            <a:avLst/>
          </a:prstGeom>
          <a:noFill/>
          <a:ln/>
        </p:spPr>
        <p:txBody>
          <a:bodyPr wrap="square" lIns="0" tIns="0" rIns="0" bIns="0" rtlCol="0" anchor="ctr"/>
          <a:lstStyle/>
          <a:p>
            <a:pPr algn="l" indent="0" marL="0">
              <a:buNone/>
            </a:pPr>
            <a:r>
              <a:rPr lang="en-US" sz="800" dirty="0">
                <a:solidFill>
                  <a:srgbClr val="9AA9AE"/>
                </a:solidFill>
                <a:latin typeface="Arial" pitchFamily="34" charset="0"/>
                <a:ea typeface="Arial" pitchFamily="34" charset="-122"/>
                <a:cs typeface="Arial" pitchFamily="34" charset="-120"/>
              </a:rPr>
              <a:t>Rapport de mission — SPOUTNIK S62 — Pascal Varomme</a:t>
            </a:r>
            <a:endParaRPr lang="en-US" sz="800" dirty="0"/>
          </a:p>
        </p:txBody>
      </p:sp>
      <p:sp>
        <p:nvSpPr>
          <p:cNvPr id="37" name="Text 28"/>
          <p:cNvSpPr/>
          <p:nvPr/>
        </p:nvSpPr>
        <p:spPr>
          <a:xfrm>
            <a:off x="8366760" y="4864608"/>
            <a:ext cx="365760" cy="228600"/>
          </a:xfrm>
          <a:prstGeom prst="rect">
            <a:avLst/>
          </a:prstGeom>
          <a:noFill/>
          <a:ln/>
        </p:spPr>
        <p:txBody>
          <a:bodyPr wrap="square" lIns="0" tIns="0" rIns="0" bIns="0" rtlCol="0" anchor="ctr"/>
          <a:lstStyle/>
          <a:p>
            <a:pPr algn="r" indent="0" marL="0">
              <a:buNone/>
            </a:pPr>
            <a:r>
              <a:rPr lang="en-US" sz="800" dirty="0">
                <a:solidFill>
                  <a:srgbClr val="9AA9AE"/>
                </a:solidFill>
                <a:latin typeface="Arial" pitchFamily="34" charset="0"/>
                <a:ea typeface="Arial" pitchFamily="34" charset="-122"/>
                <a:cs typeface="Arial" pitchFamily="34" charset="-120"/>
              </a:rPr>
              <a:t>10</a:t>
            </a:r>
            <a:endParaRPr lang="en-US" sz="800" dirty="0"/>
          </a:p>
        </p:txBody>
      </p:sp>
      <p:sp>
        <p:nvSpPr>
          <p:cNvPr id="38" name="Shape 29"/>
          <p:cNvSpPr/>
          <p:nvPr/>
        </p:nvSpPr>
        <p:spPr>
          <a:xfrm>
            <a:off x="6583680" y="406908"/>
            <a:ext cx="82296" cy="82296"/>
          </a:xfrm>
          <a:prstGeom prst="ellipse">
            <a:avLst/>
          </a:prstGeom>
          <a:solidFill>
            <a:srgbClr val="C7D6DB"/>
          </a:solidFill>
          <a:ln/>
        </p:spPr>
      </p:sp>
      <p:sp>
        <p:nvSpPr>
          <p:cNvPr id="39" name="Shape 30"/>
          <p:cNvSpPr/>
          <p:nvPr/>
        </p:nvSpPr>
        <p:spPr>
          <a:xfrm>
            <a:off x="6624828" y="448056"/>
            <a:ext cx="434340" cy="0"/>
          </a:xfrm>
          <a:prstGeom prst="line">
            <a:avLst/>
          </a:prstGeom>
          <a:noFill/>
          <a:ln w="12700">
            <a:solidFill>
              <a:srgbClr val="C7D6DB"/>
            </a:solidFill>
            <a:prstDash val="solid"/>
          </a:ln>
        </p:spPr>
      </p:sp>
      <p:sp>
        <p:nvSpPr>
          <p:cNvPr id="40" name="Shape 31"/>
          <p:cNvSpPr/>
          <p:nvPr/>
        </p:nvSpPr>
        <p:spPr>
          <a:xfrm>
            <a:off x="7100316" y="406908"/>
            <a:ext cx="82296" cy="82296"/>
          </a:xfrm>
          <a:prstGeom prst="ellipse">
            <a:avLst/>
          </a:prstGeom>
          <a:solidFill>
            <a:srgbClr val="C7D6DB"/>
          </a:solidFill>
          <a:ln/>
        </p:spPr>
      </p:sp>
      <p:sp>
        <p:nvSpPr>
          <p:cNvPr id="41" name="Shape 32"/>
          <p:cNvSpPr/>
          <p:nvPr/>
        </p:nvSpPr>
        <p:spPr>
          <a:xfrm>
            <a:off x="7141464" y="448056"/>
            <a:ext cx="434340" cy="0"/>
          </a:xfrm>
          <a:prstGeom prst="line">
            <a:avLst/>
          </a:prstGeom>
          <a:noFill/>
          <a:ln w="12700">
            <a:solidFill>
              <a:srgbClr val="C7D6DB"/>
            </a:solidFill>
            <a:prstDash val="solid"/>
          </a:ln>
        </p:spPr>
      </p:sp>
      <p:sp>
        <p:nvSpPr>
          <p:cNvPr id="42" name="Shape 33"/>
          <p:cNvSpPr/>
          <p:nvPr/>
        </p:nvSpPr>
        <p:spPr>
          <a:xfrm>
            <a:off x="7616952" y="406908"/>
            <a:ext cx="82296" cy="82296"/>
          </a:xfrm>
          <a:prstGeom prst="ellipse">
            <a:avLst/>
          </a:prstGeom>
          <a:solidFill>
            <a:srgbClr val="C7D6DB"/>
          </a:solidFill>
          <a:ln/>
        </p:spPr>
      </p:sp>
      <p:sp>
        <p:nvSpPr>
          <p:cNvPr id="43" name="Shape 34"/>
          <p:cNvSpPr/>
          <p:nvPr/>
        </p:nvSpPr>
        <p:spPr>
          <a:xfrm>
            <a:off x="7658100" y="448056"/>
            <a:ext cx="434340" cy="0"/>
          </a:xfrm>
          <a:prstGeom prst="line">
            <a:avLst/>
          </a:prstGeom>
          <a:noFill/>
          <a:ln w="12700">
            <a:solidFill>
              <a:srgbClr val="C7D6DB"/>
            </a:solidFill>
            <a:prstDash val="solid"/>
          </a:ln>
        </p:spPr>
      </p:sp>
      <p:sp>
        <p:nvSpPr>
          <p:cNvPr id="44" name="Shape 35"/>
          <p:cNvSpPr/>
          <p:nvPr/>
        </p:nvSpPr>
        <p:spPr>
          <a:xfrm>
            <a:off x="8133588" y="406908"/>
            <a:ext cx="82296" cy="82296"/>
          </a:xfrm>
          <a:prstGeom prst="ellipse">
            <a:avLst/>
          </a:prstGeom>
          <a:solidFill>
            <a:srgbClr val="E8743B"/>
          </a:solidFill>
          <a:ln/>
        </p:spPr>
      </p:sp>
      <p:sp>
        <p:nvSpPr>
          <p:cNvPr id="45" name="Shape 36"/>
          <p:cNvSpPr/>
          <p:nvPr/>
        </p:nvSpPr>
        <p:spPr>
          <a:xfrm>
            <a:off x="8174736" y="448056"/>
            <a:ext cx="434340" cy="0"/>
          </a:xfrm>
          <a:prstGeom prst="line">
            <a:avLst/>
          </a:prstGeom>
          <a:noFill/>
          <a:ln w="12700">
            <a:solidFill>
              <a:srgbClr val="C7D6DB"/>
            </a:solidFill>
            <a:prstDash val="solid"/>
          </a:ln>
        </p:spPr>
      </p:sp>
      <p:sp>
        <p:nvSpPr>
          <p:cNvPr id="46" name="Shape 37"/>
          <p:cNvSpPr/>
          <p:nvPr/>
        </p:nvSpPr>
        <p:spPr>
          <a:xfrm>
            <a:off x="8650224" y="406908"/>
            <a:ext cx="82296" cy="82296"/>
          </a:xfrm>
          <a:prstGeom prst="ellipse">
            <a:avLst/>
          </a:prstGeom>
          <a:solidFill>
            <a:srgbClr val="C7D6DB"/>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92608"/>
            <a:ext cx="8321040" cy="256032"/>
          </a:xfrm>
          <a:prstGeom prst="rect">
            <a:avLst/>
          </a:prstGeom>
          <a:noFill/>
          <a:ln/>
        </p:spPr>
        <p:txBody>
          <a:bodyPr wrap="square" lIns="0" tIns="0" rIns="0" bIns="0" rtlCol="0" anchor="ctr"/>
          <a:lstStyle/>
          <a:p>
            <a:pPr indent="0" marL="0">
              <a:buNone/>
            </a:pPr>
            <a:r>
              <a:rPr lang="en-US" sz="1100" b="1" spc="150" kern="0" dirty="0">
                <a:solidFill>
                  <a:srgbClr val="E8743B"/>
                </a:solidFill>
                <a:latin typeface="Arial" pitchFamily="34" charset="0"/>
                <a:ea typeface="Arial" pitchFamily="34" charset="-122"/>
                <a:cs typeface="Arial" pitchFamily="34" charset="-120"/>
              </a:rPr>
              <a:t>PARTIE 3 — ACTION 1 : RÉSULTATS</a:t>
            </a:r>
            <a:endParaRPr lang="en-US" sz="1100" dirty="0"/>
          </a:p>
        </p:txBody>
      </p:sp>
      <p:sp>
        <p:nvSpPr>
          <p:cNvPr id="3" name="Text 1"/>
          <p:cNvSpPr/>
          <p:nvPr/>
        </p:nvSpPr>
        <p:spPr>
          <a:xfrm>
            <a:off x="411480" y="530352"/>
            <a:ext cx="8321040" cy="566928"/>
          </a:xfrm>
          <a:prstGeom prst="rect">
            <a:avLst/>
          </a:prstGeom>
          <a:noFill/>
          <a:ln/>
        </p:spPr>
        <p:txBody>
          <a:bodyPr wrap="square" lIns="0" tIns="0" rIns="0" bIns="0" rtlCol="0" anchor="t"/>
          <a:lstStyle/>
          <a:p>
            <a:pPr indent="0" marL="0">
              <a:buNone/>
            </a:pPr>
            <a:r>
              <a:rPr lang="en-US" sz="2500" b="1" dirty="0">
                <a:solidFill>
                  <a:srgbClr val="0B3D5C"/>
                </a:solidFill>
                <a:latin typeface="Arial" pitchFamily="34" charset="0"/>
                <a:ea typeface="Arial" pitchFamily="34" charset="-122"/>
                <a:cs typeface="Arial" pitchFamily="34" charset="-120"/>
              </a:rPr>
              <a:t>+36 avis en 2 mois, ×14 le rythme d’acquisition</a:t>
            </a:r>
            <a:endParaRPr lang="en-US" sz="2500" dirty="0"/>
          </a:p>
        </p:txBody>
      </p:sp>
      <p:graphicFrame>
        <p:nvGraphicFramePr>
          <p:cNvPr id="4" name="Chart 0" descr=""/>
          <p:cNvGraphicFramePr/>
          <p:nvPr/>
        </p:nvGraphicFramePr>
        <p:xfrm>
          <a:off x="411480" y="1097280"/>
          <a:ext cx="4663440" cy="3063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257800" y="1097280"/>
            <a:ext cx="3474720" cy="1325880"/>
          </a:xfrm>
          <a:prstGeom prst="roundRect">
            <a:avLst>
              <a:gd name="adj" fmla="val 5517"/>
            </a:avLst>
          </a:prstGeom>
          <a:solidFill>
            <a:srgbClr val="0B3D5C"/>
          </a:solidFill>
          <a:ln/>
          <a:effectLst>
            <a:outerShdw sx="100000" sy="100000" kx="0" ky="0" algn="bl" rotWithShape="0" blurRad="88900" dist="25400" dir="5400000">
              <a:srgbClr val="0B3D5C">
                <a:alpha val="12000"/>
              </a:srgbClr>
            </a:outerShdw>
          </a:effectLst>
        </p:spPr>
      </p:sp>
      <p:sp>
        <p:nvSpPr>
          <p:cNvPr id="6" name="Shape 3"/>
          <p:cNvSpPr/>
          <p:nvPr/>
        </p:nvSpPr>
        <p:spPr>
          <a:xfrm>
            <a:off x="5440680" y="1243584"/>
            <a:ext cx="457200" cy="457200"/>
          </a:xfrm>
          <a:prstGeom prst="ellipse">
            <a:avLst/>
          </a:prstGeom>
          <a:solidFill>
            <a:srgbClr val="1C7293"/>
          </a:solidFill>
          <a:ln/>
        </p:spPr>
      </p:sp>
      <p:pic>
        <p:nvPicPr>
          <p:cNvPr id="7" name="Image 0" descr="preencoded.png">    </p:cNvPr>
          <p:cNvPicPr>
            <a:picLocks noChangeAspect="1"/>
          </p:cNvPicPr>
          <p:nvPr/>
        </p:nvPicPr>
        <p:blipFill>
          <a:blip r:embed="rId2"/>
          <a:stretch>
            <a:fillRect/>
          </a:stretch>
        </p:blipFill>
        <p:spPr>
          <a:xfrm>
            <a:off x="5559552" y="1362456"/>
            <a:ext cx="219456" cy="219456"/>
          </a:xfrm>
          <a:prstGeom prst="rect">
            <a:avLst/>
          </a:prstGeom>
        </p:spPr>
      </p:pic>
      <p:sp>
        <p:nvSpPr>
          <p:cNvPr id="8" name="Text 4"/>
          <p:cNvSpPr/>
          <p:nvPr/>
        </p:nvSpPr>
        <p:spPr>
          <a:xfrm>
            <a:off x="6035040" y="1225296"/>
            <a:ext cx="2606040" cy="36576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41 réservations</a:t>
            </a:r>
            <a:endParaRPr lang="en-US" sz="1700" dirty="0"/>
          </a:p>
        </p:txBody>
      </p:sp>
      <p:sp>
        <p:nvSpPr>
          <p:cNvPr id="9" name="Text 5"/>
          <p:cNvSpPr/>
          <p:nvPr/>
        </p:nvSpPr>
        <p:spPr>
          <a:xfrm>
            <a:off x="5440680" y="1828800"/>
            <a:ext cx="3108960" cy="502920"/>
          </a:xfrm>
          <a:prstGeom prst="rect">
            <a:avLst/>
          </a:prstGeom>
          <a:noFill/>
          <a:ln/>
        </p:spPr>
        <p:txBody>
          <a:bodyPr wrap="square" lIns="0" tIns="0" rIns="0" bIns="0" rtlCol="0" anchor="ctr"/>
          <a:lstStyle/>
          <a:p>
            <a:pPr indent="0" marL="0">
              <a:lnSpc>
                <a:spcPct val="115000"/>
              </a:lnSpc>
              <a:buNone/>
            </a:pPr>
            <a:r>
              <a:rPr lang="en-US" sz="950" dirty="0">
                <a:solidFill>
                  <a:srgbClr val="C7DCE3"/>
                </a:solidFill>
                <a:latin typeface="Arial" pitchFamily="34" charset="0"/>
                <a:ea typeface="Arial" pitchFamily="34" charset="-122"/>
                <a:cs typeface="Arial" pitchFamily="34" charset="-120"/>
              </a:rPr>
              <a:t>en 2 mois via un canal d’acquisition inexistant auparavant (page Google Business)</a:t>
            </a:r>
            <a:endParaRPr lang="en-US" sz="950" dirty="0"/>
          </a:p>
        </p:txBody>
      </p:sp>
      <p:sp>
        <p:nvSpPr>
          <p:cNvPr id="10" name="Shape 6"/>
          <p:cNvSpPr/>
          <p:nvPr/>
        </p:nvSpPr>
        <p:spPr>
          <a:xfrm>
            <a:off x="5257800" y="2578608"/>
            <a:ext cx="3474720" cy="914400"/>
          </a:xfrm>
          <a:prstGeom prst="roundRect">
            <a:avLst>
              <a:gd name="adj" fmla="val 8000"/>
            </a:avLst>
          </a:prstGeom>
          <a:solidFill>
            <a:srgbClr val="FBE9DD"/>
          </a:solidFill>
          <a:ln/>
        </p:spPr>
      </p:sp>
      <p:sp>
        <p:nvSpPr>
          <p:cNvPr id="11" name="Text 7"/>
          <p:cNvSpPr/>
          <p:nvPr/>
        </p:nvSpPr>
        <p:spPr>
          <a:xfrm>
            <a:off x="5440680" y="2578608"/>
            <a:ext cx="3108960" cy="914400"/>
          </a:xfrm>
          <a:prstGeom prst="rect">
            <a:avLst/>
          </a:prstGeom>
          <a:noFill/>
          <a:ln/>
        </p:spPr>
        <p:txBody>
          <a:bodyPr wrap="square" lIns="0" tIns="0" rIns="0" bIns="0" rtlCol="0" anchor="ctr"/>
          <a:lstStyle/>
          <a:p>
            <a:pPr indent="0" marL="0">
              <a:lnSpc>
                <a:spcPct val="115000"/>
              </a:lnSpc>
              <a:buNone/>
            </a:pPr>
            <a:r>
              <a:rPr lang="en-US" sz="950" dirty="0">
                <a:solidFill>
                  <a:srgbClr val="7A3A1A"/>
                </a:solidFill>
                <a:latin typeface="Arial" pitchFamily="34" charset="0"/>
                <a:ea typeface="Arial" pitchFamily="34" charset="-122"/>
                <a:cs typeface="Arial" pitchFamily="34" charset="-120"/>
              </a:rPr>
              <a:t>Réponse à chaque avis Google dans les 12h, même en automatique pour les notes 4–5.</a:t>
            </a:r>
            <a:endParaRPr lang="en-US" sz="950" dirty="0"/>
          </a:p>
        </p:txBody>
      </p:sp>
      <p:sp>
        <p:nvSpPr>
          <p:cNvPr id="12" name="Text 8"/>
          <p:cNvSpPr/>
          <p:nvPr/>
        </p:nvSpPr>
        <p:spPr>
          <a:xfrm>
            <a:off x="5257800" y="3611880"/>
            <a:ext cx="3474720" cy="594360"/>
          </a:xfrm>
          <a:prstGeom prst="rect">
            <a:avLst/>
          </a:prstGeom>
          <a:noFill/>
          <a:ln/>
        </p:spPr>
        <p:txBody>
          <a:bodyPr wrap="square" lIns="0" tIns="0" rIns="0" bIns="0" rtlCol="0" anchor="ctr"/>
          <a:lstStyle/>
          <a:p>
            <a:pPr indent="0" marL="0">
              <a:lnSpc>
                <a:spcPct val="120000"/>
              </a:lnSpc>
              <a:buNone/>
            </a:pPr>
            <a:r>
              <a:rPr lang="en-US" sz="900" i="1" dirty="0">
                <a:solidFill>
                  <a:srgbClr val="5B6B73"/>
                </a:solidFill>
                <a:latin typeface="Arial" pitchFamily="34" charset="0"/>
                <a:ea typeface="Arial" pitchFamily="34" charset="-122"/>
                <a:cs typeface="Arial" pitchFamily="34" charset="-120"/>
              </a:rPr>
              <a:t>Résultats mesurés sur 2 mois d’accompagnement, sur un seul client : des signaux précoces robustes, pas encore une preuve de performance à grande échelle.</a:t>
            </a:r>
            <a:endParaRPr lang="en-US" sz="900" dirty="0"/>
          </a:p>
        </p:txBody>
      </p:sp>
      <p:sp>
        <p:nvSpPr>
          <p:cNvPr id="13" name="Text 9"/>
          <p:cNvSpPr/>
          <p:nvPr/>
        </p:nvSpPr>
        <p:spPr>
          <a:xfrm>
            <a:off x="411480" y="4343400"/>
            <a:ext cx="8321040" cy="411480"/>
          </a:xfrm>
          <a:prstGeom prst="rect">
            <a:avLst/>
          </a:prstGeom>
          <a:noFill/>
          <a:ln/>
        </p:spPr>
        <p:txBody>
          <a:bodyPr wrap="square" lIns="0" tIns="0" rIns="0" bIns="0" rtlCol="0" anchor="ctr"/>
          <a:lstStyle/>
          <a:p>
            <a:pPr indent="0" marL="0">
              <a:lnSpc>
                <a:spcPct val="115000"/>
              </a:lnSpc>
              <a:buNone/>
            </a:pPr>
            <a:r>
              <a:rPr lang="en-US" sz="1050" i="1" dirty="0">
                <a:solidFill>
                  <a:srgbClr val="1C7293"/>
                </a:solidFill>
                <a:latin typeface="Arial" pitchFamily="34" charset="0"/>
                <a:ea typeface="Arial" pitchFamily="34" charset="-122"/>
                <a:cs typeface="Arial" pitchFamily="34" charset="-120"/>
              </a:rPr>
              <a:t>La donnée chiffrée comme levier commercial : la rapidité du résultat crée un « effet wow » qui facilite la confiance pour les leviers plus lents (SEO, email automation).</a:t>
            </a:r>
            <a:endParaRPr lang="en-US" sz="1050" dirty="0"/>
          </a:p>
        </p:txBody>
      </p:sp>
      <p:sp>
        <p:nvSpPr>
          <p:cNvPr id="14" name="Text 10"/>
          <p:cNvSpPr/>
          <p:nvPr/>
        </p:nvSpPr>
        <p:spPr>
          <a:xfrm>
            <a:off x="411480" y="4864608"/>
            <a:ext cx="4114800" cy="228600"/>
          </a:xfrm>
          <a:prstGeom prst="rect">
            <a:avLst/>
          </a:prstGeom>
          <a:noFill/>
          <a:ln/>
        </p:spPr>
        <p:txBody>
          <a:bodyPr wrap="square" lIns="0" tIns="0" rIns="0" bIns="0" rtlCol="0" anchor="ctr"/>
          <a:lstStyle/>
          <a:p>
            <a:pPr algn="l" indent="0" marL="0">
              <a:buNone/>
            </a:pPr>
            <a:r>
              <a:rPr lang="en-US" sz="800" dirty="0">
                <a:solidFill>
                  <a:srgbClr val="9AA9AE"/>
                </a:solidFill>
                <a:latin typeface="Arial" pitchFamily="34" charset="0"/>
                <a:ea typeface="Arial" pitchFamily="34" charset="-122"/>
                <a:cs typeface="Arial" pitchFamily="34" charset="-120"/>
              </a:rPr>
              <a:t>Rapport de mission — SPOUTNIK S62 — Pascal Varomme</a:t>
            </a:r>
            <a:endParaRPr lang="en-US" sz="800" dirty="0"/>
          </a:p>
        </p:txBody>
      </p:sp>
      <p:sp>
        <p:nvSpPr>
          <p:cNvPr id="15" name="Text 11"/>
          <p:cNvSpPr/>
          <p:nvPr/>
        </p:nvSpPr>
        <p:spPr>
          <a:xfrm>
            <a:off x="8366760" y="4864608"/>
            <a:ext cx="365760" cy="228600"/>
          </a:xfrm>
          <a:prstGeom prst="rect">
            <a:avLst/>
          </a:prstGeom>
          <a:noFill/>
          <a:ln/>
        </p:spPr>
        <p:txBody>
          <a:bodyPr wrap="square" lIns="0" tIns="0" rIns="0" bIns="0" rtlCol="0" anchor="ctr"/>
          <a:lstStyle/>
          <a:p>
            <a:pPr algn="r" indent="0" marL="0">
              <a:buNone/>
            </a:pPr>
            <a:r>
              <a:rPr lang="en-US" sz="800" dirty="0">
                <a:solidFill>
                  <a:srgbClr val="9AA9AE"/>
                </a:solidFill>
                <a:latin typeface="Arial" pitchFamily="34" charset="0"/>
                <a:ea typeface="Arial" pitchFamily="34" charset="-122"/>
                <a:cs typeface="Arial" pitchFamily="34" charset="-120"/>
              </a:rPr>
              <a:t>11</a:t>
            </a:r>
            <a:endParaRPr lang="en-US" sz="800" dirty="0"/>
          </a:p>
        </p:txBody>
      </p:sp>
      <p:sp>
        <p:nvSpPr>
          <p:cNvPr id="16" name="Shape 12"/>
          <p:cNvSpPr/>
          <p:nvPr/>
        </p:nvSpPr>
        <p:spPr>
          <a:xfrm>
            <a:off x="6583680" y="406908"/>
            <a:ext cx="82296" cy="82296"/>
          </a:xfrm>
          <a:prstGeom prst="ellipse">
            <a:avLst/>
          </a:prstGeom>
          <a:solidFill>
            <a:srgbClr val="C7D6DB"/>
          </a:solidFill>
          <a:ln/>
        </p:spPr>
      </p:sp>
      <p:sp>
        <p:nvSpPr>
          <p:cNvPr id="17" name="Shape 13"/>
          <p:cNvSpPr/>
          <p:nvPr/>
        </p:nvSpPr>
        <p:spPr>
          <a:xfrm>
            <a:off x="6624828" y="448056"/>
            <a:ext cx="434340" cy="0"/>
          </a:xfrm>
          <a:prstGeom prst="line">
            <a:avLst/>
          </a:prstGeom>
          <a:noFill/>
          <a:ln w="12700">
            <a:solidFill>
              <a:srgbClr val="C7D6DB"/>
            </a:solidFill>
            <a:prstDash val="solid"/>
          </a:ln>
        </p:spPr>
      </p:sp>
      <p:sp>
        <p:nvSpPr>
          <p:cNvPr id="18" name="Shape 14"/>
          <p:cNvSpPr/>
          <p:nvPr/>
        </p:nvSpPr>
        <p:spPr>
          <a:xfrm>
            <a:off x="7100316" y="406908"/>
            <a:ext cx="82296" cy="82296"/>
          </a:xfrm>
          <a:prstGeom prst="ellipse">
            <a:avLst/>
          </a:prstGeom>
          <a:solidFill>
            <a:srgbClr val="C7D6DB"/>
          </a:solidFill>
          <a:ln/>
        </p:spPr>
      </p:sp>
      <p:sp>
        <p:nvSpPr>
          <p:cNvPr id="19" name="Shape 15"/>
          <p:cNvSpPr/>
          <p:nvPr/>
        </p:nvSpPr>
        <p:spPr>
          <a:xfrm>
            <a:off x="7141464" y="448056"/>
            <a:ext cx="434340" cy="0"/>
          </a:xfrm>
          <a:prstGeom prst="line">
            <a:avLst/>
          </a:prstGeom>
          <a:noFill/>
          <a:ln w="12700">
            <a:solidFill>
              <a:srgbClr val="C7D6DB"/>
            </a:solidFill>
            <a:prstDash val="solid"/>
          </a:ln>
        </p:spPr>
      </p:sp>
      <p:sp>
        <p:nvSpPr>
          <p:cNvPr id="20" name="Shape 16"/>
          <p:cNvSpPr/>
          <p:nvPr/>
        </p:nvSpPr>
        <p:spPr>
          <a:xfrm>
            <a:off x="7616952" y="406908"/>
            <a:ext cx="82296" cy="82296"/>
          </a:xfrm>
          <a:prstGeom prst="ellipse">
            <a:avLst/>
          </a:prstGeom>
          <a:solidFill>
            <a:srgbClr val="C7D6DB"/>
          </a:solidFill>
          <a:ln/>
        </p:spPr>
      </p:sp>
      <p:sp>
        <p:nvSpPr>
          <p:cNvPr id="21" name="Shape 17"/>
          <p:cNvSpPr/>
          <p:nvPr/>
        </p:nvSpPr>
        <p:spPr>
          <a:xfrm>
            <a:off x="7658100" y="448056"/>
            <a:ext cx="434340" cy="0"/>
          </a:xfrm>
          <a:prstGeom prst="line">
            <a:avLst/>
          </a:prstGeom>
          <a:noFill/>
          <a:ln w="12700">
            <a:solidFill>
              <a:srgbClr val="C7D6DB"/>
            </a:solidFill>
            <a:prstDash val="solid"/>
          </a:ln>
        </p:spPr>
      </p:sp>
      <p:sp>
        <p:nvSpPr>
          <p:cNvPr id="22" name="Shape 18"/>
          <p:cNvSpPr/>
          <p:nvPr/>
        </p:nvSpPr>
        <p:spPr>
          <a:xfrm>
            <a:off x="8133588" y="406908"/>
            <a:ext cx="82296" cy="82296"/>
          </a:xfrm>
          <a:prstGeom prst="ellipse">
            <a:avLst/>
          </a:prstGeom>
          <a:solidFill>
            <a:srgbClr val="E8743B"/>
          </a:solidFill>
          <a:ln/>
        </p:spPr>
      </p:sp>
      <p:sp>
        <p:nvSpPr>
          <p:cNvPr id="23" name="Shape 19"/>
          <p:cNvSpPr/>
          <p:nvPr/>
        </p:nvSpPr>
        <p:spPr>
          <a:xfrm>
            <a:off x="8174736" y="448056"/>
            <a:ext cx="434340" cy="0"/>
          </a:xfrm>
          <a:prstGeom prst="line">
            <a:avLst/>
          </a:prstGeom>
          <a:noFill/>
          <a:ln w="12700">
            <a:solidFill>
              <a:srgbClr val="C7D6DB"/>
            </a:solidFill>
            <a:prstDash val="solid"/>
          </a:ln>
        </p:spPr>
      </p:sp>
      <p:sp>
        <p:nvSpPr>
          <p:cNvPr id="24" name="Shape 20"/>
          <p:cNvSpPr/>
          <p:nvPr/>
        </p:nvSpPr>
        <p:spPr>
          <a:xfrm>
            <a:off x="8650224" y="406908"/>
            <a:ext cx="82296" cy="82296"/>
          </a:xfrm>
          <a:prstGeom prst="ellipse">
            <a:avLst/>
          </a:prstGeom>
          <a:solidFill>
            <a:srgbClr val="C7D6DB"/>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92608"/>
            <a:ext cx="8321040" cy="256032"/>
          </a:xfrm>
          <a:prstGeom prst="rect">
            <a:avLst/>
          </a:prstGeom>
          <a:noFill/>
          <a:ln/>
        </p:spPr>
        <p:txBody>
          <a:bodyPr wrap="square" lIns="0" tIns="0" rIns="0" bIns="0" rtlCol="0" anchor="ctr"/>
          <a:lstStyle/>
          <a:p>
            <a:pPr indent="0" marL="0">
              <a:buNone/>
            </a:pPr>
            <a:r>
              <a:rPr lang="en-US" sz="1100" b="1" spc="150" kern="0" dirty="0">
                <a:solidFill>
                  <a:srgbClr val="E8743B"/>
                </a:solidFill>
                <a:latin typeface="Arial" pitchFamily="34" charset="0"/>
                <a:ea typeface="Arial" pitchFamily="34" charset="-122"/>
                <a:cs typeface="Arial" pitchFamily="34" charset="-120"/>
              </a:rPr>
              <a:t>PARTIE 3 — ACTION 2</a:t>
            </a:r>
            <a:endParaRPr lang="en-US" sz="1100" dirty="0"/>
          </a:p>
        </p:txBody>
      </p:sp>
      <p:sp>
        <p:nvSpPr>
          <p:cNvPr id="3" name="Text 1"/>
          <p:cNvSpPr/>
          <p:nvPr/>
        </p:nvSpPr>
        <p:spPr>
          <a:xfrm>
            <a:off x="411480" y="530352"/>
            <a:ext cx="8321040" cy="566928"/>
          </a:xfrm>
          <a:prstGeom prst="rect">
            <a:avLst/>
          </a:prstGeom>
          <a:noFill/>
          <a:ln/>
        </p:spPr>
        <p:txBody>
          <a:bodyPr wrap="square" lIns="0" tIns="0" rIns="0" bIns="0" rtlCol="0" anchor="t"/>
          <a:lstStyle/>
          <a:p>
            <a:pPr indent="0" marL="0">
              <a:buNone/>
            </a:pPr>
            <a:r>
              <a:rPr lang="en-US" sz="2500" b="1" dirty="0">
                <a:solidFill>
                  <a:srgbClr val="0B3D5C"/>
                </a:solidFill>
                <a:latin typeface="Arial" pitchFamily="34" charset="0"/>
                <a:ea typeface="Arial" pitchFamily="34" charset="-122"/>
                <a:cs typeface="Arial" pitchFamily="34" charset="-120"/>
              </a:rPr>
              <a:t>La Maison du Bosquet : un cas qui change les règles</a:t>
            </a:r>
            <a:endParaRPr lang="en-US" sz="2500" dirty="0"/>
          </a:p>
        </p:txBody>
      </p:sp>
      <p:sp>
        <p:nvSpPr>
          <p:cNvPr id="4" name="Shape 2"/>
          <p:cNvSpPr/>
          <p:nvPr/>
        </p:nvSpPr>
        <p:spPr>
          <a:xfrm>
            <a:off x="411480" y="1078992"/>
            <a:ext cx="3931920" cy="1691640"/>
          </a:xfrm>
          <a:prstGeom prst="roundRect">
            <a:avLst>
              <a:gd name="adj" fmla="val 4324"/>
            </a:avLst>
          </a:prstGeom>
          <a:solidFill>
            <a:srgbClr val="EDF2F4"/>
          </a:solidFill>
          <a:ln/>
          <a:effectLst>
            <a:outerShdw sx="100000" sy="100000" kx="0" ky="0" algn="bl" rotWithShape="0" blurRad="88900" dist="25400" dir="5400000">
              <a:srgbClr val="0B3D5C">
                <a:alpha val="12000"/>
              </a:srgbClr>
            </a:outerShdw>
          </a:effectLst>
        </p:spPr>
      </p:sp>
      <p:sp>
        <p:nvSpPr>
          <p:cNvPr id="5" name="Shape 3"/>
          <p:cNvSpPr/>
          <p:nvPr/>
        </p:nvSpPr>
        <p:spPr>
          <a:xfrm>
            <a:off x="630936" y="1261872"/>
            <a:ext cx="502920" cy="502920"/>
          </a:xfrm>
          <a:prstGeom prst="ellipse">
            <a:avLst/>
          </a:prstGeom>
          <a:solidFill>
            <a:srgbClr val="0B3D5C"/>
          </a:solidFill>
          <a:ln/>
        </p:spPr>
      </p:sp>
      <p:pic>
        <p:nvPicPr>
          <p:cNvPr id="6" name="Image 0" descr="preencoded.png">    </p:cNvPr>
          <p:cNvPicPr>
            <a:picLocks noChangeAspect="1"/>
          </p:cNvPicPr>
          <p:nvPr/>
        </p:nvPicPr>
        <p:blipFill>
          <a:blip r:embed="rId1"/>
          <a:stretch>
            <a:fillRect/>
          </a:stretch>
        </p:blipFill>
        <p:spPr>
          <a:xfrm>
            <a:off x="761695" y="1392631"/>
            <a:ext cx="241402" cy="241402"/>
          </a:xfrm>
          <a:prstGeom prst="rect">
            <a:avLst/>
          </a:prstGeom>
        </p:spPr>
      </p:pic>
      <p:sp>
        <p:nvSpPr>
          <p:cNvPr id="7" name="Text 4"/>
          <p:cNvSpPr/>
          <p:nvPr/>
        </p:nvSpPr>
        <p:spPr>
          <a:xfrm>
            <a:off x="1280160" y="1280160"/>
            <a:ext cx="2926080" cy="457200"/>
          </a:xfrm>
          <a:prstGeom prst="rect">
            <a:avLst/>
          </a:prstGeom>
          <a:noFill/>
          <a:ln/>
        </p:spPr>
        <p:txBody>
          <a:bodyPr wrap="square" lIns="0" tIns="0" rIns="0" bIns="0" rtlCol="0" anchor="ctr"/>
          <a:lstStyle/>
          <a:p>
            <a:pPr indent="0" marL="0">
              <a:lnSpc>
                <a:spcPct val="100000"/>
              </a:lnSpc>
              <a:buNone/>
            </a:pPr>
            <a:r>
              <a:rPr lang="en-US" sz="1250" b="1" dirty="0">
                <a:solidFill>
                  <a:srgbClr val="0B3D5C"/>
                </a:solidFill>
                <a:latin typeface="Arial" pitchFamily="34" charset="0"/>
                <a:ea typeface="Arial" pitchFamily="34" charset="-122"/>
                <a:cs typeface="Arial" pitchFamily="34" charset="-120"/>
              </a:rPr>
              <a:t>Yoan Pereira — La Maison du Bosquet</a:t>
            </a:r>
            <a:endParaRPr lang="en-US" sz="1250" dirty="0"/>
          </a:p>
        </p:txBody>
      </p:sp>
      <p:sp>
        <p:nvSpPr>
          <p:cNvPr id="8" name="Text 5"/>
          <p:cNvSpPr/>
          <p:nvPr/>
        </p:nvSpPr>
        <p:spPr>
          <a:xfrm>
            <a:off x="630936" y="1901952"/>
            <a:ext cx="3520440" cy="868680"/>
          </a:xfrm>
          <a:prstGeom prst="rect">
            <a:avLst/>
          </a:prstGeom>
          <a:noFill/>
          <a:ln/>
        </p:spPr>
        <p:txBody>
          <a:bodyPr wrap="square" lIns="0" tIns="0" rIns="0" bIns="0" rtlCol="0" anchor="t"/>
          <a:lstStyle/>
          <a:p>
            <a:pPr indent="0" marL="0">
              <a:lnSpc>
                <a:spcPct val="125000"/>
              </a:lnSpc>
              <a:buNone/>
            </a:pPr>
            <a:r>
              <a:rPr lang="en-US" sz="1000" dirty="0">
                <a:solidFill>
                  <a:srgbClr val="5B6B73"/>
                </a:solidFill>
                <a:latin typeface="Arial" pitchFamily="34" charset="0"/>
                <a:ea typeface="Arial" pitchFamily="34" charset="-122"/>
                <a:cs typeface="Arial" pitchFamily="34" charset="-120"/>
              </a:rPr>
              <a:t>Carnon · cabinet de kinésithérapie sportive + activités sportives (yoga, padel)</a:t>
            </a:r>
            <a:endParaRPr lang="en-US" sz="1000" dirty="0"/>
          </a:p>
          <a:p>
            <a:pPr indent="0" marL="0">
              <a:lnSpc>
                <a:spcPct val="125000"/>
              </a:lnSpc>
              <a:buNone/>
            </a:pPr>
            <a:r>
              <a:rPr lang="en-US" sz="1000" dirty="0">
                <a:solidFill>
                  <a:srgbClr val="5B6B73"/>
                </a:solidFill>
                <a:latin typeface="Arial" pitchFamily="34" charset="0"/>
                <a:ea typeface="Arial" pitchFamily="34" charset="-122"/>
                <a:cs typeface="Arial" pitchFamily="34" charset="-120"/>
              </a:rPr>
              <a:t>Taux de remplissage des activités sportives : 30 %</a:t>
            </a:r>
            <a:endParaRPr lang="en-US" sz="1000" dirty="0"/>
          </a:p>
          <a:p>
            <a:pPr indent="0" marL="0">
              <a:lnSpc>
                <a:spcPct val="125000"/>
              </a:lnSpc>
              <a:buNone/>
            </a:pPr>
            <a:r>
              <a:rPr lang="en-US" sz="1000" dirty="0">
                <a:solidFill>
                  <a:srgbClr val="5B6B73"/>
                </a:solidFill>
                <a:latin typeface="Arial" pitchFamily="34" charset="0"/>
                <a:ea typeface="Arial" pitchFamily="34" charset="-122"/>
                <a:cs typeface="Arial" pitchFamily="34" charset="-120"/>
              </a:rPr>
              <a:t>Logiciel utilisé : B-Sport (concurrent) — confirme le modèle market-agnostic</a:t>
            </a:r>
            <a:endParaRPr lang="en-US" sz="1000" dirty="0"/>
          </a:p>
        </p:txBody>
      </p:sp>
      <p:sp>
        <p:nvSpPr>
          <p:cNvPr id="9" name="Shape 6"/>
          <p:cNvSpPr/>
          <p:nvPr/>
        </p:nvSpPr>
        <p:spPr>
          <a:xfrm>
            <a:off x="4617720" y="1078992"/>
            <a:ext cx="4114800" cy="1691640"/>
          </a:xfrm>
          <a:prstGeom prst="roundRect">
            <a:avLst>
              <a:gd name="adj" fmla="val 4324"/>
            </a:avLst>
          </a:prstGeom>
          <a:solidFill>
            <a:srgbClr val="FBE9DD"/>
          </a:solidFill>
          <a:ln/>
          <a:effectLst>
            <a:outerShdw sx="100000" sy="100000" kx="0" ky="0" algn="bl" rotWithShape="0" blurRad="88900" dist="25400" dir="5400000">
              <a:srgbClr val="0B3D5C">
                <a:alpha val="12000"/>
              </a:srgbClr>
            </a:outerShdw>
          </a:effectLst>
        </p:spPr>
      </p:sp>
      <p:sp>
        <p:nvSpPr>
          <p:cNvPr id="10" name="Shape 7"/>
          <p:cNvSpPr/>
          <p:nvPr/>
        </p:nvSpPr>
        <p:spPr>
          <a:xfrm>
            <a:off x="4837176" y="1261872"/>
            <a:ext cx="502920" cy="502920"/>
          </a:xfrm>
          <a:prstGeom prst="ellipse">
            <a:avLst/>
          </a:prstGeom>
          <a:solidFill>
            <a:srgbClr val="E8743B"/>
          </a:solidFill>
          <a:ln/>
        </p:spPr>
      </p:sp>
      <p:pic>
        <p:nvPicPr>
          <p:cNvPr id="11" name="Image 1" descr="preencoded.png">    </p:cNvPr>
          <p:cNvPicPr>
            <a:picLocks noChangeAspect="1"/>
          </p:cNvPicPr>
          <p:nvPr/>
        </p:nvPicPr>
        <p:blipFill>
          <a:blip r:embed="rId2"/>
          <a:stretch>
            <a:fillRect/>
          </a:stretch>
        </p:blipFill>
        <p:spPr>
          <a:xfrm>
            <a:off x="4967935" y="1392631"/>
            <a:ext cx="241402" cy="241402"/>
          </a:xfrm>
          <a:prstGeom prst="rect">
            <a:avLst/>
          </a:prstGeom>
        </p:spPr>
      </p:pic>
      <p:sp>
        <p:nvSpPr>
          <p:cNvPr id="12" name="Text 8"/>
          <p:cNvSpPr/>
          <p:nvPr/>
        </p:nvSpPr>
        <p:spPr>
          <a:xfrm>
            <a:off x="5486400" y="1280160"/>
            <a:ext cx="3108960" cy="365760"/>
          </a:xfrm>
          <a:prstGeom prst="rect">
            <a:avLst/>
          </a:prstGeom>
          <a:noFill/>
          <a:ln/>
        </p:spPr>
        <p:txBody>
          <a:bodyPr wrap="square" lIns="0" tIns="0" rIns="0" bIns="0" rtlCol="0" anchor="ctr"/>
          <a:lstStyle/>
          <a:p>
            <a:pPr indent="0" marL="0">
              <a:buNone/>
            </a:pPr>
            <a:r>
              <a:rPr lang="en-US" sz="1250" b="1" dirty="0">
                <a:solidFill>
                  <a:srgbClr val="7A3A1A"/>
                </a:solidFill>
                <a:latin typeface="Arial" pitchFamily="34" charset="0"/>
                <a:ea typeface="Arial" pitchFamily="34" charset="-122"/>
                <a:cs typeface="Arial" pitchFamily="34" charset="-120"/>
              </a:rPr>
              <a:t>Une contrainte imprévue</a:t>
            </a:r>
            <a:endParaRPr lang="en-US" sz="1250" dirty="0"/>
          </a:p>
        </p:txBody>
      </p:sp>
      <p:sp>
        <p:nvSpPr>
          <p:cNvPr id="13" name="Text 9"/>
          <p:cNvSpPr/>
          <p:nvPr/>
        </p:nvSpPr>
        <p:spPr>
          <a:xfrm>
            <a:off x="4837176" y="1783080"/>
            <a:ext cx="3703320" cy="914400"/>
          </a:xfrm>
          <a:prstGeom prst="rect">
            <a:avLst/>
          </a:prstGeom>
          <a:noFill/>
          <a:ln/>
        </p:spPr>
        <p:txBody>
          <a:bodyPr wrap="square" lIns="0" tIns="0" rIns="0" bIns="0" rtlCol="0" anchor="t"/>
          <a:lstStyle/>
          <a:p>
            <a:pPr indent="0" marL="0">
              <a:lnSpc>
                <a:spcPct val="120000"/>
              </a:lnSpc>
              <a:buNone/>
            </a:pPr>
            <a:r>
              <a:rPr lang="en-US" sz="1000" dirty="0">
                <a:solidFill>
                  <a:srgbClr val="7A3A1A"/>
                </a:solidFill>
                <a:latin typeface="Arial" pitchFamily="34" charset="0"/>
                <a:ea typeface="Arial" pitchFamily="34" charset="-122"/>
                <a:cs typeface="Arial" pitchFamily="34" charset="-120"/>
              </a:rPr>
              <a:t>Le Code de déontologie des masseurs-kinésithérapeutes encadre strictement la communication commerciale. Premier chantier : séparer digitalement le cabinet médical et les activités sportives avant toute action d’acquisition.</a:t>
            </a:r>
            <a:endParaRPr lang="en-US" sz="1000" dirty="0"/>
          </a:p>
        </p:txBody>
      </p:sp>
      <p:sp>
        <p:nvSpPr>
          <p:cNvPr id="14" name="Text 10"/>
          <p:cNvSpPr/>
          <p:nvPr/>
        </p:nvSpPr>
        <p:spPr>
          <a:xfrm>
            <a:off x="411480" y="3017520"/>
            <a:ext cx="8321040" cy="274320"/>
          </a:xfrm>
          <a:prstGeom prst="rect">
            <a:avLst/>
          </a:prstGeom>
          <a:noFill/>
          <a:ln/>
        </p:spPr>
        <p:txBody>
          <a:bodyPr wrap="square" lIns="0" tIns="0" rIns="0" bIns="0" rtlCol="0" anchor="ctr"/>
          <a:lstStyle/>
          <a:p>
            <a:pPr indent="0" marL="0">
              <a:buNone/>
            </a:pPr>
            <a:r>
              <a:rPr lang="en-US" sz="1300" b="1" dirty="0">
                <a:solidFill>
                  <a:srgbClr val="0B3D5C"/>
                </a:solidFill>
                <a:latin typeface="Arial" pitchFamily="34" charset="0"/>
                <a:ea typeface="Arial" pitchFamily="34" charset="-122"/>
                <a:cs typeface="Arial" pitchFamily="34" charset="-120"/>
              </a:rPr>
              <a:t>Une innovation commerciale</a:t>
            </a:r>
            <a:endParaRPr lang="en-US" sz="1300" dirty="0"/>
          </a:p>
        </p:txBody>
      </p:sp>
      <p:sp>
        <p:nvSpPr>
          <p:cNvPr id="15" name="Shape 11"/>
          <p:cNvSpPr/>
          <p:nvPr/>
        </p:nvSpPr>
        <p:spPr>
          <a:xfrm>
            <a:off x="411480" y="3364992"/>
            <a:ext cx="411480" cy="411480"/>
          </a:xfrm>
          <a:prstGeom prst="ellipse">
            <a:avLst/>
          </a:prstGeom>
          <a:solidFill>
            <a:srgbClr val="1C7293"/>
          </a:solidFill>
          <a:ln/>
        </p:spPr>
      </p:sp>
      <p:pic>
        <p:nvPicPr>
          <p:cNvPr id="16" name="Image 2" descr="preencoded.png">    </p:cNvPr>
          <p:cNvPicPr>
            <a:picLocks noChangeAspect="1"/>
          </p:cNvPicPr>
          <p:nvPr/>
        </p:nvPicPr>
        <p:blipFill>
          <a:blip r:embed="rId3"/>
          <a:stretch>
            <a:fillRect/>
          </a:stretch>
        </p:blipFill>
        <p:spPr>
          <a:xfrm>
            <a:off x="518465" y="3471977"/>
            <a:ext cx="197510" cy="197510"/>
          </a:xfrm>
          <a:prstGeom prst="rect">
            <a:avLst/>
          </a:prstGeom>
        </p:spPr>
      </p:pic>
      <p:sp>
        <p:nvSpPr>
          <p:cNvPr id="17" name="Text 12"/>
          <p:cNvSpPr/>
          <p:nvPr/>
        </p:nvSpPr>
        <p:spPr>
          <a:xfrm>
            <a:off x="960120" y="3364992"/>
            <a:ext cx="7726680" cy="685800"/>
          </a:xfrm>
          <a:prstGeom prst="rect">
            <a:avLst/>
          </a:prstGeom>
          <a:noFill/>
          <a:ln/>
        </p:spPr>
        <p:txBody>
          <a:bodyPr wrap="square" lIns="0" tIns="0" rIns="0" bIns="0" rtlCol="0" anchor="t"/>
          <a:lstStyle/>
          <a:p>
            <a:pPr indent="0" marL="0">
              <a:lnSpc>
                <a:spcPct val="120000"/>
              </a:lnSpc>
              <a:buNone/>
            </a:pPr>
            <a:r>
              <a:rPr lang="en-US" sz="1050" dirty="0">
                <a:solidFill>
                  <a:srgbClr val="5B6B73"/>
                </a:solidFill>
                <a:latin typeface="Arial" pitchFamily="34" charset="0"/>
                <a:ea typeface="Arial" pitchFamily="34" charset="-122"/>
                <a:cs typeface="Arial" pitchFamily="34" charset="-120"/>
              </a:rPr>
              <a:t>Plutôt qu’une présentation PowerPoint générique, le prospect reçoit une landing page personnalisée déployée sur Vercel, reprenant sa propre charte graphique — cohérent avec une offre qui vend de la maîtrise du digital.</a:t>
            </a:r>
            <a:endParaRPr lang="en-US" sz="1050" dirty="0"/>
          </a:p>
        </p:txBody>
      </p:sp>
      <p:sp>
        <p:nvSpPr>
          <p:cNvPr id="18" name="Shape 13"/>
          <p:cNvSpPr/>
          <p:nvPr/>
        </p:nvSpPr>
        <p:spPr>
          <a:xfrm>
            <a:off x="411480" y="4224528"/>
            <a:ext cx="8321040" cy="457200"/>
          </a:xfrm>
          <a:prstGeom prst="roundRect">
            <a:avLst>
              <a:gd name="adj" fmla="val 12000"/>
            </a:avLst>
          </a:prstGeom>
          <a:solidFill>
            <a:srgbClr val="EDF2F4"/>
          </a:solidFill>
          <a:ln/>
        </p:spPr>
      </p:sp>
      <p:sp>
        <p:nvSpPr>
          <p:cNvPr id="19" name="Text 14"/>
          <p:cNvSpPr/>
          <p:nvPr/>
        </p:nvSpPr>
        <p:spPr>
          <a:xfrm>
            <a:off x="594360" y="4224528"/>
            <a:ext cx="7955280" cy="457200"/>
          </a:xfrm>
          <a:prstGeom prst="rect">
            <a:avLst/>
          </a:prstGeom>
          <a:noFill/>
          <a:ln/>
        </p:spPr>
        <p:txBody>
          <a:bodyPr wrap="square" lIns="0" tIns="0" rIns="0" bIns="0" rtlCol="0" anchor="ctr"/>
          <a:lstStyle/>
          <a:p>
            <a:pPr indent="0" marL="0">
              <a:buNone/>
            </a:pPr>
            <a:r>
              <a:rPr lang="en-US" sz="1000" i="1" dirty="0">
                <a:solidFill>
                  <a:srgbClr val="5B6B73"/>
                </a:solidFill>
                <a:latin typeface="Arial" pitchFamily="34" charset="0"/>
                <a:ea typeface="Arial" pitchFamily="34" charset="-122"/>
                <a:cs typeface="Arial" pitchFamily="34" charset="-120"/>
              </a:rPr>
              <a:t>Statut : démarrage le 1er juin 2026. À ce stade, aucun résultat n’est encore mesurable — le premier chantier porte sur la conformité déontologique.</a:t>
            </a:r>
            <a:endParaRPr lang="en-US" sz="1000" dirty="0"/>
          </a:p>
        </p:txBody>
      </p:sp>
      <p:sp>
        <p:nvSpPr>
          <p:cNvPr id="20" name="Text 15"/>
          <p:cNvSpPr/>
          <p:nvPr/>
        </p:nvSpPr>
        <p:spPr>
          <a:xfrm>
            <a:off x="411480" y="4864608"/>
            <a:ext cx="4114800" cy="228600"/>
          </a:xfrm>
          <a:prstGeom prst="rect">
            <a:avLst/>
          </a:prstGeom>
          <a:noFill/>
          <a:ln/>
        </p:spPr>
        <p:txBody>
          <a:bodyPr wrap="square" lIns="0" tIns="0" rIns="0" bIns="0" rtlCol="0" anchor="ctr"/>
          <a:lstStyle/>
          <a:p>
            <a:pPr algn="l" indent="0" marL="0">
              <a:buNone/>
            </a:pPr>
            <a:r>
              <a:rPr lang="en-US" sz="800" dirty="0">
                <a:solidFill>
                  <a:srgbClr val="9AA9AE"/>
                </a:solidFill>
                <a:latin typeface="Arial" pitchFamily="34" charset="0"/>
                <a:ea typeface="Arial" pitchFamily="34" charset="-122"/>
                <a:cs typeface="Arial" pitchFamily="34" charset="-120"/>
              </a:rPr>
              <a:t>Rapport de mission — SPOUTNIK S62 — Pascal Varomme</a:t>
            </a:r>
            <a:endParaRPr lang="en-US" sz="800" dirty="0"/>
          </a:p>
        </p:txBody>
      </p:sp>
      <p:sp>
        <p:nvSpPr>
          <p:cNvPr id="21" name="Text 16"/>
          <p:cNvSpPr/>
          <p:nvPr/>
        </p:nvSpPr>
        <p:spPr>
          <a:xfrm>
            <a:off x="8366760" y="4864608"/>
            <a:ext cx="365760" cy="228600"/>
          </a:xfrm>
          <a:prstGeom prst="rect">
            <a:avLst/>
          </a:prstGeom>
          <a:noFill/>
          <a:ln/>
        </p:spPr>
        <p:txBody>
          <a:bodyPr wrap="square" lIns="0" tIns="0" rIns="0" bIns="0" rtlCol="0" anchor="ctr"/>
          <a:lstStyle/>
          <a:p>
            <a:pPr algn="r" indent="0" marL="0">
              <a:buNone/>
            </a:pPr>
            <a:r>
              <a:rPr lang="en-US" sz="800" dirty="0">
                <a:solidFill>
                  <a:srgbClr val="9AA9AE"/>
                </a:solidFill>
                <a:latin typeface="Arial" pitchFamily="34" charset="0"/>
                <a:ea typeface="Arial" pitchFamily="34" charset="-122"/>
                <a:cs typeface="Arial" pitchFamily="34" charset="-120"/>
              </a:rPr>
              <a:t>12</a:t>
            </a:r>
            <a:endParaRPr lang="en-US" sz="800" dirty="0"/>
          </a:p>
        </p:txBody>
      </p:sp>
      <p:sp>
        <p:nvSpPr>
          <p:cNvPr id="22" name="Shape 17"/>
          <p:cNvSpPr/>
          <p:nvPr/>
        </p:nvSpPr>
        <p:spPr>
          <a:xfrm>
            <a:off x="6583680" y="406908"/>
            <a:ext cx="82296" cy="82296"/>
          </a:xfrm>
          <a:prstGeom prst="ellipse">
            <a:avLst/>
          </a:prstGeom>
          <a:solidFill>
            <a:srgbClr val="C7D6DB"/>
          </a:solidFill>
          <a:ln/>
        </p:spPr>
      </p:sp>
      <p:sp>
        <p:nvSpPr>
          <p:cNvPr id="23" name="Shape 18"/>
          <p:cNvSpPr/>
          <p:nvPr/>
        </p:nvSpPr>
        <p:spPr>
          <a:xfrm>
            <a:off x="6624828" y="448056"/>
            <a:ext cx="434340" cy="0"/>
          </a:xfrm>
          <a:prstGeom prst="line">
            <a:avLst/>
          </a:prstGeom>
          <a:noFill/>
          <a:ln w="12700">
            <a:solidFill>
              <a:srgbClr val="C7D6DB"/>
            </a:solidFill>
            <a:prstDash val="solid"/>
          </a:ln>
        </p:spPr>
      </p:sp>
      <p:sp>
        <p:nvSpPr>
          <p:cNvPr id="24" name="Shape 19"/>
          <p:cNvSpPr/>
          <p:nvPr/>
        </p:nvSpPr>
        <p:spPr>
          <a:xfrm>
            <a:off x="7100316" y="406908"/>
            <a:ext cx="82296" cy="82296"/>
          </a:xfrm>
          <a:prstGeom prst="ellipse">
            <a:avLst/>
          </a:prstGeom>
          <a:solidFill>
            <a:srgbClr val="C7D6DB"/>
          </a:solidFill>
          <a:ln/>
        </p:spPr>
      </p:sp>
      <p:sp>
        <p:nvSpPr>
          <p:cNvPr id="25" name="Shape 20"/>
          <p:cNvSpPr/>
          <p:nvPr/>
        </p:nvSpPr>
        <p:spPr>
          <a:xfrm>
            <a:off x="7141464" y="448056"/>
            <a:ext cx="434340" cy="0"/>
          </a:xfrm>
          <a:prstGeom prst="line">
            <a:avLst/>
          </a:prstGeom>
          <a:noFill/>
          <a:ln w="12700">
            <a:solidFill>
              <a:srgbClr val="C7D6DB"/>
            </a:solidFill>
            <a:prstDash val="solid"/>
          </a:ln>
        </p:spPr>
      </p:sp>
      <p:sp>
        <p:nvSpPr>
          <p:cNvPr id="26" name="Shape 21"/>
          <p:cNvSpPr/>
          <p:nvPr/>
        </p:nvSpPr>
        <p:spPr>
          <a:xfrm>
            <a:off x="7616952" y="406908"/>
            <a:ext cx="82296" cy="82296"/>
          </a:xfrm>
          <a:prstGeom prst="ellipse">
            <a:avLst/>
          </a:prstGeom>
          <a:solidFill>
            <a:srgbClr val="C7D6DB"/>
          </a:solidFill>
          <a:ln/>
        </p:spPr>
      </p:sp>
      <p:sp>
        <p:nvSpPr>
          <p:cNvPr id="27" name="Shape 22"/>
          <p:cNvSpPr/>
          <p:nvPr/>
        </p:nvSpPr>
        <p:spPr>
          <a:xfrm>
            <a:off x="7658100" y="448056"/>
            <a:ext cx="434340" cy="0"/>
          </a:xfrm>
          <a:prstGeom prst="line">
            <a:avLst/>
          </a:prstGeom>
          <a:noFill/>
          <a:ln w="12700">
            <a:solidFill>
              <a:srgbClr val="C7D6DB"/>
            </a:solidFill>
            <a:prstDash val="solid"/>
          </a:ln>
        </p:spPr>
      </p:sp>
      <p:sp>
        <p:nvSpPr>
          <p:cNvPr id="28" name="Shape 23"/>
          <p:cNvSpPr/>
          <p:nvPr/>
        </p:nvSpPr>
        <p:spPr>
          <a:xfrm>
            <a:off x="8133588" y="406908"/>
            <a:ext cx="82296" cy="82296"/>
          </a:xfrm>
          <a:prstGeom prst="ellipse">
            <a:avLst/>
          </a:prstGeom>
          <a:solidFill>
            <a:srgbClr val="E8743B"/>
          </a:solidFill>
          <a:ln/>
        </p:spPr>
      </p:sp>
      <p:sp>
        <p:nvSpPr>
          <p:cNvPr id="29" name="Shape 24"/>
          <p:cNvSpPr/>
          <p:nvPr/>
        </p:nvSpPr>
        <p:spPr>
          <a:xfrm>
            <a:off x="8174736" y="448056"/>
            <a:ext cx="434340" cy="0"/>
          </a:xfrm>
          <a:prstGeom prst="line">
            <a:avLst/>
          </a:prstGeom>
          <a:noFill/>
          <a:ln w="12700">
            <a:solidFill>
              <a:srgbClr val="C7D6DB"/>
            </a:solidFill>
            <a:prstDash val="solid"/>
          </a:ln>
        </p:spPr>
      </p:sp>
      <p:sp>
        <p:nvSpPr>
          <p:cNvPr id="30" name="Shape 25"/>
          <p:cNvSpPr/>
          <p:nvPr/>
        </p:nvSpPr>
        <p:spPr>
          <a:xfrm>
            <a:off x="8650224" y="406908"/>
            <a:ext cx="82296" cy="82296"/>
          </a:xfrm>
          <a:prstGeom prst="ellipse">
            <a:avLst/>
          </a:prstGeom>
          <a:solidFill>
            <a:srgbClr val="C7D6DB"/>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92608"/>
            <a:ext cx="8321040" cy="256032"/>
          </a:xfrm>
          <a:prstGeom prst="rect">
            <a:avLst/>
          </a:prstGeom>
          <a:noFill/>
          <a:ln/>
        </p:spPr>
        <p:txBody>
          <a:bodyPr wrap="square" lIns="0" tIns="0" rIns="0" bIns="0" rtlCol="0" anchor="ctr"/>
          <a:lstStyle/>
          <a:p>
            <a:pPr indent="0" marL="0">
              <a:buNone/>
            </a:pPr>
            <a:r>
              <a:rPr lang="en-US" sz="1100" b="1" spc="150" kern="0" dirty="0">
                <a:solidFill>
                  <a:srgbClr val="E8743B"/>
                </a:solidFill>
                <a:latin typeface="Arial" pitchFamily="34" charset="0"/>
                <a:ea typeface="Arial" pitchFamily="34" charset="-122"/>
                <a:cs typeface="Arial" pitchFamily="34" charset="-120"/>
              </a:rPr>
              <a:t>PARTIE 3 — RECOMMANDATIONS</a:t>
            </a:r>
            <a:endParaRPr lang="en-US" sz="1100" dirty="0"/>
          </a:p>
        </p:txBody>
      </p:sp>
      <p:sp>
        <p:nvSpPr>
          <p:cNvPr id="3" name="Text 1"/>
          <p:cNvSpPr/>
          <p:nvPr/>
        </p:nvSpPr>
        <p:spPr>
          <a:xfrm>
            <a:off x="411480" y="530352"/>
            <a:ext cx="8321040" cy="566928"/>
          </a:xfrm>
          <a:prstGeom prst="rect">
            <a:avLst/>
          </a:prstGeom>
          <a:noFill/>
          <a:ln/>
        </p:spPr>
        <p:txBody>
          <a:bodyPr wrap="square" lIns="0" tIns="0" rIns="0" bIns="0" rtlCol="0" anchor="t"/>
          <a:lstStyle/>
          <a:p>
            <a:pPr indent="0" marL="0">
              <a:buNone/>
            </a:pPr>
            <a:r>
              <a:rPr lang="en-US" sz="2500" b="1" dirty="0">
                <a:solidFill>
                  <a:srgbClr val="0B3D5C"/>
                </a:solidFill>
                <a:latin typeface="Arial" pitchFamily="34" charset="0"/>
                <a:ea typeface="Arial" pitchFamily="34" charset="-122"/>
                <a:cs typeface="Arial" pitchFamily="34" charset="-120"/>
              </a:rPr>
              <a:t>Vers 10 clients actifs à horizon 12 mois</a:t>
            </a:r>
            <a:endParaRPr lang="en-US" sz="2500" dirty="0"/>
          </a:p>
        </p:txBody>
      </p:sp>
      <p:sp>
        <p:nvSpPr>
          <p:cNvPr id="4" name="Shape 2"/>
          <p:cNvSpPr/>
          <p:nvPr/>
        </p:nvSpPr>
        <p:spPr>
          <a:xfrm>
            <a:off x="411480" y="1097280"/>
            <a:ext cx="384048" cy="384048"/>
          </a:xfrm>
          <a:prstGeom prst="ellipse">
            <a:avLst/>
          </a:prstGeom>
          <a:solidFill>
            <a:srgbClr val="E8743B"/>
          </a:solidFill>
          <a:ln/>
        </p:spPr>
      </p:sp>
      <p:sp>
        <p:nvSpPr>
          <p:cNvPr id="5" name="Text 3"/>
          <p:cNvSpPr/>
          <p:nvPr/>
        </p:nvSpPr>
        <p:spPr>
          <a:xfrm>
            <a:off x="411480" y="10972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6" name="Text 4"/>
          <p:cNvSpPr/>
          <p:nvPr/>
        </p:nvSpPr>
        <p:spPr>
          <a:xfrm>
            <a:off x="914400" y="1060704"/>
            <a:ext cx="3246120" cy="365760"/>
          </a:xfrm>
          <a:prstGeom prst="rect">
            <a:avLst/>
          </a:prstGeom>
          <a:noFill/>
          <a:ln/>
        </p:spPr>
        <p:txBody>
          <a:bodyPr wrap="square" lIns="0" tIns="0" rIns="0" bIns="0" rtlCol="0" anchor="t"/>
          <a:lstStyle/>
          <a:p>
            <a:pPr indent="0" marL="0">
              <a:lnSpc>
                <a:spcPct val="105000"/>
              </a:lnSpc>
              <a:buNone/>
            </a:pPr>
            <a:r>
              <a:rPr lang="en-US" sz="1200" b="1" dirty="0">
                <a:solidFill>
                  <a:srgbClr val="0B3D5C"/>
                </a:solidFill>
                <a:latin typeface="Arial" pitchFamily="34" charset="0"/>
                <a:ea typeface="Arial" pitchFamily="34" charset="-122"/>
                <a:cs typeface="Arial" pitchFamily="34" charset="-120"/>
              </a:rPr>
              <a:t>Consolider les 2 POC</a:t>
            </a:r>
            <a:endParaRPr lang="en-US" sz="1200" dirty="0"/>
          </a:p>
        </p:txBody>
      </p:sp>
      <p:sp>
        <p:nvSpPr>
          <p:cNvPr id="7" name="Text 5"/>
          <p:cNvSpPr/>
          <p:nvPr/>
        </p:nvSpPr>
        <p:spPr>
          <a:xfrm>
            <a:off x="914400" y="1426464"/>
            <a:ext cx="3246120" cy="777240"/>
          </a:xfrm>
          <a:prstGeom prst="rect">
            <a:avLst/>
          </a:prstGeom>
          <a:noFill/>
          <a:ln/>
        </p:spPr>
        <p:txBody>
          <a:bodyPr wrap="square" lIns="0" tIns="0" rIns="0" bIns="0" rtlCol="0" anchor="t"/>
          <a:lstStyle/>
          <a:p>
            <a:pPr indent="0" marL="0">
              <a:lnSpc>
                <a:spcPct val="120000"/>
              </a:lnSpc>
              <a:buNone/>
            </a:pPr>
            <a:r>
              <a:rPr lang="en-US" sz="950" dirty="0">
                <a:solidFill>
                  <a:srgbClr val="5B6B73"/>
                </a:solidFill>
                <a:latin typeface="Arial" pitchFamily="34" charset="0"/>
                <a:ea typeface="Arial" pitchFamily="34" charset="-122"/>
                <a:cs typeface="Arial" pitchFamily="34" charset="-120"/>
              </a:rPr>
              <a:t>Formaliser deux cas clients documentés, métriques avant/après, avant septembre 2026.</a:t>
            </a:r>
            <a:endParaRPr lang="en-US" sz="950" dirty="0"/>
          </a:p>
        </p:txBody>
      </p:sp>
      <p:sp>
        <p:nvSpPr>
          <p:cNvPr id="8" name="Shape 6"/>
          <p:cNvSpPr/>
          <p:nvPr/>
        </p:nvSpPr>
        <p:spPr>
          <a:xfrm>
            <a:off x="411480" y="2176272"/>
            <a:ext cx="384048" cy="384048"/>
          </a:xfrm>
          <a:prstGeom prst="ellipse">
            <a:avLst/>
          </a:prstGeom>
          <a:solidFill>
            <a:srgbClr val="E8743B"/>
          </a:solidFill>
          <a:ln/>
        </p:spPr>
      </p:sp>
      <p:sp>
        <p:nvSpPr>
          <p:cNvPr id="9" name="Text 7"/>
          <p:cNvSpPr/>
          <p:nvPr/>
        </p:nvSpPr>
        <p:spPr>
          <a:xfrm>
            <a:off x="411480" y="217627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0" name="Text 8"/>
          <p:cNvSpPr/>
          <p:nvPr/>
        </p:nvSpPr>
        <p:spPr>
          <a:xfrm>
            <a:off x="914400" y="2139696"/>
            <a:ext cx="3246120" cy="365760"/>
          </a:xfrm>
          <a:prstGeom prst="rect">
            <a:avLst/>
          </a:prstGeom>
          <a:noFill/>
          <a:ln/>
        </p:spPr>
        <p:txBody>
          <a:bodyPr wrap="square" lIns="0" tIns="0" rIns="0" bIns="0" rtlCol="0" anchor="t"/>
          <a:lstStyle/>
          <a:p>
            <a:pPr indent="0" marL="0">
              <a:lnSpc>
                <a:spcPct val="105000"/>
              </a:lnSpc>
              <a:buNone/>
            </a:pPr>
            <a:r>
              <a:rPr lang="en-US" sz="1200" b="1" dirty="0">
                <a:solidFill>
                  <a:srgbClr val="0B3D5C"/>
                </a:solidFill>
                <a:latin typeface="Arial" pitchFamily="34" charset="0"/>
                <a:ea typeface="Arial" pitchFamily="34" charset="-122"/>
                <a:cs typeface="Arial" pitchFamily="34" charset="-120"/>
              </a:rPr>
              <a:t>Ajuster le pricing à 390 €/mois</a:t>
            </a:r>
            <a:endParaRPr lang="en-US" sz="1200" dirty="0"/>
          </a:p>
        </p:txBody>
      </p:sp>
      <p:sp>
        <p:nvSpPr>
          <p:cNvPr id="11" name="Text 9"/>
          <p:cNvSpPr/>
          <p:nvPr/>
        </p:nvSpPr>
        <p:spPr>
          <a:xfrm>
            <a:off x="914400" y="2505456"/>
            <a:ext cx="3246120" cy="777240"/>
          </a:xfrm>
          <a:prstGeom prst="rect">
            <a:avLst/>
          </a:prstGeom>
          <a:noFill/>
          <a:ln/>
        </p:spPr>
        <p:txBody>
          <a:bodyPr wrap="square" lIns="0" tIns="0" rIns="0" bIns="0" rtlCol="0" anchor="t"/>
          <a:lstStyle/>
          <a:p>
            <a:pPr indent="0" marL="0">
              <a:lnSpc>
                <a:spcPct val="120000"/>
              </a:lnSpc>
              <a:buNone/>
            </a:pPr>
            <a:r>
              <a:rPr lang="en-US" sz="950" dirty="0">
                <a:solidFill>
                  <a:srgbClr val="5B6B73"/>
                </a:solidFill>
                <a:latin typeface="Arial" pitchFamily="34" charset="0"/>
                <a:ea typeface="Arial" pitchFamily="34" charset="-122"/>
                <a:cs typeface="Arial" pitchFamily="34" charset="-120"/>
              </a:rPr>
              <a:t>Le tarif bêta (250 €) reste limité aux deux premiers clients ; le tarif cible assure la viabilité économique.</a:t>
            </a:r>
            <a:endParaRPr lang="en-US" sz="950" dirty="0"/>
          </a:p>
        </p:txBody>
      </p:sp>
      <p:sp>
        <p:nvSpPr>
          <p:cNvPr id="12" name="Shape 10"/>
          <p:cNvSpPr/>
          <p:nvPr/>
        </p:nvSpPr>
        <p:spPr>
          <a:xfrm>
            <a:off x="411480" y="3255264"/>
            <a:ext cx="384048" cy="384048"/>
          </a:xfrm>
          <a:prstGeom prst="ellipse">
            <a:avLst/>
          </a:prstGeom>
          <a:solidFill>
            <a:srgbClr val="E8743B"/>
          </a:solidFill>
          <a:ln/>
        </p:spPr>
      </p:sp>
      <p:sp>
        <p:nvSpPr>
          <p:cNvPr id="13" name="Text 11"/>
          <p:cNvSpPr/>
          <p:nvPr/>
        </p:nvSpPr>
        <p:spPr>
          <a:xfrm>
            <a:off x="411480" y="325526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4" name="Text 12"/>
          <p:cNvSpPr/>
          <p:nvPr/>
        </p:nvSpPr>
        <p:spPr>
          <a:xfrm>
            <a:off x="914400" y="3218688"/>
            <a:ext cx="3246120" cy="365760"/>
          </a:xfrm>
          <a:prstGeom prst="rect">
            <a:avLst/>
          </a:prstGeom>
          <a:noFill/>
          <a:ln/>
        </p:spPr>
        <p:txBody>
          <a:bodyPr wrap="square" lIns="0" tIns="0" rIns="0" bIns="0" rtlCol="0" anchor="t"/>
          <a:lstStyle/>
          <a:p>
            <a:pPr indent="0" marL="0">
              <a:lnSpc>
                <a:spcPct val="105000"/>
              </a:lnSpc>
              <a:buNone/>
            </a:pPr>
            <a:r>
              <a:rPr lang="en-US" sz="1200" b="1" dirty="0">
                <a:solidFill>
                  <a:srgbClr val="0B3D5C"/>
                </a:solidFill>
                <a:latin typeface="Arial" pitchFamily="34" charset="0"/>
                <a:ea typeface="Arial" pitchFamily="34" charset="-122"/>
                <a:cs typeface="Arial" pitchFamily="34" charset="-120"/>
              </a:rPr>
              <a:t>Activer la synergie avec MSS</a:t>
            </a:r>
            <a:endParaRPr lang="en-US" sz="1200" dirty="0"/>
          </a:p>
        </p:txBody>
      </p:sp>
      <p:sp>
        <p:nvSpPr>
          <p:cNvPr id="15" name="Text 13"/>
          <p:cNvSpPr/>
          <p:nvPr/>
        </p:nvSpPr>
        <p:spPr>
          <a:xfrm>
            <a:off x="914400" y="3584448"/>
            <a:ext cx="3246120" cy="777240"/>
          </a:xfrm>
          <a:prstGeom prst="rect">
            <a:avLst/>
          </a:prstGeom>
          <a:noFill/>
          <a:ln/>
        </p:spPr>
        <p:txBody>
          <a:bodyPr wrap="square" lIns="0" tIns="0" rIns="0" bIns="0" rtlCol="0" anchor="t"/>
          <a:lstStyle/>
          <a:p>
            <a:pPr indent="0" marL="0">
              <a:lnSpc>
                <a:spcPct val="120000"/>
              </a:lnSpc>
              <a:buNone/>
            </a:pPr>
            <a:r>
              <a:rPr lang="en-US" sz="950" dirty="0">
                <a:solidFill>
                  <a:srgbClr val="5B6B73"/>
                </a:solidFill>
                <a:latin typeface="Arial" pitchFamily="34" charset="0"/>
                <a:ea typeface="Arial" pitchFamily="34" charset="-122"/>
                <a:cs typeface="Arial" pitchFamily="34" charset="-120"/>
              </a:rPr>
              <a:t>Positionner My Sport Business comme pipeline d’acquisition qualifié pour le logiciel.</a:t>
            </a:r>
            <a:endParaRPr lang="en-US" sz="950" dirty="0"/>
          </a:p>
        </p:txBody>
      </p:sp>
      <p:graphicFrame>
        <p:nvGraphicFramePr>
          <p:cNvPr id="16" name="Chart 0" descr=""/>
          <p:cNvGraphicFramePr/>
          <p:nvPr/>
        </p:nvGraphicFramePr>
        <p:xfrm>
          <a:off x="4526280" y="1097280"/>
          <a:ext cx="4206240" cy="2743200"/>
        </p:xfrm>
        <a:graphic xmlns:a="http://schemas.openxmlformats.org/drawingml/2006/main">
          <a:graphicData uri="http://schemas.openxmlformats.org/drawingml/2006/chart">
            <c:chart xmlns:c="http://schemas.openxmlformats.org/drawingml/2006/chart" r:id="rId1"/>
          </a:graphicData>
        </a:graphic>
      </p:graphicFrame>
      <p:sp>
        <p:nvSpPr>
          <p:cNvPr id="17" name="Shape 14"/>
          <p:cNvSpPr/>
          <p:nvPr/>
        </p:nvSpPr>
        <p:spPr>
          <a:xfrm>
            <a:off x="4526280" y="3950208"/>
            <a:ext cx="4206240" cy="685800"/>
          </a:xfrm>
          <a:prstGeom prst="roundRect">
            <a:avLst>
              <a:gd name="adj" fmla="val 10667"/>
            </a:avLst>
          </a:prstGeom>
          <a:solidFill>
            <a:srgbClr val="0B3D5C"/>
          </a:solidFill>
          <a:ln/>
          <a:effectLst>
            <a:outerShdw sx="100000" sy="100000" kx="0" ky="0" algn="bl" rotWithShape="0" blurRad="88900" dist="25400" dir="5400000">
              <a:srgbClr val="0B3D5C">
                <a:alpha val="12000"/>
              </a:srgbClr>
            </a:outerShdw>
          </a:effectLst>
        </p:spPr>
      </p:sp>
      <p:sp>
        <p:nvSpPr>
          <p:cNvPr id="18" name="Text 15"/>
          <p:cNvSpPr/>
          <p:nvPr/>
        </p:nvSpPr>
        <p:spPr>
          <a:xfrm>
            <a:off x="4709160" y="3950208"/>
            <a:ext cx="3840480" cy="685800"/>
          </a:xfrm>
          <a:prstGeom prst="rect">
            <a:avLst/>
          </a:prstGeom>
          <a:noFill/>
          <a:ln/>
        </p:spPr>
        <p:txBody>
          <a:bodyPr wrap="square" lIns="0" tIns="0" rIns="0" bIns="0" rtlCol="0" anchor="ctr"/>
          <a:lstStyle/>
          <a:p>
            <a:pPr indent="0" marL="0">
              <a:lnSpc>
                <a:spcPct val="115000"/>
              </a:lnSpc>
              <a:buNone/>
            </a:pPr>
            <a:r>
              <a:rPr lang="en-US" sz="1000" dirty="0">
                <a:solidFill>
                  <a:srgbClr val="FFFFFF"/>
                </a:solidFill>
                <a:latin typeface="Arial" pitchFamily="34" charset="0"/>
                <a:ea typeface="Arial" pitchFamily="34" charset="-122"/>
                <a:cs typeface="Arial" pitchFamily="34" charset="-120"/>
              </a:rPr>
              <a:t>Seuil de rentabilité atteint dès 2 clients actifs (2 × 390 € = coût mensuel pour My Sport Session).</a:t>
            </a:r>
            <a:endParaRPr lang="en-US" sz="1000" dirty="0"/>
          </a:p>
        </p:txBody>
      </p:sp>
      <p:sp>
        <p:nvSpPr>
          <p:cNvPr id="19" name="Text 16"/>
          <p:cNvSpPr/>
          <p:nvPr/>
        </p:nvSpPr>
        <p:spPr>
          <a:xfrm>
            <a:off x="411480" y="4864608"/>
            <a:ext cx="4114800" cy="228600"/>
          </a:xfrm>
          <a:prstGeom prst="rect">
            <a:avLst/>
          </a:prstGeom>
          <a:noFill/>
          <a:ln/>
        </p:spPr>
        <p:txBody>
          <a:bodyPr wrap="square" lIns="0" tIns="0" rIns="0" bIns="0" rtlCol="0" anchor="ctr"/>
          <a:lstStyle/>
          <a:p>
            <a:pPr algn="l" indent="0" marL="0">
              <a:buNone/>
            </a:pPr>
            <a:r>
              <a:rPr lang="en-US" sz="800" dirty="0">
                <a:solidFill>
                  <a:srgbClr val="9AA9AE"/>
                </a:solidFill>
                <a:latin typeface="Arial" pitchFamily="34" charset="0"/>
                <a:ea typeface="Arial" pitchFamily="34" charset="-122"/>
                <a:cs typeface="Arial" pitchFamily="34" charset="-120"/>
              </a:rPr>
              <a:t>Rapport de mission — SPOUTNIK S62 — Pascal Varomme</a:t>
            </a:r>
            <a:endParaRPr lang="en-US" sz="800" dirty="0"/>
          </a:p>
        </p:txBody>
      </p:sp>
      <p:sp>
        <p:nvSpPr>
          <p:cNvPr id="20" name="Text 17"/>
          <p:cNvSpPr/>
          <p:nvPr/>
        </p:nvSpPr>
        <p:spPr>
          <a:xfrm>
            <a:off x="8366760" y="4864608"/>
            <a:ext cx="365760" cy="228600"/>
          </a:xfrm>
          <a:prstGeom prst="rect">
            <a:avLst/>
          </a:prstGeom>
          <a:noFill/>
          <a:ln/>
        </p:spPr>
        <p:txBody>
          <a:bodyPr wrap="square" lIns="0" tIns="0" rIns="0" bIns="0" rtlCol="0" anchor="ctr"/>
          <a:lstStyle/>
          <a:p>
            <a:pPr algn="r" indent="0" marL="0">
              <a:buNone/>
            </a:pPr>
            <a:r>
              <a:rPr lang="en-US" sz="800" dirty="0">
                <a:solidFill>
                  <a:srgbClr val="9AA9AE"/>
                </a:solidFill>
                <a:latin typeface="Arial" pitchFamily="34" charset="0"/>
                <a:ea typeface="Arial" pitchFamily="34" charset="-122"/>
                <a:cs typeface="Arial" pitchFamily="34" charset="-120"/>
              </a:rPr>
              <a:t>13</a:t>
            </a:r>
            <a:endParaRPr lang="en-US" sz="800" dirty="0"/>
          </a:p>
        </p:txBody>
      </p:sp>
      <p:sp>
        <p:nvSpPr>
          <p:cNvPr id="21" name="Shape 18"/>
          <p:cNvSpPr/>
          <p:nvPr/>
        </p:nvSpPr>
        <p:spPr>
          <a:xfrm>
            <a:off x="6583680" y="406908"/>
            <a:ext cx="82296" cy="82296"/>
          </a:xfrm>
          <a:prstGeom prst="ellipse">
            <a:avLst/>
          </a:prstGeom>
          <a:solidFill>
            <a:srgbClr val="C7D6DB"/>
          </a:solidFill>
          <a:ln/>
        </p:spPr>
      </p:sp>
      <p:sp>
        <p:nvSpPr>
          <p:cNvPr id="22" name="Shape 19"/>
          <p:cNvSpPr/>
          <p:nvPr/>
        </p:nvSpPr>
        <p:spPr>
          <a:xfrm>
            <a:off x="6624828" y="448056"/>
            <a:ext cx="434340" cy="0"/>
          </a:xfrm>
          <a:prstGeom prst="line">
            <a:avLst/>
          </a:prstGeom>
          <a:noFill/>
          <a:ln w="12700">
            <a:solidFill>
              <a:srgbClr val="C7D6DB"/>
            </a:solidFill>
            <a:prstDash val="solid"/>
          </a:ln>
        </p:spPr>
      </p:sp>
      <p:sp>
        <p:nvSpPr>
          <p:cNvPr id="23" name="Shape 20"/>
          <p:cNvSpPr/>
          <p:nvPr/>
        </p:nvSpPr>
        <p:spPr>
          <a:xfrm>
            <a:off x="7100316" y="406908"/>
            <a:ext cx="82296" cy="82296"/>
          </a:xfrm>
          <a:prstGeom prst="ellipse">
            <a:avLst/>
          </a:prstGeom>
          <a:solidFill>
            <a:srgbClr val="C7D6DB"/>
          </a:solidFill>
          <a:ln/>
        </p:spPr>
      </p:sp>
      <p:sp>
        <p:nvSpPr>
          <p:cNvPr id="24" name="Shape 21"/>
          <p:cNvSpPr/>
          <p:nvPr/>
        </p:nvSpPr>
        <p:spPr>
          <a:xfrm>
            <a:off x="7141464" y="448056"/>
            <a:ext cx="434340" cy="0"/>
          </a:xfrm>
          <a:prstGeom prst="line">
            <a:avLst/>
          </a:prstGeom>
          <a:noFill/>
          <a:ln w="12700">
            <a:solidFill>
              <a:srgbClr val="C7D6DB"/>
            </a:solidFill>
            <a:prstDash val="solid"/>
          </a:ln>
        </p:spPr>
      </p:sp>
      <p:sp>
        <p:nvSpPr>
          <p:cNvPr id="25" name="Shape 22"/>
          <p:cNvSpPr/>
          <p:nvPr/>
        </p:nvSpPr>
        <p:spPr>
          <a:xfrm>
            <a:off x="7616952" y="406908"/>
            <a:ext cx="82296" cy="82296"/>
          </a:xfrm>
          <a:prstGeom prst="ellipse">
            <a:avLst/>
          </a:prstGeom>
          <a:solidFill>
            <a:srgbClr val="C7D6DB"/>
          </a:solidFill>
          <a:ln/>
        </p:spPr>
      </p:sp>
      <p:sp>
        <p:nvSpPr>
          <p:cNvPr id="26" name="Shape 23"/>
          <p:cNvSpPr/>
          <p:nvPr/>
        </p:nvSpPr>
        <p:spPr>
          <a:xfrm>
            <a:off x="7658100" y="448056"/>
            <a:ext cx="434340" cy="0"/>
          </a:xfrm>
          <a:prstGeom prst="line">
            <a:avLst/>
          </a:prstGeom>
          <a:noFill/>
          <a:ln w="12700">
            <a:solidFill>
              <a:srgbClr val="C7D6DB"/>
            </a:solidFill>
            <a:prstDash val="solid"/>
          </a:ln>
        </p:spPr>
      </p:sp>
      <p:sp>
        <p:nvSpPr>
          <p:cNvPr id="27" name="Shape 24"/>
          <p:cNvSpPr/>
          <p:nvPr/>
        </p:nvSpPr>
        <p:spPr>
          <a:xfrm>
            <a:off x="8133588" y="406908"/>
            <a:ext cx="82296" cy="82296"/>
          </a:xfrm>
          <a:prstGeom prst="ellipse">
            <a:avLst/>
          </a:prstGeom>
          <a:solidFill>
            <a:srgbClr val="E8743B"/>
          </a:solidFill>
          <a:ln/>
        </p:spPr>
      </p:sp>
      <p:sp>
        <p:nvSpPr>
          <p:cNvPr id="28" name="Shape 25"/>
          <p:cNvSpPr/>
          <p:nvPr/>
        </p:nvSpPr>
        <p:spPr>
          <a:xfrm>
            <a:off x="8174736" y="448056"/>
            <a:ext cx="434340" cy="0"/>
          </a:xfrm>
          <a:prstGeom prst="line">
            <a:avLst/>
          </a:prstGeom>
          <a:noFill/>
          <a:ln w="12700">
            <a:solidFill>
              <a:srgbClr val="C7D6DB"/>
            </a:solidFill>
            <a:prstDash val="solid"/>
          </a:ln>
        </p:spPr>
      </p:sp>
      <p:sp>
        <p:nvSpPr>
          <p:cNvPr id="29" name="Shape 26"/>
          <p:cNvSpPr/>
          <p:nvPr/>
        </p:nvSpPr>
        <p:spPr>
          <a:xfrm>
            <a:off x="8650224" y="406908"/>
            <a:ext cx="82296" cy="82296"/>
          </a:xfrm>
          <a:prstGeom prst="ellipse">
            <a:avLst/>
          </a:prstGeom>
          <a:solidFill>
            <a:srgbClr val="C7D6DB"/>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92608"/>
            <a:ext cx="8321040" cy="256032"/>
          </a:xfrm>
          <a:prstGeom prst="rect">
            <a:avLst/>
          </a:prstGeom>
          <a:noFill/>
          <a:ln/>
        </p:spPr>
        <p:txBody>
          <a:bodyPr wrap="square" lIns="0" tIns="0" rIns="0" bIns="0" rtlCol="0" anchor="ctr"/>
          <a:lstStyle/>
          <a:p>
            <a:pPr indent="0" marL="0">
              <a:buNone/>
            </a:pPr>
            <a:r>
              <a:rPr lang="en-US" sz="1100" b="1" spc="150" kern="0" dirty="0">
                <a:solidFill>
                  <a:srgbClr val="E8743B"/>
                </a:solidFill>
                <a:latin typeface="Arial" pitchFamily="34" charset="0"/>
                <a:ea typeface="Arial" pitchFamily="34" charset="-122"/>
                <a:cs typeface="Arial" pitchFamily="34" charset="-120"/>
              </a:rPr>
              <a:t>PARTIE 3 — IMPACT ORGANISATIONNEL</a:t>
            </a:r>
            <a:endParaRPr lang="en-US" sz="1100" dirty="0"/>
          </a:p>
        </p:txBody>
      </p:sp>
      <p:sp>
        <p:nvSpPr>
          <p:cNvPr id="3" name="Text 1"/>
          <p:cNvSpPr/>
          <p:nvPr/>
        </p:nvSpPr>
        <p:spPr>
          <a:xfrm>
            <a:off x="411480" y="530352"/>
            <a:ext cx="8321040" cy="566928"/>
          </a:xfrm>
          <a:prstGeom prst="rect">
            <a:avLst/>
          </a:prstGeom>
          <a:noFill/>
          <a:ln/>
        </p:spPr>
        <p:txBody>
          <a:bodyPr wrap="square" lIns="0" tIns="0" rIns="0" bIns="0" rtlCol="0" anchor="t"/>
          <a:lstStyle/>
          <a:p>
            <a:pPr indent="0" marL="0">
              <a:buNone/>
            </a:pPr>
            <a:r>
              <a:rPr lang="en-US" sz="2500" b="1" dirty="0">
                <a:solidFill>
                  <a:srgbClr val="0B3D5C"/>
                </a:solidFill>
                <a:latin typeface="Arial" pitchFamily="34" charset="0"/>
                <a:ea typeface="Arial" pitchFamily="34" charset="-122"/>
                <a:cs typeface="Arial" pitchFamily="34" charset="-120"/>
              </a:rPr>
              <a:t>Le vrai goulot d’étranglement : le mois d’onboarding</a:t>
            </a:r>
            <a:endParaRPr lang="en-US" sz="2500" dirty="0"/>
          </a:p>
        </p:txBody>
      </p:sp>
      <p:sp>
        <p:nvSpPr>
          <p:cNvPr id="4" name="Shape 2"/>
          <p:cNvSpPr/>
          <p:nvPr/>
        </p:nvSpPr>
        <p:spPr>
          <a:xfrm>
            <a:off x="411480" y="1143000"/>
            <a:ext cx="2606040" cy="1554480"/>
          </a:xfrm>
          <a:prstGeom prst="roundRect">
            <a:avLst>
              <a:gd name="adj" fmla="val 4706"/>
            </a:avLst>
          </a:prstGeom>
          <a:solidFill>
            <a:srgbClr val="FBE9DD"/>
          </a:solidFill>
          <a:ln/>
          <a:effectLst>
            <a:outerShdw sx="100000" sy="100000" kx="0" ky="0" algn="bl" rotWithShape="0" blurRad="88900" dist="25400" dir="5400000">
              <a:srgbClr val="0B3D5C">
                <a:alpha val="12000"/>
              </a:srgbClr>
            </a:outerShdw>
          </a:effectLst>
        </p:spPr>
      </p:sp>
      <p:sp>
        <p:nvSpPr>
          <p:cNvPr id="5" name="Text 3"/>
          <p:cNvSpPr/>
          <p:nvPr/>
        </p:nvSpPr>
        <p:spPr>
          <a:xfrm>
            <a:off x="411480" y="1298448"/>
            <a:ext cx="2606040" cy="594360"/>
          </a:xfrm>
          <a:prstGeom prst="rect">
            <a:avLst/>
          </a:prstGeom>
          <a:noFill/>
          <a:ln/>
        </p:spPr>
        <p:txBody>
          <a:bodyPr wrap="square" lIns="0" tIns="0" rIns="0" bIns="0" rtlCol="0" anchor="ctr"/>
          <a:lstStyle/>
          <a:p>
            <a:pPr algn="ctr" indent="0" marL="0">
              <a:buNone/>
            </a:pPr>
            <a:r>
              <a:rPr lang="en-US" sz="3400" b="1" dirty="0">
                <a:solidFill>
                  <a:srgbClr val="E8743B"/>
                </a:solidFill>
                <a:latin typeface="Arial" pitchFamily="34" charset="0"/>
                <a:ea typeface="Arial" pitchFamily="34" charset="-122"/>
                <a:cs typeface="Arial" pitchFamily="34" charset="-120"/>
              </a:rPr>
              <a:t>40h</a:t>
            </a:r>
            <a:endParaRPr lang="en-US" sz="3400" dirty="0"/>
          </a:p>
        </p:txBody>
      </p:sp>
      <p:sp>
        <p:nvSpPr>
          <p:cNvPr id="6" name="Text 4"/>
          <p:cNvSpPr/>
          <p:nvPr/>
        </p:nvSpPr>
        <p:spPr>
          <a:xfrm>
            <a:off x="548640" y="1965960"/>
            <a:ext cx="2331720" cy="548640"/>
          </a:xfrm>
          <a:prstGeom prst="rect">
            <a:avLst/>
          </a:prstGeom>
          <a:noFill/>
          <a:ln/>
        </p:spPr>
        <p:txBody>
          <a:bodyPr wrap="square" lIns="0" tIns="0" rIns="0" bIns="0" rtlCol="0" anchor="ctr"/>
          <a:lstStyle/>
          <a:p>
            <a:pPr algn="ctr" indent="0" marL="0">
              <a:lnSpc>
                <a:spcPct val="115000"/>
              </a:lnSpc>
              <a:buNone/>
            </a:pPr>
            <a:r>
              <a:rPr lang="en-US" sz="1000" dirty="0">
                <a:solidFill>
                  <a:srgbClr val="7A3A1A"/>
                </a:solidFill>
                <a:latin typeface="Arial" pitchFamily="34" charset="0"/>
                <a:ea typeface="Arial" pitchFamily="34" charset="-122"/>
                <a:cs typeface="Arial" pitchFamily="34" charset="-120"/>
              </a:rPr>
              <a:t>Onboarding mesuré au 1er POC</a:t>
            </a:r>
            <a:endParaRPr lang="en-US" sz="1000" dirty="0"/>
          </a:p>
        </p:txBody>
      </p:sp>
      <p:sp>
        <p:nvSpPr>
          <p:cNvPr id="7" name="Shape 5"/>
          <p:cNvSpPr/>
          <p:nvPr/>
        </p:nvSpPr>
        <p:spPr>
          <a:xfrm>
            <a:off x="3200400" y="1691640"/>
            <a:ext cx="365760" cy="365760"/>
          </a:xfrm>
          <a:prstGeom prst="ellipse">
            <a:avLst/>
          </a:prstGeom>
          <a:solidFill>
            <a:srgbClr val="0B3D5C"/>
          </a:solidFill>
          <a:ln/>
        </p:spPr>
      </p:sp>
      <p:pic>
        <p:nvPicPr>
          <p:cNvPr id="8" name="Image 0" descr="preencoded.png">    </p:cNvPr>
          <p:cNvPicPr>
            <a:picLocks noChangeAspect="1"/>
          </p:cNvPicPr>
          <p:nvPr/>
        </p:nvPicPr>
        <p:blipFill>
          <a:blip r:embed="rId1"/>
          <a:stretch>
            <a:fillRect/>
          </a:stretch>
        </p:blipFill>
        <p:spPr>
          <a:xfrm>
            <a:off x="3295498" y="1786738"/>
            <a:ext cx="175565" cy="175565"/>
          </a:xfrm>
          <a:prstGeom prst="rect">
            <a:avLst/>
          </a:prstGeom>
        </p:spPr>
      </p:pic>
      <p:sp>
        <p:nvSpPr>
          <p:cNvPr id="9" name="Shape 6"/>
          <p:cNvSpPr/>
          <p:nvPr/>
        </p:nvSpPr>
        <p:spPr>
          <a:xfrm>
            <a:off x="3749040" y="1143000"/>
            <a:ext cx="2606040" cy="1554480"/>
          </a:xfrm>
          <a:prstGeom prst="roundRect">
            <a:avLst>
              <a:gd name="adj" fmla="val 4706"/>
            </a:avLst>
          </a:prstGeom>
          <a:solidFill>
            <a:srgbClr val="DCEEF2"/>
          </a:solidFill>
          <a:ln/>
          <a:effectLst>
            <a:outerShdw sx="100000" sy="100000" kx="0" ky="0" algn="bl" rotWithShape="0" blurRad="88900" dist="25400" dir="5400000">
              <a:srgbClr val="0B3D5C">
                <a:alpha val="12000"/>
              </a:srgbClr>
            </a:outerShdw>
          </a:effectLst>
        </p:spPr>
      </p:sp>
      <p:sp>
        <p:nvSpPr>
          <p:cNvPr id="10" name="Text 7"/>
          <p:cNvSpPr/>
          <p:nvPr/>
        </p:nvSpPr>
        <p:spPr>
          <a:xfrm>
            <a:off x="3749040" y="1298448"/>
            <a:ext cx="2606040" cy="594360"/>
          </a:xfrm>
          <a:prstGeom prst="rect">
            <a:avLst/>
          </a:prstGeom>
          <a:noFill/>
          <a:ln/>
        </p:spPr>
        <p:txBody>
          <a:bodyPr wrap="square" lIns="0" tIns="0" rIns="0" bIns="0" rtlCol="0" anchor="ctr"/>
          <a:lstStyle/>
          <a:p>
            <a:pPr algn="ctr" indent="0" marL="0">
              <a:buNone/>
            </a:pPr>
            <a:r>
              <a:rPr lang="en-US" sz="3400" b="1" dirty="0">
                <a:solidFill>
                  <a:srgbClr val="1C7293"/>
                </a:solidFill>
                <a:latin typeface="Arial" pitchFamily="34" charset="0"/>
                <a:ea typeface="Arial" pitchFamily="34" charset="-122"/>
                <a:cs typeface="Arial" pitchFamily="34" charset="-120"/>
              </a:rPr>
              <a:t>20h</a:t>
            </a:r>
            <a:endParaRPr lang="en-US" sz="3400" dirty="0"/>
          </a:p>
        </p:txBody>
      </p:sp>
      <p:sp>
        <p:nvSpPr>
          <p:cNvPr id="11" name="Text 8"/>
          <p:cNvSpPr/>
          <p:nvPr/>
        </p:nvSpPr>
        <p:spPr>
          <a:xfrm>
            <a:off x="3886200" y="1965960"/>
            <a:ext cx="2331720" cy="548640"/>
          </a:xfrm>
          <a:prstGeom prst="rect">
            <a:avLst/>
          </a:prstGeom>
          <a:noFill/>
          <a:ln/>
        </p:spPr>
        <p:txBody>
          <a:bodyPr wrap="square" lIns="0" tIns="0" rIns="0" bIns="0" rtlCol="0" anchor="ctr"/>
          <a:lstStyle/>
          <a:p>
            <a:pPr algn="ctr" indent="0" marL="0">
              <a:lnSpc>
                <a:spcPct val="115000"/>
              </a:lnSpc>
              <a:buNone/>
            </a:pPr>
            <a:r>
              <a:rPr lang="en-US" sz="1000" dirty="0">
                <a:solidFill>
                  <a:srgbClr val="0B3D5C"/>
                </a:solidFill>
                <a:latin typeface="Arial" pitchFamily="34" charset="0"/>
                <a:ea typeface="Arial" pitchFamily="34" charset="-122"/>
                <a:cs typeface="Arial" pitchFamily="34" charset="-120"/>
              </a:rPr>
              <a:t>Objectif via standardisation (templates, IA)</a:t>
            </a:r>
            <a:endParaRPr lang="en-US" sz="1000" dirty="0"/>
          </a:p>
        </p:txBody>
      </p:sp>
      <p:sp>
        <p:nvSpPr>
          <p:cNvPr id="12" name="Shape 9"/>
          <p:cNvSpPr/>
          <p:nvPr/>
        </p:nvSpPr>
        <p:spPr>
          <a:xfrm>
            <a:off x="6537960" y="1143000"/>
            <a:ext cx="2194560" cy="1554480"/>
          </a:xfrm>
          <a:prstGeom prst="roundRect">
            <a:avLst>
              <a:gd name="adj" fmla="val 4706"/>
            </a:avLst>
          </a:prstGeom>
          <a:solidFill>
            <a:srgbClr val="EDF2F4"/>
          </a:solidFill>
          <a:ln/>
          <a:effectLst>
            <a:outerShdw sx="100000" sy="100000" kx="0" ky="0" algn="bl" rotWithShape="0" blurRad="88900" dist="25400" dir="5400000">
              <a:srgbClr val="0B3D5C">
                <a:alpha val="12000"/>
              </a:srgbClr>
            </a:outerShdw>
          </a:effectLst>
        </p:spPr>
      </p:sp>
      <p:sp>
        <p:nvSpPr>
          <p:cNvPr id="13" name="Text 10"/>
          <p:cNvSpPr/>
          <p:nvPr/>
        </p:nvSpPr>
        <p:spPr>
          <a:xfrm>
            <a:off x="6537960" y="1298448"/>
            <a:ext cx="2194560" cy="594360"/>
          </a:xfrm>
          <a:prstGeom prst="rect">
            <a:avLst/>
          </a:prstGeom>
          <a:noFill/>
          <a:ln/>
        </p:spPr>
        <p:txBody>
          <a:bodyPr wrap="square" lIns="0" tIns="0" rIns="0" bIns="0" rtlCol="0" anchor="ctr"/>
          <a:lstStyle/>
          <a:p>
            <a:pPr algn="ctr" indent="0" marL="0">
              <a:buNone/>
            </a:pPr>
            <a:r>
              <a:rPr lang="en-US" sz="2800" b="1" dirty="0">
                <a:solidFill>
                  <a:srgbClr val="0B3D5C"/>
                </a:solidFill>
                <a:latin typeface="Arial" pitchFamily="34" charset="0"/>
                <a:ea typeface="Arial" pitchFamily="34" charset="-122"/>
                <a:cs typeface="Arial" pitchFamily="34" charset="-120"/>
              </a:rPr>
              <a:t>3–5h</a:t>
            </a:r>
            <a:endParaRPr lang="en-US" sz="2800" dirty="0"/>
          </a:p>
        </p:txBody>
      </p:sp>
      <p:sp>
        <p:nvSpPr>
          <p:cNvPr id="14" name="Text 11"/>
          <p:cNvSpPr/>
          <p:nvPr/>
        </p:nvSpPr>
        <p:spPr>
          <a:xfrm>
            <a:off x="6675120" y="1965960"/>
            <a:ext cx="1920240" cy="548640"/>
          </a:xfrm>
          <a:prstGeom prst="rect">
            <a:avLst/>
          </a:prstGeom>
          <a:noFill/>
          <a:ln/>
        </p:spPr>
        <p:txBody>
          <a:bodyPr wrap="square" lIns="0" tIns="0" rIns="0" bIns="0" rtlCol="0" anchor="ctr"/>
          <a:lstStyle/>
          <a:p>
            <a:pPr algn="ctr" indent="0" marL="0">
              <a:lnSpc>
                <a:spcPct val="110000"/>
              </a:lnSpc>
              <a:buNone/>
            </a:pPr>
            <a:r>
              <a:rPr lang="en-US" sz="950" dirty="0">
                <a:solidFill>
                  <a:srgbClr val="5B6B73"/>
                </a:solidFill>
                <a:latin typeface="Arial" pitchFamily="34" charset="0"/>
                <a:ea typeface="Arial" pitchFamily="34" charset="-122"/>
                <a:cs typeface="Arial" pitchFamily="34" charset="-120"/>
              </a:rPr>
              <a:t>/mois en « Run » grâce à l’automatisation (Make, IA)</a:t>
            </a:r>
            <a:endParaRPr lang="en-US" sz="950" dirty="0"/>
          </a:p>
        </p:txBody>
      </p:sp>
      <p:sp>
        <p:nvSpPr>
          <p:cNvPr id="15" name="Text 12"/>
          <p:cNvSpPr/>
          <p:nvPr/>
        </p:nvSpPr>
        <p:spPr>
          <a:xfrm>
            <a:off x="411480" y="2926080"/>
            <a:ext cx="8321040" cy="274320"/>
          </a:xfrm>
          <a:prstGeom prst="rect">
            <a:avLst/>
          </a:prstGeom>
          <a:noFill/>
          <a:ln/>
        </p:spPr>
        <p:txBody>
          <a:bodyPr wrap="square" lIns="0" tIns="0" rIns="0" bIns="0" rtlCol="0" anchor="ctr"/>
          <a:lstStyle/>
          <a:p>
            <a:pPr indent="0" marL="0">
              <a:buNone/>
            </a:pPr>
            <a:r>
              <a:rPr lang="en-US" sz="1300" b="1" dirty="0">
                <a:solidFill>
                  <a:srgbClr val="0B3D5C"/>
                </a:solidFill>
                <a:latin typeface="Arial" pitchFamily="34" charset="0"/>
                <a:ea typeface="Arial" pitchFamily="34" charset="-122"/>
                <a:cs typeface="Arial" pitchFamily="34" charset="-120"/>
              </a:rPr>
              <a:t>Capacité mensuelle cible (10 clients actifs)</a:t>
            </a:r>
            <a:endParaRPr lang="en-US" sz="1300" dirty="0"/>
          </a:p>
        </p:txBody>
      </p:sp>
      <p:sp>
        <p:nvSpPr>
          <p:cNvPr id="16" name="Shape 13"/>
          <p:cNvSpPr/>
          <p:nvPr/>
        </p:nvSpPr>
        <p:spPr>
          <a:xfrm>
            <a:off x="411480" y="3337560"/>
            <a:ext cx="1993392" cy="1005840"/>
          </a:xfrm>
          <a:prstGeom prst="roundRect">
            <a:avLst>
              <a:gd name="adj" fmla="val 6364"/>
            </a:avLst>
          </a:prstGeom>
          <a:solidFill>
            <a:srgbClr val="EDF2F4"/>
          </a:solidFill>
          <a:ln/>
        </p:spPr>
      </p:sp>
      <p:sp>
        <p:nvSpPr>
          <p:cNvPr id="17" name="Text 14"/>
          <p:cNvSpPr/>
          <p:nvPr/>
        </p:nvSpPr>
        <p:spPr>
          <a:xfrm>
            <a:off x="411480" y="3456432"/>
            <a:ext cx="1993392" cy="457200"/>
          </a:xfrm>
          <a:prstGeom prst="rect">
            <a:avLst/>
          </a:prstGeom>
          <a:noFill/>
          <a:ln/>
        </p:spPr>
        <p:txBody>
          <a:bodyPr wrap="square" lIns="0" tIns="0" rIns="0" bIns="0" rtlCol="0" anchor="ctr"/>
          <a:lstStyle/>
          <a:p>
            <a:pPr algn="ctr" indent="0" marL="0">
              <a:buNone/>
            </a:pPr>
            <a:r>
              <a:rPr lang="en-US" sz="2000" b="1" dirty="0">
                <a:solidFill>
                  <a:srgbClr val="0B3D5C"/>
                </a:solidFill>
                <a:latin typeface="Arial" pitchFamily="34" charset="0"/>
                <a:ea typeface="Arial" pitchFamily="34" charset="-122"/>
                <a:cs typeface="Arial" pitchFamily="34" charset="-120"/>
              </a:rPr>
              <a:t>40h</a:t>
            </a:r>
            <a:endParaRPr lang="en-US" sz="2000" dirty="0"/>
          </a:p>
        </p:txBody>
      </p:sp>
      <p:sp>
        <p:nvSpPr>
          <p:cNvPr id="18" name="Text 15"/>
          <p:cNvSpPr/>
          <p:nvPr/>
        </p:nvSpPr>
        <p:spPr>
          <a:xfrm>
            <a:off x="502920" y="3950208"/>
            <a:ext cx="1810512" cy="365760"/>
          </a:xfrm>
          <a:prstGeom prst="rect">
            <a:avLst/>
          </a:prstGeom>
          <a:noFill/>
          <a:ln/>
        </p:spPr>
        <p:txBody>
          <a:bodyPr wrap="square" lIns="0" tIns="0" rIns="0" bIns="0" rtlCol="0" anchor="ctr"/>
          <a:lstStyle/>
          <a:p>
            <a:pPr algn="ctr" indent="0" marL="0">
              <a:lnSpc>
                <a:spcPct val="110000"/>
              </a:lnSpc>
              <a:buNone/>
            </a:pPr>
            <a:r>
              <a:rPr lang="en-US" sz="900" dirty="0">
                <a:solidFill>
                  <a:srgbClr val="5B6B73"/>
                </a:solidFill>
                <a:latin typeface="Arial" pitchFamily="34" charset="0"/>
                <a:ea typeface="Arial" pitchFamily="34" charset="-122"/>
                <a:cs typeface="Arial" pitchFamily="34" charset="-120"/>
              </a:rPr>
              <a:t>10 clients en « Run »</a:t>
            </a:r>
            <a:endParaRPr lang="en-US" sz="900" dirty="0"/>
          </a:p>
        </p:txBody>
      </p:sp>
      <p:sp>
        <p:nvSpPr>
          <p:cNvPr id="19" name="Shape 16"/>
          <p:cNvSpPr/>
          <p:nvPr/>
        </p:nvSpPr>
        <p:spPr>
          <a:xfrm>
            <a:off x="2523744" y="3337560"/>
            <a:ext cx="1993392" cy="1005840"/>
          </a:xfrm>
          <a:prstGeom prst="roundRect">
            <a:avLst>
              <a:gd name="adj" fmla="val 6364"/>
            </a:avLst>
          </a:prstGeom>
          <a:solidFill>
            <a:srgbClr val="EDF2F4"/>
          </a:solidFill>
          <a:ln/>
        </p:spPr>
      </p:sp>
      <p:sp>
        <p:nvSpPr>
          <p:cNvPr id="20" name="Text 17"/>
          <p:cNvSpPr/>
          <p:nvPr/>
        </p:nvSpPr>
        <p:spPr>
          <a:xfrm>
            <a:off x="2523744" y="3456432"/>
            <a:ext cx="1993392" cy="457200"/>
          </a:xfrm>
          <a:prstGeom prst="rect">
            <a:avLst/>
          </a:prstGeom>
          <a:noFill/>
          <a:ln/>
        </p:spPr>
        <p:txBody>
          <a:bodyPr wrap="square" lIns="0" tIns="0" rIns="0" bIns="0" rtlCol="0" anchor="ctr"/>
          <a:lstStyle/>
          <a:p>
            <a:pPr algn="ctr" indent="0" marL="0">
              <a:buNone/>
            </a:pPr>
            <a:r>
              <a:rPr lang="en-US" sz="2000" b="1" dirty="0">
                <a:solidFill>
                  <a:srgbClr val="0B3D5C"/>
                </a:solidFill>
                <a:latin typeface="Arial" pitchFamily="34" charset="0"/>
                <a:ea typeface="Arial" pitchFamily="34" charset="-122"/>
                <a:cs typeface="Arial" pitchFamily="34" charset="-120"/>
              </a:rPr>
              <a:t>40h</a:t>
            </a:r>
            <a:endParaRPr lang="en-US" sz="2000" dirty="0"/>
          </a:p>
        </p:txBody>
      </p:sp>
      <p:sp>
        <p:nvSpPr>
          <p:cNvPr id="21" name="Text 18"/>
          <p:cNvSpPr/>
          <p:nvPr/>
        </p:nvSpPr>
        <p:spPr>
          <a:xfrm>
            <a:off x="2615184" y="3950208"/>
            <a:ext cx="1810512" cy="365760"/>
          </a:xfrm>
          <a:prstGeom prst="rect">
            <a:avLst/>
          </a:prstGeom>
          <a:noFill/>
          <a:ln/>
        </p:spPr>
        <p:txBody>
          <a:bodyPr wrap="square" lIns="0" tIns="0" rIns="0" bIns="0" rtlCol="0" anchor="ctr"/>
          <a:lstStyle/>
          <a:p>
            <a:pPr algn="ctr" indent="0" marL="0">
              <a:lnSpc>
                <a:spcPct val="110000"/>
              </a:lnSpc>
              <a:buNone/>
            </a:pPr>
            <a:r>
              <a:rPr lang="en-US" sz="900" dirty="0">
                <a:solidFill>
                  <a:srgbClr val="5B6B73"/>
                </a:solidFill>
                <a:latin typeface="Arial" pitchFamily="34" charset="0"/>
                <a:ea typeface="Arial" pitchFamily="34" charset="-122"/>
                <a:cs typeface="Arial" pitchFamily="34" charset="-120"/>
              </a:rPr>
              <a:t>2 nouveaux onboardings</a:t>
            </a:r>
            <a:endParaRPr lang="en-US" sz="900" dirty="0"/>
          </a:p>
        </p:txBody>
      </p:sp>
      <p:sp>
        <p:nvSpPr>
          <p:cNvPr id="22" name="Shape 19"/>
          <p:cNvSpPr/>
          <p:nvPr/>
        </p:nvSpPr>
        <p:spPr>
          <a:xfrm>
            <a:off x="4636008" y="3337560"/>
            <a:ext cx="1993392" cy="1005840"/>
          </a:xfrm>
          <a:prstGeom prst="roundRect">
            <a:avLst>
              <a:gd name="adj" fmla="val 6364"/>
            </a:avLst>
          </a:prstGeom>
          <a:solidFill>
            <a:srgbClr val="EDF2F4"/>
          </a:solidFill>
          <a:ln/>
        </p:spPr>
      </p:sp>
      <p:sp>
        <p:nvSpPr>
          <p:cNvPr id="23" name="Text 20"/>
          <p:cNvSpPr/>
          <p:nvPr/>
        </p:nvSpPr>
        <p:spPr>
          <a:xfrm>
            <a:off x="4636008" y="3456432"/>
            <a:ext cx="1993392" cy="457200"/>
          </a:xfrm>
          <a:prstGeom prst="rect">
            <a:avLst/>
          </a:prstGeom>
          <a:noFill/>
          <a:ln/>
        </p:spPr>
        <p:txBody>
          <a:bodyPr wrap="square" lIns="0" tIns="0" rIns="0" bIns="0" rtlCol="0" anchor="ctr"/>
          <a:lstStyle/>
          <a:p>
            <a:pPr algn="ctr" indent="0" marL="0">
              <a:buNone/>
            </a:pPr>
            <a:r>
              <a:rPr lang="en-US" sz="2000" b="1" dirty="0">
                <a:solidFill>
                  <a:srgbClr val="0B3D5C"/>
                </a:solidFill>
                <a:latin typeface="Arial" pitchFamily="34" charset="0"/>
                <a:ea typeface="Arial" pitchFamily="34" charset="-122"/>
                <a:cs typeface="Arial" pitchFamily="34" charset="-120"/>
              </a:rPr>
              <a:t>8h</a:t>
            </a:r>
            <a:endParaRPr lang="en-US" sz="2000" dirty="0"/>
          </a:p>
        </p:txBody>
      </p:sp>
      <p:sp>
        <p:nvSpPr>
          <p:cNvPr id="24" name="Text 21"/>
          <p:cNvSpPr/>
          <p:nvPr/>
        </p:nvSpPr>
        <p:spPr>
          <a:xfrm>
            <a:off x="4727448" y="3950208"/>
            <a:ext cx="1810512" cy="365760"/>
          </a:xfrm>
          <a:prstGeom prst="rect">
            <a:avLst/>
          </a:prstGeom>
          <a:noFill/>
          <a:ln/>
        </p:spPr>
        <p:txBody>
          <a:bodyPr wrap="square" lIns="0" tIns="0" rIns="0" bIns="0" rtlCol="0" anchor="ctr"/>
          <a:lstStyle/>
          <a:p>
            <a:pPr algn="ctr" indent="0" marL="0">
              <a:lnSpc>
                <a:spcPct val="110000"/>
              </a:lnSpc>
              <a:buNone/>
            </a:pPr>
            <a:r>
              <a:rPr lang="en-US" sz="900" dirty="0">
                <a:solidFill>
                  <a:srgbClr val="5B6B73"/>
                </a:solidFill>
                <a:latin typeface="Arial" pitchFamily="34" charset="0"/>
                <a:ea typeface="Arial" pitchFamily="34" charset="-122"/>
                <a:cs typeface="Arial" pitchFamily="34" charset="-120"/>
              </a:rPr>
              <a:t>Prospection</a:t>
            </a:r>
            <a:endParaRPr lang="en-US" sz="900" dirty="0"/>
          </a:p>
        </p:txBody>
      </p:sp>
      <p:sp>
        <p:nvSpPr>
          <p:cNvPr id="25" name="Shape 22"/>
          <p:cNvSpPr/>
          <p:nvPr/>
        </p:nvSpPr>
        <p:spPr>
          <a:xfrm>
            <a:off x="6748272" y="3337560"/>
            <a:ext cx="1993392" cy="1005840"/>
          </a:xfrm>
          <a:prstGeom prst="roundRect">
            <a:avLst>
              <a:gd name="adj" fmla="val 6364"/>
            </a:avLst>
          </a:prstGeom>
          <a:solidFill>
            <a:srgbClr val="FBE9DD"/>
          </a:solidFill>
          <a:ln/>
        </p:spPr>
      </p:sp>
      <p:sp>
        <p:nvSpPr>
          <p:cNvPr id="26" name="Text 23"/>
          <p:cNvSpPr/>
          <p:nvPr/>
        </p:nvSpPr>
        <p:spPr>
          <a:xfrm>
            <a:off x="6748272" y="3456432"/>
            <a:ext cx="1993392" cy="457200"/>
          </a:xfrm>
          <a:prstGeom prst="rect">
            <a:avLst/>
          </a:prstGeom>
          <a:noFill/>
          <a:ln/>
        </p:spPr>
        <p:txBody>
          <a:bodyPr wrap="square" lIns="0" tIns="0" rIns="0" bIns="0" rtlCol="0" anchor="ctr"/>
          <a:lstStyle/>
          <a:p>
            <a:pPr algn="ctr" indent="0" marL="0">
              <a:buNone/>
            </a:pPr>
            <a:r>
              <a:rPr lang="en-US" sz="2000" b="1" dirty="0">
                <a:solidFill>
                  <a:srgbClr val="E8743B"/>
                </a:solidFill>
                <a:latin typeface="Arial" pitchFamily="34" charset="0"/>
                <a:ea typeface="Arial" pitchFamily="34" charset="-122"/>
                <a:cs typeface="Arial" pitchFamily="34" charset="-120"/>
              </a:rPr>
              <a:t>~50h</a:t>
            </a:r>
            <a:endParaRPr lang="en-US" sz="2000" dirty="0"/>
          </a:p>
        </p:txBody>
      </p:sp>
      <p:sp>
        <p:nvSpPr>
          <p:cNvPr id="27" name="Text 24"/>
          <p:cNvSpPr/>
          <p:nvPr/>
        </p:nvSpPr>
        <p:spPr>
          <a:xfrm>
            <a:off x="6839712" y="3950208"/>
            <a:ext cx="1810512" cy="365760"/>
          </a:xfrm>
          <a:prstGeom prst="rect">
            <a:avLst/>
          </a:prstGeom>
          <a:noFill/>
          <a:ln/>
        </p:spPr>
        <p:txBody>
          <a:bodyPr wrap="square" lIns="0" tIns="0" rIns="0" bIns="0" rtlCol="0" anchor="ctr"/>
          <a:lstStyle/>
          <a:p>
            <a:pPr algn="ctr" indent="0" marL="0">
              <a:lnSpc>
                <a:spcPct val="110000"/>
              </a:lnSpc>
              <a:buNone/>
            </a:pPr>
            <a:r>
              <a:rPr lang="en-US" sz="900" dirty="0">
                <a:solidFill>
                  <a:srgbClr val="5B6B73"/>
                </a:solidFill>
                <a:latin typeface="Arial" pitchFamily="34" charset="0"/>
                <a:ea typeface="Arial" pitchFamily="34" charset="-122"/>
                <a:cs typeface="Arial" pitchFamily="34" charset="-120"/>
              </a:rPr>
              <a:t>Marge de sécurité</a:t>
            </a:r>
            <a:endParaRPr lang="en-US" sz="900" dirty="0"/>
          </a:p>
        </p:txBody>
      </p:sp>
      <p:sp>
        <p:nvSpPr>
          <p:cNvPr id="28" name="Text 25"/>
          <p:cNvSpPr/>
          <p:nvPr/>
        </p:nvSpPr>
        <p:spPr>
          <a:xfrm>
            <a:off x="411480" y="4526280"/>
            <a:ext cx="8321040" cy="320040"/>
          </a:xfrm>
          <a:prstGeom prst="rect">
            <a:avLst/>
          </a:prstGeom>
          <a:noFill/>
          <a:ln/>
        </p:spPr>
        <p:txBody>
          <a:bodyPr wrap="square" lIns="0" tIns="0" rIns="0" bIns="0" rtlCol="0" anchor="ctr"/>
          <a:lstStyle/>
          <a:p>
            <a:pPr indent="0" marL="0">
              <a:buNone/>
            </a:pPr>
            <a:r>
              <a:rPr lang="en-US" sz="1000" i="1" dirty="0">
                <a:solidFill>
                  <a:srgbClr val="1C7293"/>
                </a:solidFill>
                <a:latin typeface="Arial" pitchFamily="34" charset="0"/>
                <a:ea typeface="Arial" pitchFamily="34" charset="-122"/>
                <a:cs typeface="Arial" pitchFamily="34" charset="-120"/>
              </a:rPr>
              <a:t>Sur 140h mensuelles disponibles : 88h mobilisées, ~50h de marge pour le pilotage et les imprévus.</a:t>
            </a:r>
            <a:endParaRPr lang="en-US" sz="1000" dirty="0"/>
          </a:p>
        </p:txBody>
      </p:sp>
      <p:sp>
        <p:nvSpPr>
          <p:cNvPr id="29" name="Text 26"/>
          <p:cNvSpPr/>
          <p:nvPr/>
        </p:nvSpPr>
        <p:spPr>
          <a:xfrm>
            <a:off x="411480" y="4864608"/>
            <a:ext cx="4114800" cy="228600"/>
          </a:xfrm>
          <a:prstGeom prst="rect">
            <a:avLst/>
          </a:prstGeom>
          <a:noFill/>
          <a:ln/>
        </p:spPr>
        <p:txBody>
          <a:bodyPr wrap="square" lIns="0" tIns="0" rIns="0" bIns="0" rtlCol="0" anchor="ctr"/>
          <a:lstStyle/>
          <a:p>
            <a:pPr algn="l" indent="0" marL="0">
              <a:buNone/>
            </a:pPr>
            <a:r>
              <a:rPr lang="en-US" sz="800" dirty="0">
                <a:solidFill>
                  <a:srgbClr val="9AA9AE"/>
                </a:solidFill>
                <a:latin typeface="Arial" pitchFamily="34" charset="0"/>
                <a:ea typeface="Arial" pitchFamily="34" charset="-122"/>
                <a:cs typeface="Arial" pitchFamily="34" charset="-120"/>
              </a:rPr>
              <a:t>Rapport de mission — SPOUTNIK S62 — Pascal Varomme</a:t>
            </a:r>
            <a:endParaRPr lang="en-US" sz="800" dirty="0"/>
          </a:p>
        </p:txBody>
      </p:sp>
      <p:sp>
        <p:nvSpPr>
          <p:cNvPr id="30" name="Text 27"/>
          <p:cNvSpPr/>
          <p:nvPr/>
        </p:nvSpPr>
        <p:spPr>
          <a:xfrm>
            <a:off x="8366760" y="4864608"/>
            <a:ext cx="365760" cy="228600"/>
          </a:xfrm>
          <a:prstGeom prst="rect">
            <a:avLst/>
          </a:prstGeom>
          <a:noFill/>
          <a:ln/>
        </p:spPr>
        <p:txBody>
          <a:bodyPr wrap="square" lIns="0" tIns="0" rIns="0" bIns="0" rtlCol="0" anchor="ctr"/>
          <a:lstStyle/>
          <a:p>
            <a:pPr algn="r" indent="0" marL="0">
              <a:buNone/>
            </a:pPr>
            <a:r>
              <a:rPr lang="en-US" sz="800" dirty="0">
                <a:solidFill>
                  <a:srgbClr val="9AA9AE"/>
                </a:solidFill>
                <a:latin typeface="Arial" pitchFamily="34" charset="0"/>
                <a:ea typeface="Arial" pitchFamily="34" charset="-122"/>
                <a:cs typeface="Arial" pitchFamily="34" charset="-120"/>
              </a:rPr>
              <a:t>14</a:t>
            </a:r>
            <a:endParaRPr lang="en-US" sz="800" dirty="0"/>
          </a:p>
        </p:txBody>
      </p:sp>
      <p:sp>
        <p:nvSpPr>
          <p:cNvPr id="31" name="Shape 28"/>
          <p:cNvSpPr/>
          <p:nvPr/>
        </p:nvSpPr>
        <p:spPr>
          <a:xfrm>
            <a:off x="6583680" y="406908"/>
            <a:ext cx="82296" cy="82296"/>
          </a:xfrm>
          <a:prstGeom prst="ellipse">
            <a:avLst/>
          </a:prstGeom>
          <a:solidFill>
            <a:srgbClr val="C7D6DB"/>
          </a:solidFill>
          <a:ln/>
        </p:spPr>
      </p:sp>
      <p:sp>
        <p:nvSpPr>
          <p:cNvPr id="32" name="Shape 29"/>
          <p:cNvSpPr/>
          <p:nvPr/>
        </p:nvSpPr>
        <p:spPr>
          <a:xfrm>
            <a:off x="6624828" y="448056"/>
            <a:ext cx="434340" cy="0"/>
          </a:xfrm>
          <a:prstGeom prst="line">
            <a:avLst/>
          </a:prstGeom>
          <a:noFill/>
          <a:ln w="12700">
            <a:solidFill>
              <a:srgbClr val="C7D6DB"/>
            </a:solidFill>
            <a:prstDash val="solid"/>
          </a:ln>
        </p:spPr>
      </p:sp>
      <p:sp>
        <p:nvSpPr>
          <p:cNvPr id="33" name="Shape 30"/>
          <p:cNvSpPr/>
          <p:nvPr/>
        </p:nvSpPr>
        <p:spPr>
          <a:xfrm>
            <a:off x="7100316" y="406908"/>
            <a:ext cx="82296" cy="82296"/>
          </a:xfrm>
          <a:prstGeom prst="ellipse">
            <a:avLst/>
          </a:prstGeom>
          <a:solidFill>
            <a:srgbClr val="C7D6DB"/>
          </a:solidFill>
          <a:ln/>
        </p:spPr>
      </p:sp>
      <p:sp>
        <p:nvSpPr>
          <p:cNvPr id="34" name="Shape 31"/>
          <p:cNvSpPr/>
          <p:nvPr/>
        </p:nvSpPr>
        <p:spPr>
          <a:xfrm>
            <a:off x="7141464" y="448056"/>
            <a:ext cx="434340" cy="0"/>
          </a:xfrm>
          <a:prstGeom prst="line">
            <a:avLst/>
          </a:prstGeom>
          <a:noFill/>
          <a:ln w="12700">
            <a:solidFill>
              <a:srgbClr val="C7D6DB"/>
            </a:solidFill>
            <a:prstDash val="solid"/>
          </a:ln>
        </p:spPr>
      </p:sp>
      <p:sp>
        <p:nvSpPr>
          <p:cNvPr id="35" name="Shape 32"/>
          <p:cNvSpPr/>
          <p:nvPr/>
        </p:nvSpPr>
        <p:spPr>
          <a:xfrm>
            <a:off x="7616952" y="406908"/>
            <a:ext cx="82296" cy="82296"/>
          </a:xfrm>
          <a:prstGeom prst="ellipse">
            <a:avLst/>
          </a:prstGeom>
          <a:solidFill>
            <a:srgbClr val="C7D6DB"/>
          </a:solidFill>
          <a:ln/>
        </p:spPr>
      </p:sp>
      <p:sp>
        <p:nvSpPr>
          <p:cNvPr id="36" name="Shape 33"/>
          <p:cNvSpPr/>
          <p:nvPr/>
        </p:nvSpPr>
        <p:spPr>
          <a:xfrm>
            <a:off x="7658100" y="448056"/>
            <a:ext cx="434340" cy="0"/>
          </a:xfrm>
          <a:prstGeom prst="line">
            <a:avLst/>
          </a:prstGeom>
          <a:noFill/>
          <a:ln w="12700">
            <a:solidFill>
              <a:srgbClr val="C7D6DB"/>
            </a:solidFill>
            <a:prstDash val="solid"/>
          </a:ln>
        </p:spPr>
      </p:sp>
      <p:sp>
        <p:nvSpPr>
          <p:cNvPr id="37" name="Shape 34"/>
          <p:cNvSpPr/>
          <p:nvPr/>
        </p:nvSpPr>
        <p:spPr>
          <a:xfrm>
            <a:off x="8133588" y="406908"/>
            <a:ext cx="82296" cy="82296"/>
          </a:xfrm>
          <a:prstGeom prst="ellipse">
            <a:avLst/>
          </a:prstGeom>
          <a:solidFill>
            <a:srgbClr val="E8743B"/>
          </a:solidFill>
          <a:ln/>
        </p:spPr>
      </p:sp>
      <p:sp>
        <p:nvSpPr>
          <p:cNvPr id="38" name="Shape 35"/>
          <p:cNvSpPr/>
          <p:nvPr/>
        </p:nvSpPr>
        <p:spPr>
          <a:xfrm>
            <a:off x="8174736" y="448056"/>
            <a:ext cx="434340" cy="0"/>
          </a:xfrm>
          <a:prstGeom prst="line">
            <a:avLst/>
          </a:prstGeom>
          <a:noFill/>
          <a:ln w="12700">
            <a:solidFill>
              <a:srgbClr val="C7D6DB"/>
            </a:solidFill>
            <a:prstDash val="solid"/>
          </a:ln>
        </p:spPr>
      </p:sp>
      <p:sp>
        <p:nvSpPr>
          <p:cNvPr id="39" name="Shape 36"/>
          <p:cNvSpPr/>
          <p:nvPr/>
        </p:nvSpPr>
        <p:spPr>
          <a:xfrm>
            <a:off x="8650224" y="406908"/>
            <a:ext cx="82296" cy="82296"/>
          </a:xfrm>
          <a:prstGeom prst="ellipse">
            <a:avLst/>
          </a:prstGeom>
          <a:solidFill>
            <a:srgbClr val="C7D6DB"/>
          </a:solidFill>
          <a:ln/>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92608"/>
            <a:ext cx="8321040" cy="256032"/>
          </a:xfrm>
          <a:prstGeom prst="rect">
            <a:avLst/>
          </a:prstGeom>
          <a:noFill/>
          <a:ln/>
        </p:spPr>
        <p:txBody>
          <a:bodyPr wrap="square" lIns="0" tIns="0" rIns="0" bIns="0" rtlCol="0" anchor="ctr"/>
          <a:lstStyle/>
          <a:p>
            <a:pPr indent="0" marL="0">
              <a:buNone/>
            </a:pPr>
            <a:r>
              <a:rPr lang="en-US" sz="1100" b="1" spc="150" kern="0" dirty="0">
                <a:solidFill>
                  <a:srgbClr val="E8743B"/>
                </a:solidFill>
                <a:latin typeface="Arial" pitchFamily="34" charset="0"/>
                <a:ea typeface="Arial" pitchFamily="34" charset="-122"/>
                <a:cs typeface="Arial" pitchFamily="34" charset="-120"/>
              </a:rPr>
              <a:t>PARTIE 3 — VISION LONG TERME</a:t>
            </a:r>
            <a:endParaRPr lang="en-US" sz="1100" dirty="0"/>
          </a:p>
        </p:txBody>
      </p:sp>
      <p:sp>
        <p:nvSpPr>
          <p:cNvPr id="3" name="Text 1"/>
          <p:cNvSpPr/>
          <p:nvPr/>
        </p:nvSpPr>
        <p:spPr>
          <a:xfrm>
            <a:off x="411480" y="530352"/>
            <a:ext cx="8321040" cy="566928"/>
          </a:xfrm>
          <a:prstGeom prst="rect">
            <a:avLst/>
          </a:prstGeom>
          <a:noFill/>
          <a:ln/>
        </p:spPr>
        <p:txBody>
          <a:bodyPr wrap="square" lIns="0" tIns="0" rIns="0" bIns="0" rtlCol="0" anchor="t"/>
          <a:lstStyle/>
          <a:p>
            <a:pPr indent="0" marL="0">
              <a:buNone/>
            </a:pPr>
            <a:r>
              <a:rPr lang="en-US" sz="2500" b="1" dirty="0">
                <a:solidFill>
                  <a:srgbClr val="0B3D5C"/>
                </a:solidFill>
                <a:latin typeface="Arial" pitchFamily="34" charset="0"/>
                <a:ea typeface="Arial" pitchFamily="34" charset="-122"/>
                <a:cs typeface="Arial" pitchFamily="34" charset="-120"/>
              </a:rPr>
              <a:t>Un pipeline d’acquisition pour My Sport Session</a:t>
            </a:r>
            <a:endParaRPr lang="en-US" sz="2500" dirty="0"/>
          </a:p>
        </p:txBody>
      </p:sp>
      <p:sp>
        <p:nvSpPr>
          <p:cNvPr id="4" name="Shape 2"/>
          <p:cNvSpPr/>
          <p:nvPr/>
        </p:nvSpPr>
        <p:spPr>
          <a:xfrm>
            <a:off x="411480" y="1280160"/>
            <a:ext cx="2679192" cy="2011680"/>
          </a:xfrm>
          <a:prstGeom prst="roundRect">
            <a:avLst>
              <a:gd name="adj" fmla="val 3636"/>
            </a:avLst>
          </a:prstGeom>
          <a:solidFill>
            <a:srgbClr val="EDF2F4"/>
          </a:solidFill>
          <a:ln/>
          <a:effectLst>
            <a:outerShdw sx="100000" sy="100000" kx="0" ky="0" algn="bl" rotWithShape="0" blurRad="88900" dist="25400" dir="5400000">
              <a:srgbClr val="0B3D5C">
                <a:alpha val="12000"/>
              </a:srgbClr>
            </a:outerShdw>
          </a:effectLst>
        </p:spPr>
      </p:sp>
      <p:sp>
        <p:nvSpPr>
          <p:cNvPr id="5" name="Shape 3"/>
          <p:cNvSpPr/>
          <p:nvPr/>
        </p:nvSpPr>
        <p:spPr>
          <a:xfrm>
            <a:off x="1476756" y="1508760"/>
            <a:ext cx="548640" cy="548640"/>
          </a:xfrm>
          <a:prstGeom prst="ellipse">
            <a:avLst/>
          </a:prstGeom>
          <a:solidFill>
            <a:srgbClr val="0B3D5C"/>
          </a:solidFill>
          <a:ln/>
        </p:spPr>
      </p:sp>
      <p:pic>
        <p:nvPicPr>
          <p:cNvPr id="6" name="Image 0" descr="preencoded.png">    </p:cNvPr>
          <p:cNvPicPr>
            <a:picLocks noChangeAspect="1"/>
          </p:cNvPicPr>
          <p:nvPr/>
        </p:nvPicPr>
        <p:blipFill>
          <a:blip r:embed="rId1"/>
          <a:stretch>
            <a:fillRect/>
          </a:stretch>
        </p:blipFill>
        <p:spPr>
          <a:xfrm>
            <a:off x="1619402" y="1651406"/>
            <a:ext cx="263347" cy="263347"/>
          </a:xfrm>
          <a:prstGeom prst="rect">
            <a:avLst/>
          </a:prstGeom>
        </p:spPr>
      </p:pic>
      <p:sp>
        <p:nvSpPr>
          <p:cNvPr id="7" name="Text 4"/>
          <p:cNvSpPr/>
          <p:nvPr/>
        </p:nvSpPr>
        <p:spPr>
          <a:xfrm>
            <a:off x="594360" y="2240280"/>
            <a:ext cx="2313432" cy="502920"/>
          </a:xfrm>
          <a:prstGeom prst="rect">
            <a:avLst/>
          </a:prstGeom>
          <a:noFill/>
          <a:ln/>
        </p:spPr>
        <p:txBody>
          <a:bodyPr wrap="square" lIns="0" tIns="0" rIns="0" bIns="0" rtlCol="0" anchor="t"/>
          <a:lstStyle/>
          <a:p>
            <a:pPr algn="ctr" indent="0" marL="0">
              <a:lnSpc>
                <a:spcPct val="110000"/>
              </a:lnSpc>
              <a:buNone/>
            </a:pPr>
            <a:r>
              <a:rPr lang="en-US" sz="1200" b="1" dirty="0">
                <a:solidFill>
                  <a:srgbClr val="0B3D5C"/>
                </a:solidFill>
                <a:latin typeface="Arial" pitchFamily="34" charset="0"/>
                <a:ea typeface="Arial" pitchFamily="34" charset="-122"/>
                <a:cs typeface="Arial" pitchFamily="34" charset="-120"/>
              </a:rPr>
              <a:t>My Sport Business accompagne</a:t>
            </a:r>
            <a:endParaRPr lang="en-US" sz="1200" dirty="0"/>
          </a:p>
        </p:txBody>
      </p:sp>
      <p:sp>
        <p:nvSpPr>
          <p:cNvPr id="8" name="Text 5"/>
          <p:cNvSpPr/>
          <p:nvPr/>
        </p:nvSpPr>
        <p:spPr>
          <a:xfrm>
            <a:off x="594360" y="2743200"/>
            <a:ext cx="2313432" cy="502920"/>
          </a:xfrm>
          <a:prstGeom prst="rect">
            <a:avLst/>
          </a:prstGeom>
          <a:noFill/>
          <a:ln/>
        </p:spPr>
        <p:txBody>
          <a:bodyPr wrap="square" lIns="0" tIns="0" rIns="0" bIns="0" rtlCol="0" anchor="t"/>
          <a:lstStyle/>
          <a:p>
            <a:pPr algn="ctr" indent="0" marL="0">
              <a:lnSpc>
                <a:spcPct val="115000"/>
              </a:lnSpc>
              <a:buNone/>
            </a:pPr>
            <a:r>
              <a:rPr lang="en-US" sz="950" dirty="0">
                <a:solidFill>
                  <a:srgbClr val="5B6B73"/>
                </a:solidFill>
                <a:latin typeface="Arial" pitchFamily="34" charset="0"/>
                <a:ea typeface="Arial" pitchFamily="34" charset="-122"/>
                <a:cs typeface="Arial" pitchFamily="34" charset="-120"/>
              </a:rPr>
              <a:t>le client, quel que soit son logiciel de réservation actuel</a:t>
            </a:r>
            <a:endParaRPr lang="en-US" sz="950" dirty="0"/>
          </a:p>
        </p:txBody>
      </p:sp>
      <p:sp>
        <p:nvSpPr>
          <p:cNvPr id="9" name="Shape 6"/>
          <p:cNvSpPr/>
          <p:nvPr/>
        </p:nvSpPr>
        <p:spPr>
          <a:xfrm rot="5400000">
            <a:off x="3099816" y="2148840"/>
            <a:ext cx="146304" cy="146304"/>
          </a:xfrm>
          <a:prstGeom prst="triangle">
            <a:avLst/>
          </a:prstGeom>
          <a:solidFill>
            <a:srgbClr val="E8743B"/>
          </a:solidFill>
          <a:ln/>
        </p:spPr>
      </p:sp>
      <p:sp>
        <p:nvSpPr>
          <p:cNvPr id="10" name="Shape 7"/>
          <p:cNvSpPr/>
          <p:nvPr/>
        </p:nvSpPr>
        <p:spPr>
          <a:xfrm>
            <a:off x="3255264" y="1280160"/>
            <a:ext cx="2679192" cy="2011680"/>
          </a:xfrm>
          <a:prstGeom prst="roundRect">
            <a:avLst>
              <a:gd name="adj" fmla="val 3636"/>
            </a:avLst>
          </a:prstGeom>
          <a:solidFill>
            <a:srgbClr val="EDF2F4"/>
          </a:solidFill>
          <a:ln/>
          <a:effectLst>
            <a:outerShdw sx="100000" sy="100000" kx="0" ky="0" algn="bl" rotWithShape="0" blurRad="88900" dist="25400" dir="5400000">
              <a:srgbClr val="0B3D5C">
                <a:alpha val="12000"/>
              </a:srgbClr>
            </a:outerShdw>
          </a:effectLst>
        </p:spPr>
      </p:sp>
      <p:sp>
        <p:nvSpPr>
          <p:cNvPr id="11" name="Shape 8"/>
          <p:cNvSpPr/>
          <p:nvPr/>
        </p:nvSpPr>
        <p:spPr>
          <a:xfrm>
            <a:off x="4320540" y="1508760"/>
            <a:ext cx="548640" cy="548640"/>
          </a:xfrm>
          <a:prstGeom prst="ellipse">
            <a:avLst/>
          </a:prstGeom>
          <a:solidFill>
            <a:srgbClr val="0B3D5C"/>
          </a:solidFill>
          <a:ln/>
        </p:spPr>
      </p:sp>
      <p:pic>
        <p:nvPicPr>
          <p:cNvPr id="12" name="Image 1" descr="preencoded.png">    </p:cNvPr>
          <p:cNvPicPr>
            <a:picLocks noChangeAspect="1"/>
          </p:cNvPicPr>
          <p:nvPr/>
        </p:nvPicPr>
        <p:blipFill>
          <a:blip r:embed="rId2"/>
          <a:stretch>
            <a:fillRect/>
          </a:stretch>
        </p:blipFill>
        <p:spPr>
          <a:xfrm>
            <a:off x="4463186" y="1651406"/>
            <a:ext cx="263347" cy="263347"/>
          </a:xfrm>
          <a:prstGeom prst="rect">
            <a:avLst/>
          </a:prstGeom>
        </p:spPr>
      </p:pic>
      <p:sp>
        <p:nvSpPr>
          <p:cNvPr id="13" name="Text 9"/>
          <p:cNvSpPr/>
          <p:nvPr/>
        </p:nvSpPr>
        <p:spPr>
          <a:xfrm>
            <a:off x="3438144" y="2240280"/>
            <a:ext cx="2313432" cy="502920"/>
          </a:xfrm>
          <a:prstGeom prst="rect">
            <a:avLst/>
          </a:prstGeom>
          <a:noFill/>
          <a:ln/>
        </p:spPr>
        <p:txBody>
          <a:bodyPr wrap="square" lIns="0" tIns="0" rIns="0" bIns="0" rtlCol="0" anchor="t"/>
          <a:lstStyle/>
          <a:p>
            <a:pPr algn="ctr" indent="0" marL="0">
              <a:lnSpc>
                <a:spcPct val="110000"/>
              </a:lnSpc>
              <a:buNone/>
            </a:pPr>
            <a:r>
              <a:rPr lang="en-US" sz="1200" b="1" dirty="0">
                <a:solidFill>
                  <a:srgbClr val="0B3D5C"/>
                </a:solidFill>
                <a:latin typeface="Arial" pitchFamily="34" charset="0"/>
                <a:ea typeface="Arial" pitchFamily="34" charset="-122"/>
                <a:cs typeface="Arial" pitchFamily="34" charset="-120"/>
              </a:rPr>
              <a:t>Une relation de confiance s’installe</a:t>
            </a:r>
            <a:endParaRPr lang="en-US" sz="1200" dirty="0"/>
          </a:p>
        </p:txBody>
      </p:sp>
      <p:sp>
        <p:nvSpPr>
          <p:cNvPr id="14" name="Text 10"/>
          <p:cNvSpPr/>
          <p:nvPr/>
        </p:nvSpPr>
        <p:spPr>
          <a:xfrm>
            <a:off x="3438144" y="2743200"/>
            <a:ext cx="2313432" cy="502920"/>
          </a:xfrm>
          <a:prstGeom prst="rect">
            <a:avLst/>
          </a:prstGeom>
          <a:noFill/>
          <a:ln/>
        </p:spPr>
        <p:txBody>
          <a:bodyPr wrap="square" lIns="0" tIns="0" rIns="0" bIns="0" rtlCol="0" anchor="t"/>
          <a:lstStyle/>
          <a:p>
            <a:pPr algn="ctr" indent="0" marL="0">
              <a:lnSpc>
                <a:spcPct val="115000"/>
              </a:lnSpc>
              <a:buNone/>
            </a:pPr>
            <a:r>
              <a:rPr lang="en-US" sz="950" dirty="0">
                <a:solidFill>
                  <a:srgbClr val="5B6B73"/>
                </a:solidFill>
                <a:latin typeface="Arial" pitchFamily="34" charset="0"/>
                <a:ea typeface="Arial" pitchFamily="34" charset="-122"/>
                <a:cs typeface="Arial" pitchFamily="34" charset="-120"/>
              </a:rPr>
              <a:t>avec le gérant, indépendamment de My Sport Session</a:t>
            </a:r>
            <a:endParaRPr lang="en-US" sz="950" dirty="0"/>
          </a:p>
        </p:txBody>
      </p:sp>
      <p:sp>
        <p:nvSpPr>
          <p:cNvPr id="15" name="Shape 11"/>
          <p:cNvSpPr/>
          <p:nvPr/>
        </p:nvSpPr>
        <p:spPr>
          <a:xfrm rot="5400000">
            <a:off x="5943600" y="2148840"/>
            <a:ext cx="146304" cy="146304"/>
          </a:xfrm>
          <a:prstGeom prst="triangle">
            <a:avLst/>
          </a:prstGeom>
          <a:solidFill>
            <a:srgbClr val="E8743B"/>
          </a:solidFill>
          <a:ln/>
        </p:spPr>
      </p:sp>
      <p:sp>
        <p:nvSpPr>
          <p:cNvPr id="16" name="Shape 12"/>
          <p:cNvSpPr/>
          <p:nvPr/>
        </p:nvSpPr>
        <p:spPr>
          <a:xfrm>
            <a:off x="6099048" y="1280160"/>
            <a:ext cx="2679192" cy="2011680"/>
          </a:xfrm>
          <a:prstGeom prst="roundRect">
            <a:avLst>
              <a:gd name="adj" fmla="val 3636"/>
            </a:avLst>
          </a:prstGeom>
          <a:solidFill>
            <a:srgbClr val="EDF2F4"/>
          </a:solidFill>
          <a:ln/>
          <a:effectLst>
            <a:outerShdw sx="100000" sy="100000" kx="0" ky="0" algn="bl" rotWithShape="0" blurRad="88900" dist="25400" dir="5400000">
              <a:srgbClr val="0B3D5C">
                <a:alpha val="12000"/>
              </a:srgbClr>
            </a:outerShdw>
          </a:effectLst>
        </p:spPr>
      </p:sp>
      <p:sp>
        <p:nvSpPr>
          <p:cNvPr id="17" name="Shape 13"/>
          <p:cNvSpPr/>
          <p:nvPr/>
        </p:nvSpPr>
        <p:spPr>
          <a:xfrm>
            <a:off x="7164324" y="1508760"/>
            <a:ext cx="548640" cy="548640"/>
          </a:xfrm>
          <a:prstGeom prst="ellipse">
            <a:avLst/>
          </a:prstGeom>
          <a:solidFill>
            <a:srgbClr val="0B3D5C"/>
          </a:solidFill>
          <a:ln/>
        </p:spPr>
      </p:sp>
      <p:pic>
        <p:nvPicPr>
          <p:cNvPr id="18" name="Image 2" descr="preencoded.png">    </p:cNvPr>
          <p:cNvPicPr>
            <a:picLocks noChangeAspect="1"/>
          </p:cNvPicPr>
          <p:nvPr/>
        </p:nvPicPr>
        <p:blipFill>
          <a:blip r:embed="rId3"/>
          <a:stretch>
            <a:fillRect/>
          </a:stretch>
        </p:blipFill>
        <p:spPr>
          <a:xfrm>
            <a:off x="7306970" y="1651406"/>
            <a:ext cx="263347" cy="263347"/>
          </a:xfrm>
          <a:prstGeom prst="rect">
            <a:avLst/>
          </a:prstGeom>
        </p:spPr>
      </p:pic>
      <p:sp>
        <p:nvSpPr>
          <p:cNvPr id="19" name="Text 14"/>
          <p:cNvSpPr/>
          <p:nvPr/>
        </p:nvSpPr>
        <p:spPr>
          <a:xfrm>
            <a:off x="6281928" y="2240280"/>
            <a:ext cx="2313432" cy="502920"/>
          </a:xfrm>
          <a:prstGeom prst="rect">
            <a:avLst/>
          </a:prstGeom>
          <a:noFill/>
          <a:ln/>
        </p:spPr>
        <p:txBody>
          <a:bodyPr wrap="square" lIns="0" tIns="0" rIns="0" bIns="0" rtlCol="0" anchor="t"/>
          <a:lstStyle/>
          <a:p>
            <a:pPr algn="ctr" indent="0" marL="0">
              <a:lnSpc>
                <a:spcPct val="110000"/>
              </a:lnSpc>
              <a:buNone/>
            </a:pPr>
            <a:r>
              <a:rPr lang="en-US" sz="1200" b="1" dirty="0">
                <a:solidFill>
                  <a:srgbClr val="0B3D5C"/>
                </a:solidFill>
                <a:latin typeface="Arial" pitchFamily="34" charset="0"/>
                <a:ea typeface="Arial" pitchFamily="34" charset="-122"/>
                <a:cs typeface="Arial" pitchFamily="34" charset="-120"/>
              </a:rPr>
              <a:t>My Sport Session devient l’alternative</a:t>
            </a:r>
            <a:endParaRPr lang="en-US" sz="1200" dirty="0"/>
          </a:p>
        </p:txBody>
      </p:sp>
      <p:sp>
        <p:nvSpPr>
          <p:cNvPr id="20" name="Text 15"/>
          <p:cNvSpPr/>
          <p:nvPr/>
        </p:nvSpPr>
        <p:spPr>
          <a:xfrm>
            <a:off x="6281928" y="2743200"/>
            <a:ext cx="2313432" cy="502920"/>
          </a:xfrm>
          <a:prstGeom prst="rect">
            <a:avLst/>
          </a:prstGeom>
          <a:noFill/>
          <a:ln/>
        </p:spPr>
        <p:txBody>
          <a:bodyPr wrap="square" lIns="0" tIns="0" rIns="0" bIns="0" rtlCol="0" anchor="t"/>
          <a:lstStyle/>
          <a:p>
            <a:pPr algn="ctr" indent="0" marL="0">
              <a:lnSpc>
                <a:spcPct val="115000"/>
              </a:lnSpc>
              <a:buNone/>
            </a:pPr>
            <a:r>
              <a:rPr lang="en-US" sz="950" dirty="0">
                <a:solidFill>
                  <a:srgbClr val="5B6B73"/>
                </a:solidFill>
                <a:latin typeface="Arial" pitchFamily="34" charset="0"/>
                <a:ea typeface="Arial" pitchFamily="34" charset="-122"/>
                <a:cs typeface="Arial" pitchFamily="34" charset="-120"/>
              </a:rPr>
              <a:t>naturelle quand le gérant envisage de changer de logiciel</a:t>
            </a:r>
            <a:endParaRPr lang="en-US" sz="950" dirty="0"/>
          </a:p>
        </p:txBody>
      </p:sp>
      <p:sp>
        <p:nvSpPr>
          <p:cNvPr id="21" name="Shape 16"/>
          <p:cNvSpPr/>
          <p:nvPr/>
        </p:nvSpPr>
        <p:spPr>
          <a:xfrm>
            <a:off x="411480" y="3611880"/>
            <a:ext cx="8321040" cy="594360"/>
          </a:xfrm>
          <a:prstGeom prst="roundRect">
            <a:avLst>
              <a:gd name="adj" fmla="val 9231"/>
            </a:avLst>
          </a:prstGeom>
          <a:solidFill>
            <a:srgbClr val="0B3D5C"/>
          </a:solidFill>
          <a:ln/>
        </p:spPr>
      </p:sp>
      <p:sp>
        <p:nvSpPr>
          <p:cNvPr id="22" name="Text 17"/>
          <p:cNvSpPr/>
          <p:nvPr/>
        </p:nvSpPr>
        <p:spPr>
          <a:xfrm>
            <a:off x="594360" y="3611880"/>
            <a:ext cx="7955280" cy="594360"/>
          </a:xfrm>
          <a:prstGeom prst="rect">
            <a:avLst/>
          </a:prstGeom>
          <a:noFill/>
          <a:ln/>
        </p:spPr>
        <p:txBody>
          <a:bodyPr wrap="square" lIns="0" tIns="0" rIns="0" bIns="0" rtlCol="0" anchor="ctr"/>
          <a:lstStyle/>
          <a:p>
            <a:pPr indent="0" marL="0">
              <a:buNone/>
            </a:pPr>
            <a:r>
              <a:rPr lang="en-US" sz="1150" i="1" dirty="0">
                <a:solidFill>
                  <a:srgbClr val="FFFFFF"/>
                </a:solidFill>
                <a:latin typeface="Arial" pitchFamily="34" charset="0"/>
                <a:ea typeface="Arial" pitchFamily="34" charset="-122"/>
                <a:cs typeface="Arial" pitchFamily="34" charset="-120"/>
              </a:rPr>
              <a:t>Ce modèle transforme une dépense marketing en investissement d’acquisition à effet différé pour My Sport Session.</a:t>
            </a:r>
            <a:endParaRPr lang="en-US" sz="1150" dirty="0"/>
          </a:p>
        </p:txBody>
      </p:sp>
      <p:sp>
        <p:nvSpPr>
          <p:cNvPr id="23" name="Text 18"/>
          <p:cNvSpPr/>
          <p:nvPr/>
        </p:nvSpPr>
        <p:spPr>
          <a:xfrm>
            <a:off x="411480" y="4864608"/>
            <a:ext cx="4114800" cy="228600"/>
          </a:xfrm>
          <a:prstGeom prst="rect">
            <a:avLst/>
          </a:prstGeom>
          <a:noFill/>
          <a:ln/>
        </p:spPr>
        <p:txBody>
          <a:bodyPr wrap="square" lIns="0" tIns="0" rIns="0" bIns="0" rtlCol="0" anchor="ctr"/>
          <a:lstStyle/>
          <a:p>
            <a:pPr algn="l" indent="0" marL="0">
              <a:buNone/>
            </a:pPr>
            <a:r>
              <a:rPr lang="en-US" sz="800" dirty="0">
                <a:solidFill>
                  <a:srgbClr val="9AA9AE"/>
                </a:solidFill>
                <a:latin typeface="Arial" pitchFamily="34" charset="0"/>
                <a:ea typeface="Arial" pitchFamily="34" charset="-122"/>
                <a:cs typeface="Arial" pitchFamily="34" charset="-120"/>
              </a:rPr>
              <a:t>Rapport de mission — SPOUTNIK S62 — Pascal Varomme</a:t>
            </a:r>
            <a:endParaRPr lang="en-US" sz="800" dirty="0"/>
          </a:p>
        </p:txBody>
      </p:sp>
      <p:sp>
        <p:nvSpPr>
          <p:cNvPr id="24" name="Text 19"/>
          <p:cNvSpPr/>
          <p:nvPr/>
        </p:nvSpPr>
        <p:spPr>
          <a:xfrm>
            <a:off x="8366760" y="4864608"/>
            <a:ext cx="365760" cy="228600"/>
          </a:xfrm>
          <a:prstGeom prst="rect">
            <a:avLst/>
          </a:prstGeom>
          <a:noFill/>
          <a:ln/>
        </p:spPr>
        <p:txBody>
          <a:bodyPr wrap="square" lIns="0" tIns="0" rIns="0" bIns="0" rtlCol="0" anchor="ctr"/>
          <a:lstStyle/>
          <a:p>
            <a:pPr algn="r" indent="0" marL="0">
              <a:buNone/>
            </a:pPr>
            <a:r>
              <a:rPr lang="en-US" sz="800" dirty="0">
                <a:solidFill>
                  <a:srgbClr val="9AA9AE"/>
                </a:solidFill>
                <a:latin typeface="Arial" pitchFamily="34" charset="0"/>
                <a:ea typeface="Arial" pitchFamily="34" charset="-122"/>
                <a:cs typeface="Arial" pitchFamily="34" charset="-120"/>
              </a:rPr>
              <a:t>15</a:t>
            </a:r>
            <a:endParaRPr lang="en-US" sz="800" dirty="0"/>
          </a:p>
        </p:txBody>
      </p:sp>
      <p:sp>
        <p:nvSpPr>
          <p:cNvPr id="25" name="Shape 20"/>
          <p:cNvSpPr/>
          <p:nvPr/>
        </p:nvSpPr>
        <p:spPr>
          <a:xfrm>
            <a:off x="6583680" y="406908"/>
            <a:ext cx="82296" cy="82296"/>
          </a:xfrm>
          <a:prstGeom prst="ellipse">
            <a:avLst/>
          </a:prstGeom>
          <a:solidFill>
            <a:srgbClr val="C7D6DB"/>
          </a:solidFill>
          <a:ln/>
        </p:spPr>
      </p:sp>
      <p:sp>
        <p:nvSpPr>
          <p:cNvPr id="26" name="Shape 21"/>
          <p:cNvSpPr/>
          <p:nvPr/>
        </p:nvSpPr>
        <p:spPr>
          <a:xfrm>
            <a:off x="6624828" y="448056"/>
            <a:ext cx="434340" cy="0"/>
          </a:xfrm>
          <a:prstGeom prst="line">
            <a:avLst/>
          </a:prstGeom>
          <a:noFill/>
          <a:ln w="12700">
            <a:solidFill>
              <a:srgbClr val="C7D6DB"/>
            </a:solidFill>
            <a:prstDash val="solid"/>
          </a:ln>
        </p:spPr>
      </p:sp>
      <p:sp>
        <p:nvSpPr>
          <p:cNvPr id="27" name="Shape 22"/>
          <p:cNvSpPr/>
          <p:nvPr/>
        </p:nvSpPr>
        <p:spPr>
          <a:xfrm>
            <a:off x="7100316" y="406908"/>
            <a:ext cx="82296" cy="82296"/>
          </a:xfrm>
          <a:prstGeom prst="ellipse">
            <a:avLst/>
          </a:prstGeom>
          <a:solidFill>
            <a:srgbClr val="C7D6DB"/>
          </a:solidFill>
          <a:ln/>
        </p:spPr>
      </p:sp>
      <p:sp>
        <p:nvSpPr>
          <p:cNvPr id="28" name="Shape 23"/>
          <p:cNvSpPr/>
          <p:nvPr/>
        </p:nvSpPr>
        <p:spPr>
          <a:xfrm>
            <a:off x="7141464" y="448056"/>
            <a:ext cx="434340" cy="0"/>
          </a:xfrm>
          <a:prstGeom prst="line">
            <a:avLst/>
          </a:prstGeom>
          <a:noFill/>
          <a:ln w="12700">
            <a:solidFill>
              <a:srgbClr val="C7D6DB"/>
            </a:solidFill>
            <a:prstDash val="solid"/>
          </a:ln>
        </p:spPr>
      </p:sp>
      <p:sp>
        <p:nvSpPr>
          <p:cNvPr id="29" name="Shape 24"/>
          <p:cNvSpPr/>
          <p:nvPr/>
        </p:nvSpPr>
        <p:spPr>
          <a:xfrm>
            <a:off x="7616952" y="406908"/>
            <a:ext cx="82296" cy="82296"/>
          </a:xfrm>
          <a:prstGeom prst="ellipse">
            <a:avLst/>
          </a:prstGeom>
          <a:solidFill>
            <a:srgbClr val="C7D6DB"/>
          </a:solidFill>
          <a:ln/>
        </p:spPr>
      </p:sp>
      <p:sp>
        <p:nvSpPr>
          <p:cNvPr id="30" name="Shape 25"/>
          <p:cNvSpPr/>
          <p:nvPr/>
        </p:nvSpPr>
        <p:spPr>
          <a:xfrm>
            <a:off x="7658100" y="448056"/>
            <a:ext cx="434340" cy="0"/>
          </a:xfrm>
          <a:prstGeom prst="line">
            <a:avLst/>
          </a:prstGeom>
          <a:noFill/>
          <a:ln w="12700">
            <a:solidFill>
              <a:srgbClr val="C7D6DB"/>
            </a:solidFill>
            <a:prstDash val="solid"/>
          </a:ln>
        </p:spPr>
      </p:sp>
      <p:sp>
        <p:nvSpPr>
          <p:cNvPr id="31" name="Shape 26"/>
          <p:cNvSpPr/>
          <p:nvPr/>
        </p:nvSpPr>
        <p:spPr>
          <a:xfrm>
            <a:off x="8133588" y="406908"/>
            <a:ext cx="82296" cy="82296"/>
          </a:xfrm>
          <a:prstGeom prst="ellipse">
            <a:avLst/>
          </a:prstGeom>
          <a:solidFill>
            <a:srgbClr val="E8743B"/>
          </a:solidFill>
          <a:ln/>
        </p:spPr>
      </p:sp>
      <p:sp>
        <p:nvSpPr>
          <p:cNvPr id="32" name="Shape 27"/>
          <p:cNvSpPr/>
          <p:nvPr/>
        </p:nvSpPr>
        <p:spPr>
          <a:xfrm>
            <a:off x="8174736" y="448056"/>
            <a:ext cx="434340" cy="0"/>
          </a:xfrm>
          <a:prstGeom prst="line">
            <a:avLst/>
          </a:prstGeom>
          <a:noFill/>
          <a:ln w="12700">
            <a:solidFill>
              <a:srgbClr val="C7D6DB"/>
            </a:solidFill>
            <a:prstDash val="solid"/>
          </a:ln>
        </p:spPr>
      </p:sp>
      <p:sp>
        <p:nvSpPr>
          <p:cNvPr id="33" name="Shape 28"/>
          <p:cNvSpPr/>
          <p:nvPr/>
        </p:nvSpPr>
        <p:spPr>
          <a:xfrm>
            <a:off x="8650224" y="406908"/>
            <a:ext cx="82296" cy="82296"/>
          </a:xfrm>
          <a:prstGeom prst="ellipse">
            <a:avLst/>
          </a:prstGeom>
          <a:solidFill>
            <a:srgbClr val="C7D6DB"/>
          </a:solidFill>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92608"/>
            <a:ext cx="8321040" cy="256032"/>
          </a:xfrm>
          <a:prstGeom prst="rect">
            <a:avLst/>
          </a:prstGeom>
          <a:noFill/>
          <a:ln/>
        </p:spPr>
        <p:txBody>
          <a:bodyPr wrap="square" lIns="0" tIns="0" rIns="0" bIns="0" rtlCol="0" anchor="ctr"/>
          <a:lstStyle/>
          <a:p>
            <a:pPr indent="0" marL="0">
              <a:buNone/>
            </a:pPr>
            <a:r>
              <a:rPr lang="en-US" sz="1100" b="1" spc="150" kern="0" dirty="0">
                <a:solidFill>
                  <a:srgbClr val="E8743B"/>
                </a:solidFill>
                <a:latin typeface="Arial" pitchFamily="34" charset="0"/>
                <a:ea typeface="Arial" pitchFamily="34" charset="-122"/>
                <a:cs typeface="Arial" pitchFamily="34" charset="-120"/>
              </a:rPr>
              <a:t>PARTIE 4 — BILAN</a:t>
            </a:r>
            <a:endParaRPr lang="en-US" sz="1100" dirty="0"/>
          </a:p>
        </p:txBody>
      </p:sp>
      <p:sp>
        <p:nvSpPr>
          <p:cNvPr id="3" name="Text 1"/>
          <p:cNvSpPr/>
          <p:nvPr/>
        </p:nvSpPr>
        <p:spPr>
          <a:xfrm>
            <a:off x="411480" y="530352"/>
            <a:ext cx="8321040" cy="566928"/>
          </a:xfrm>
          <a:prstGeom prst="rect">
            <a:avLst/>
          </a:prstGeom>
          <a:noFill/>
          <a:ln/>
        </p:spPr>
        <p:txBody>
          <a:bodyPr wrap="square" lIns="0" tIns="0" rIns="0" bIns="0" rtlCol="0" anchor="t"/>
          <a:lstStyle/>
          <a:p>
            <a:pPr indent="0" marL="0">
              <a:buNone/>
            </a:pPr>
            <a:r>
              <a:rPr lang="en-US" sz="2500" b="1" dirty="0">
                <a:solidFill>
                  <a:srgbClr val="0B3D5C"/>
                </a:solidFill>
                <a:latin typeface="Arial" pitchFamily="34" charset="0"/>
                <a:ea typeface="Arial" pitchFamily="34" charset="-122"/>
                <a:cs typeface="Arial" pitchFamily="34" charset="-120"/>
              </a:rPr>
              <a:t>Cinq compétences mises à l’épreuve du réel</a:t>
            </a:r>
            <a:endParaRPr lang="en-US" sz="2500" dirty="0"/>
          </a:p>
        </p:txBody>
      </p:sp>
      <p:sp>
        <p:nvSpPr>
          <p:cNvPr id="4" name="Shape 2"/>
          <p:cNvSpPr/>
          <p:nvPr/>
        </p:nvSpPr>
        <p:spPr>
          <a:xfrm>
            <a:off x="411480" y="1188720"/>
            <a:ext cx="1576426" cy="2331720"/>
          </a:xfrm>
          <a:prstGeom prst="roundRect">
            <a:avLst>
              <a:gd name="adj" fmla="val 4060"/>
            </a:avLst>
          </a:prstGeom>
          <a:solidFill>
            <a:srgbClr val="EDF2F4"/>
          </a:solidFill>
          <a:ln/>
          <a:effectLst>
            <a:outerShdw sx="100000" sy="100000" kx="0" ky="0" algn="bl" rotWithShape="0" blurRad="88900" dist="25400" dir="5400000">
              <a:srgbClr val="0B3D5C">
                <a:alpha val="12000"/>
              </a:srgbClr>
            </a:outerShdw>
          </a:effectLst>
        </p:spPr>
      </p:sp>
      <p:sp>
        <p:nvSpPr>
          <p:cNvPr id="5" name="Shape 3"/>
          <p:cNvSpPr/>
          <p:nvPr/>
        </p:nvSpPr>
        <p:spPr>
          <a:xfrm>
            <a:off x="952805" y="1417320"/>
            <a:ext cx="493776" cy="493776"/>
          </a:xfrm>
          <a:prstGeom prst="ellipse">
            <a:avLst/>
          </a:prstGeom>
          <a:solidFill>
            <a:srgbClr val="0B3D5C"/>
          </a:solidFill>
          <a:ln/>
        </p:spPr>
      </p:sp>
      <p:pic>
        <p:nvPicPr>
          <p:cNvPr id="6" name="Image 0" descr="preencoded.png">    </p:cNvPr>
          <p:cNvPicPr>
            <a:picLocks noChangeAspect="1"/>
          </p:cNvPicPr>
          <p:nvPr/>
        </p:nvPicPr>
        <p:blipFill>
          <a:blip r:embed="rId1"/>
          <a:stretch>
            <a:fillRect/>
          </a:stretch>
        </p:blipFill>
        <p:spPr>
          <a:xfrm>
            <a:off x="1081187" y="1545702"/>
            <a:ext cx="237012" cy="237012"/>
          </a:xfrm>
          <a:prstGeom prst="rect">
            <a:avLst/>
          </a:prstGeom>
        </p:spPr>
      </p:pic>
      <p:sp>
        <p:nvSpPr>
          <p:cNvPr id="7" name="Text 4"/>
          <p:cNvSpPr/>
          <p:nvPr/>
        </p:nvSpPr>
        <p:spPr>
          <a:xfrm>
            <a:off x="502920" y="2029968"/>
            <a:ext cx="1393546" cy="502920"/>
          </a:xfrm>
          <a:prstGeom prst="rect">
            <a:avLst/>
          </a:prstGeom>
          <a:noFill/>
          <a:ln/>
        </p:spPr>
        <p:txBody>
          <a:bodyPr wrap="square" lIns="0" tIns="0" rIns="0" bIns="0" rtlCol="0" anchor="t"/>
          <a:lstStyle/>
          <a:p>
            <a:pPr algn="ctr" indent="0" marL="0">
              <a:lnSpc>
                <a:spcPct val="105000"/>
              </a:lnSpc>
              <a:buNone/>
            </a:pPr>
            <a:r>
              <a:rPr lang="en-US" sz="1000" b="1" dirty="0">
                <a:solidFill>
                  <a:srgbClr val="0B3D5C"/>
                </a:solidFill>
                <a:latin typeface="Arial" pitchFamily="34" charset="0"/>
                <a:ea typeface="Arial" pitchFamily="34" charset="-122"/>
                <a:cs typeface="Arial" pitchFamily="34" charset="-120"/>
              </a:rPr>
              <a:t>Stratégie d’acquisition</a:t>
            </a:r>
            <a:endParaRPr lang="en-US" sz="1000" dirty="0"/>
          </a:p>
        </p:txBody>
      </p:sp>
      <p:sp>
        <p:nvSpPr>
          <p:cNvPr id="8" name="Text 5"/>
          <p:cNvSpPr/>
          <p:nvPr/>
        </p:nvSpPr>
        <p:spPr>
          <a:xfrm>
            <a:off x="502920" y="2606040"/>
            <a:ext cx="1393546" cy="868680"/>
          </a:xfrm>
          <a:prstGeom prst="rect">
            <a:avLst/>
          </a:prstGeom>
          <a:noFill/>
          <a:ln/>
        </p:spPr>
        <p:txBody>
          <a:bodyPr wrap="square" lIns="0" tIns="0" rIns="0" bIns="0" rtlCol="0" anchor="t"/>
          <a:lstStyle/>
          <a:p>
            <a:pPr algn="ctr" indent="0" marL="0">
              <a:lnSpc>
                <a:spcPct val="115000"/>
              </a:lnSpc>
              <a:buNone/>
            </a:pPr>
            <a:r>
              <a:rPr lang="en-US" sz="800" dirty="0">
                <a:solidFill>
                  <a:srgbClr val="5B6B73"/>
                </a:solidFill>
                <a:latin typeface="Arial" pitchFamily="34" charset="0"/>
                <a:ea typeface="Arial" pitchFamily="34" charset="-122"/>
                <a:cs typeface="Arial" pitchFamily="34" charset="-120"/>
              </a:rPr>
              <a:t>Construite from scratch : cible, valeur, modèle économique</a:t>
            </a:r>
            <a:endParaRPr lang="en-US" sz="800" dirty="0"/>
          </a:p>
        </p:txBody>
      </p:sp>
      <p:sp>
        <p:nvSpPr>
          <p:cNvPr id="9" name="Shape 6"/>
          <p:cNvSpPr/>
          <p:nvPr/>
        </p:nvSpPr>
        <p:spPr>
          <a:xfrm>
            <a:off x="2097634" y="1188720"/>
            <a:ext cx="1576426" cy="2331720"/>
          </a:xfrm>
          <a:prstGeom prst="roundRect">
            <a:avLst>
              <a:gd name="adj" fmla="val 4060"/>
            </a:avLst>
          </a:prstGeom>
          <a:solidFill>
            <a:srgbClr val="EDF2F4"/>
          </a:solidFill>
          <a:ln/>
          <a:effectLst>
            <a:outerShdw sx="100000" sy="100000" kx="0" ky="0" algn="bl" rotWithShape="0" blurRad="88900" dist="25400" dir="5400000">
              <a:srgbClr val="0B3D5C">
                <a:alpha val="12000"/>
              </a:srgbClr>
            </a:outerShdw>
          </a:effectLst>
        </p:spPr>
      </p:sp>
      <p:sp>
        <p:nvSpPr>
          <p:cNvPr id="10" name="Shape 7"/>
          <p:cNvSpPr/>
          <p:nvPr/>
        </p:nvSpPr>
        <p:spPr>
          <a:xfrm>
            <a:off x="2638958" y="1417320"/>
            <a:ext cx="493776" cy="493776"/>
          </a:xfrm>
          <a:prstGeom prst="ellipse">
            <a:avLst/>
          </a:prstGeom>
          <a:solidFill>
            <a:srgbClr val="E8743B"/>
          </a:solidFill>
          <a:ln/>
        </p:spPr>
      </p:sp>
      <p:pic>
        <p:nvPicPr>
          <p:cNvPr id="11" name="Image 1" descr="preencoded.png">    </p:cNvPr>
          <p:cNvPicPr>
            <a:picLocks noChangeAspect="1"/>
          </p:cNvPicPr>
          <p:nvPr/>
        </p:nvPicPr>
        <p:blipFill>
          <a:blip r:embed="rId2"/>
          <a:stretch>
            <a:fillRect/>
          </a:stretch>
        </p:blipFill>
        <p:spPr>
          <a:xfrm>
            <a:off x="2767340" y="1545702"/>
            <a:ext cx="237012" cy="237012"/>
          </a:xfrm>
          <a:prstGeom prst="rect">
            <a:avLst/>
          </a:prstGeom>
        </p:spPr>
      </p:pic>
      <p:sp>
        <p:nvSpPr>
          <p:cNvPr id="12" name="Text 8"/>
          <p:cNvSpPr/>
          <p:nvPr/>
        </p:nvSpPr>
        <p:spPr>
          <a:xfrm>
            <a:off x="2189074" y="2029968"/>
            <a:ext cx="1393546" cy="502920"/>
          </a:xfrm>
          <a:prstGeom prst="rect">
            <a:avLst/>
          </a:prstGeom>
          <a:noFill/>
          <a:ln/>
        </p:spPr>
        <p:txBody>
          <a:bodyPr wrap="square" lIns="0" tIns="0" rIns="0" bIns="0" rtlCol="0" anchor="t"/>
          <a:lstStyle/>
          <a:p>
            <a:pPr algn="ctr" indent="0" marL="0">
              <a:lnSpc>
                <a:spcPct val="105000"/>
              </a:lnSpc>
              <a:buNone/>
            </a:pPr>
            <a:r>
              <a:rPr lang="en-US" sz="1000" b="1" dirty="0">
                <a:solidFill>
                  <a:srgbClr val="0B3D5C"/>
                </a:solidFill>
                <a:latin typeface="Arial" pitchFamily="34" charset="0"/>
                <a:ea typeface="Arial" pitchFamily="34" charset="-122"/>
                <a:cs typeface="Arial" pitchFamily="34" charset="-120"/>
              </a:rPr>
              <a:t>Growth Hacking</a:t>
            </a:r>
            <a:endParaRPr lang="en-US" sz="1000" dirty="0"/>
          </a:p>
        </p:txBody>
      </p:sp>
      <p:sp>
        <p:nvSpPr>
          <p:cNvPr id="13" name="Text 9"/>
          <p:cNvSpPr/>
          <p:nvPr/>
        </p:nvSpPr>
        <p:spPr>
          <a:xfrm>
            <a:off x="2189074" y="2606040"/>
            <a:ext cx="1393546" cy="868680"/>
          </a:xfrm>
          <a:prstGeom prst="rect">
            <a:avLst/>
          </a:prstGeom>
          <a:noFill/>
          <a:ln/>
        </p:spPr>
        <p:txBody>
          <a:bodyPr wrap="square" lIns="0" tIns="0" rIns="0" bIns="0" rtlCol="0" anchor="t"/>
          <a:lstStyle/>
          <a:p>
            <a:pPr algn="ctr" indent="0" marL="0">
              <a:lnSpc>
                <a:spcPct val="115000"/>
              </a:lnSpc>
              <a:buNone/>
            </a:pPr>
            <a:r>
              <a:rPr lang="en-US" sz="800" dirty="0">
                <a:solidFill>
                  <a:srgbClr val="5B6B73"/>
                </a:solidFill>
                <a:latin typeface="Arial" pitchFamily="34" charset="0"/>
                <a:ea typeface="Arial" pitchFamily="34" charset="-122"/>
                <a:cs typeface="Arial" pitchFamily="34" charset="-120"/>
              </a:rPr>
              <a:t>Identifier un levier, l’activer, mesurer l’impact (avis, GBP)</a:t>
            </a:r>
            <a:endParaRPr lang="en-US" sz="800" dirty="0"/>
          </a:p>
        </p:txBody>
      </p:sp>
      <p:sp>
        <p:nvSpPr>
          <p:cNvPr id="14" name="Shape 10"/>
          <p:cNvSpPr/>
          <p:nvPr/>
        </p:nvSpPr>
        <p:spPr>
          <a:xfrm>
            <a:off x="3783787" y="1188720"/>
            <a:ext cx="1576426" cy="2331720"/>
          </a:xfrm>
          <a:prstGeom prst="roundRect">
            <a:avLst>
              <a:gd name="adj" fmla="val 4060"/>
            </a:avLst>
          </a:prstGeom>
          <a:solidFill>
            <a:srgbClr val="EDF2F4"/>
          </a:solidFill>
          <a:ln/>
          <a:effectLst>
            <a:outerShdw sx="100000" sy="100000" kx="0" ky="0" algn="bl" rotWithShape="0" blurRad="88900" dist="25400" dir="5400000">
              <a:srgbClr val="0B3D5C">
                <a:alpha val="12000"/>
              </a:srgbClr>
            </a:outerShdw>
          </a:effectLst>
        </p:spPr>
      </p:sp>
      <p:sp>
        <p:nvSpPr>
          <p:cNvPr id="15" name="Shape 11"/>
          <p:cNvSpPr/>
          <p:nvPr/>
        </p:nvSpPr>
        <p:spPr>
          <a:xfrm>
            <a:off x="4325112" y="1417320"/>
            <a:ext cx="493776" cy="493776"/>
          </a:xfrm>
          <a:prstGeom prst="ellipse">
            <a:avLst/>
          </a:prstGeom>
          <a:solidFill>
            <a:srgbClr val="0B3D5C"/>
          </a:solidFill>
          <a:ln/>
        </p:spPr>
      </p:sp>
      <p:pic>
        <p:nvPicPr>
          <p:cNvPr id="16" name="Image 2" descr="preencoded.png">    </p:cNvPr>
          <p:cNvPicPr>
            <a:picLocks noChangeAspect="1"/>
          </p:cNvPicPr>
          <p:nvPr/>
        </p:nvPicPr>
        <p:blipFill>
          <a:blip r:embed="rId3"/>
          <a:stretch>
            <a:fillRect/>
          </a:stretch>
        </p:blipFill>
        <p:spPr>
          <a:xfrm>
            <a:off x="4453494" y="1545702"/>
            <a:ext cx="237012" cy="237012"/>
          </a:xfrm>
          <a:prstGeom prst="rect">
            <a:avLst/>
          </a:prstGeom>
        </p:spPr>
      </p:pic>
      <p:sp>
        <p:nvSpPr>
          <p:cNvPr id="17" name="Text 12"/>
          <p:cNvSpPr/>
          <p:nvPr/>
        </p:nvSpPr>
        <p:spPr>
          <a:xfrm>
            <a:off x="3875227" y="2029968"/>
            <a:ext cx="1393546" cy="502920"/>
          </a:xfrm>
          <a:prstGeom prst="rect">
            <a:avLst/>
          </a:prstGeom>
          <a:noFill/>
          <a:ln/>
        </p:spPr>
        <p:txBody>
          <a:bodyPr wrap="square" lIns="0" tIns="0" rIns="0" bIns="0" rtlCol="0" anchor="t"/>
          <a:lstStyle/>
          <a:p>
            <a:pPr algn="ctr" indent="0" marL="0">
              <a:lnSpc>
                <a:spcPct val="105000"/>
              </a:lnSpc>
              <a:buNone/>
            </a:pPr>
            <a:r>
              <a:rPr lang="en-US" sz="1000" b="1" dirty="0">
                <a:solidFill>
                  <a:srgbClr val="0B3D5C"/>
                </a:solidFill>
                <a:latin typeface="Arial" pitchFamily="34" charset="0"/>
                <a:ea typeface="Arial" pitchFamily="34" charset="-122"/>
                <a:cs typeface="Arial" pitchFamily="34" charset="-120"/>
              </a:rPr>
              <a:t>Cycles de vente B2B</a:t>
            </a:r>
            <a:endParaRPr lang="en-US" sz="1000" dirty="0"/>
          </a:p>
        </p:txBody>
      </p:sp>
      <p:sp>
        <p:nvSpPr>
          <p:cNvPr id="18" name="Text 13"/>
          <p:cNvSpPr/>
          <p:nvPr/>
        </p:nvSpPr>
        <p:spPr>
          <a:xfrm>
            <a:off x="3875227" y="2606040"/>
            <a:ext cx="1393546" cy="868680"/>
          </a:xfrm>
          <a:prstGeom prst="rect">
            <a:avLst/>
          </a:prstGeom>
          <a:noFill/>
          <a:ln/>
        </p:spPr>
        <p:txBody>
          <a:bodyPr wrap="square" lIns="0" tIns="0" rIns="0" bIns="0" rtlCol="0" anchor="t"/>
          <a:lstStyle/>
          <a:p>
            <a:pPr algn="ctr" indent="0" marL="0">
              <a:lnSpc>
                <a:spcPct val="115000"/>
              </a:lnSpc>
              <a:buNone/>
            </a:pPr>
            <a:r>
              <a:rPr lang="en-US" sz="800" dirty="0">
                <a:solidFill>
                  <a:srgbClr val="5B6B73"/>
                </a:solidFill>
                <a:latin typeface="Arial" pitchFamily="34" charset="0"/>
                <a:ea typeface="Arial" pitchFamily="34" charset="-122"/>
                <a:cs typeface="Arial" pitchFamily="34" charset="-120"/>
              </a:rPr>
              <a:t>Qualification, proposition, négociation, closing — 2 contrats</a:t>
            </a:r>
            <a:endParaRPr lang="en-US" sz="800" dirty="0"/>
          </a:p>
        </p:txBody>
      </p:sp>
      <p:sp>
        <p:nvSpPr>
          <p:cNvPr id="19" name="Shape 14"/>
          <p:cNvSpPr/>
          <p:nvPr/>
        </p:nvSpPr>
        <p:spPr>
          <a:xfrm>
            <a:off x="5469941" y="1188720"/>
            <a:ext cx="1576426" cy="2331720"/>
          </a:xfrm>
          <a:prstGeom prst="roundRect">
            <a:avLst>
              <a:gd name="adj" fmla="val 4060"/>
            </a:avLst>
          </a:prstGeom>
          <a:solidFill>
            <a:srgbClr val="EDF2F4"/>
          </a:solidFill>
          <a:ln/>
          <a:effectLst>
            <a:outerShdw sx="100000" sy="100000" kx="0" ky="0" algn="bl" rotWithShape="0" blurRad="88900" dist="25400" dir="5400000">
              <a:srgbClr val="0B3D5C">
                <a:alpha val="12000"/>
              </a:srgbClr>
            </a:outerShdw>
          </a:effectLst>
        </p:spPr>
      </p:sp>
      <p:sp>
        <p:nvSpPr>
          <p:cNvPr id="20" name="Shape 15"/>
          <p:cNvSpPr/>
          <p:nvPr/>
        </p:nvSpPr>
        <p:spPr>
          <a:xfrm>
            <a:off x="6011266" y="1417320"/>
            <a:ext cx="493776" cy="493776"/>
          </a:xfrm>
          <a:prstGeom prst="ellipse">
            <a:avLst/>
          </a:prstGeom>
          <a:solidFill>
            <a:srgbClr val="0B3D5C"/>
          </a:solidFill>
          <a:ln/>
        </p:spPr>
      </p:sp>
      <p:pic>
        <p:nvPicPr>
          <p:cNvPr id="21" name="Image 3" descr="preencoded.png">    </p:cNvPr>
          <p:cNvPicPr>
            <a:picLocks noChangeAspect="1"/>
          </p:cNvPicPr>
          <p:nvPr/>
        </p:nvPicPr>
        <p:blipFill>
          <a:blip r:embed="rId4"/>
          <a:stretch>
            <a:fillRect/>
          </a:stretch>
        </p:blipFill>
        <p:spPr>
          <a:xfrm>
            <a:off x="6139647" y="1545702"/>
            <a:ext cx="237012" cy="237012"/>
          </a:xfrm>
          <a:prstGeom prst="rect">
            <a:avLst/>
          </a:prstGeom>
        </p:spPr>
      </p:pic>
      <p:sp>
        <p:nvSpPr>
          <p:cNvPr id="22" name="Text 16"/>
          <p:cNvSpPr/>
          <p:nvPr/>
        </p:nvSpPr>
        <p:spPr>
          <a:xfrm>
            <a:off x="5561381" y="2029968"/>
            <a:ext cx="1393546" cy="502920"/>
          </a:xfrm>
          <a:prstGeom prst="rect">
            <a:avLst/>
          </a:prstGeom>
          <a:noFill/>
          <a:ln/>
        </p:spPr>
        <p:txBody>
          <a:bodyPr wrap="square" lIns="0" tIns="0" rIns="0" bIns="0" rtlCol="0" anchor="t"/>
          <a:lstStyle/>
          <a:p>
            <a:pPr algn="ctr" indent="0" marL="0">
              <a:lnSpc>
                <a:spcPct val="105000"/>
              </a:lnSpc>
              <a:buNone/>
            </a:pPr>
            <a:r>
              <a:rPr lang="en-US" sz="1000" b="1" dirty="0">
                <a:solidFill>
                  <a:srgbClr val="0B3D5C"/>
                </a:solidFill>
                <a:latin typeface="Arial" pitchFamily="34" charset="0"/>
                <a:ea typeface="Arial" pitchFamily="34" charset="-122"/>
                <a:cs typeface="Arial" pitchFamily="34" charset="-120"/>
              </a:rPr>
              <a:t>Pilotage de la performance</a:t>
            </a:r>
            <a:endParaRPr lang="en-US" sz="1000" dirty="0"/>
          </a:p>
        </p:txBody>
      </p:sp>
      <p:sp>
        <p:nvSpPr>
          <p:cNvPr id="23" name="Text 17"/>
          <p:cNvSpPr/>
          <p:nvPr/>
        </p:nvSpPr>
        <p:spPr>
          <a:xfrm>
            <a:off x="5561381" y="2606040"/>
            <a:ext cx="1393546" cy="868680"/>
          </a:xfrm>
          <a:prstGeom prst="rect">
            <a:avLst/>
          </a:prstGeom>
          <a:noFill/>
          <a:ln/>
        </p:spPr>
        <p:txBody>
          <a:bodyPr wrap="square" lIns="0" tIns="0" rIns="0" bIns="0" rtlCol="0" anchor="t"/>
          <a:lstStyle/>
          <a:p>
            <a:pPr algn="ctr" indent="0" marL="0">
              <a:lnSpc>
                <a:spcPct val="115000"/>
              </a:lnSpc>
              <a:buNone/>
            </a:pPr>
            <a:r>
              <a:rPr lang="en-US" sz="800" dirty="0">
                <a:solidFill>
                  <a:srgbClr val="5B6B73"/>
                </a:solidFill>
                <a:latin typeface="Arial" pitchFamily="34" charset="0"/>
                <a:ea typeface="Arial" pitchFamily="34" charset="-122"/>
                <a:cs typeface="Arial" pitchFamily="34" charset="-120"/>
              </a:rPr>
              <a:t>Tableaux de bord, métriques accessibles aux gérants</a:t>
            </a:r>
            <a:endParaRPr lang="en-US" sz="800" dirty="0"/>
          </a:p>
        </p:txBody>
      </p:sp>
      <p:sp>
        <p:nvSpPr>
          <p:cNvPr id="24" name="Shape 18"/>
          <p:cNvSpPr/>
          <p:nvPr/>
        </p:nvSpPr>
        <p:spPr>
          <a:xfrm>
            <a:off x="7156094" y="1188720"/>
            <a:ext cx="1576426" cy="2331720"/>
          </a:xfrm>
          <a:prstGeom prst="roundRect">
            <a:avLst>
              <a:gd name="adj" fmla="val 4060"/>
            </a:avLst>
          </a:prstGeom>
          <a:solidFill>
            <a:srgbClr val="EDF2F4"/>
          </a:solidFill>
          <a:ln/>
          <a:effectLst>
            <a:outerShdw sx="100000" sy="100000" kx="0" ky="0" algn="bl" rotWithShape="0" blurRad="88900" dist="25400" dir="5400000">
              <a:srgbClr val="0B3D5C">
                <a:alpha val="12000"/>
              </a:srgbClr>
            </a:outerShdw>
          </a:effectLst>
        </p:spPr>
      </p:sp>
      <p:sp>
        <p:nvSpPr>
          <p:cNvPr id="25" name="Shape 19"/>
          <p:cNvSpPr/>
          <p:nvPr/>
        </p:nvSpPr>
        <p:spPr>
          <a:xfrm>
            <a:off x="7697419" y="1417320"/>
            <a:ext cx="493776" cy="493776"/>
          </a:xfrm>
          <a:prstGeom prst="ellipse">
            <a:avLst/>
          </a:prstGeom>
          <a:solidFill>
            <a:srgbClr val="0B3D5C"/>
          </a:solidFill>
          <a:ln/>
        </p:spPr>
      </p:sp>
      <p:pic>
        <p:nvPicPr>
          <p:cNvPr id="26" name="Image 4" descr="preencoded.png">    </p:cNvPr>
          <p:cNvPicPr>
            <a:picLocks noChangeAspect="1"/>
          </p:cNvPicPr>
          <p:nvPr/>
        </p:nvPicPr>
        <p:blipFill>
          <a:blip r:embed="rId5"/>
          <a:stretch>
            <a:fillRect/>
          </a:stretch>
        </p:blipFill>
        <p:spPr>
          <a:xfrm>
            <a:off x="7825801" y="1545702"/>
            <a:ext cx="237012" cy="237012"/>
          </a:xfrm>
          <a:prstGeom prst="rect">
            <a:avLst/>
          </a:prstGeom>
        </p:spPr>
      </p:pic>
      <p:sp>
        <p:nvSpPr>
          <p:cNvPr id="27" name="Text 20"/>
          <p:cNvSpPr/>
          <p:nvPr/>
        </p:nvSpPr>
        <p:spPr>
          <a:xfrm>
            <a:off x="7247534" y="2029968"/>
            <a:ext cx="1393546" cy="502920"/>
          </a:xfrm>
          <a:prstGeom prst="rect">
            <a:avLst/>
          </a:prstGeom>
          <a:noFill/>
          <a:ln/>
        </p:spPr>
        <p:txBody>
          <a:bodyPr wrap="square" lIns="0" tIns="0" rIns="0" bIns="0" rtlCol="0" anchor="t"/>
          <a:lstStyle/>
          <a:p>
            <a:pPr algn="ctr" indent="0" marL="0">
              <a:lnSpc>
                <a:spcPct val="105000"/>
              </a:lnSpc>
              <a:buNone/>
            </a:pPr>
            <a:r>
              <a:rPr lang="en-US" sz="1000" b="1" dirty="0">
                <a:solidFill>
                  <a:srgbClr val="0B3D5C"/>
                </a:solidFill>
                <a:latin typeface="Arial" pitchFamily="34" charset="0"/>
                <a:ea typeface="Arial" pitchFamily="34" charset="-122"/>
                <a:cs typeface="Arial" pitchFamily="34" charset="-120"/>
              </a:rPr>
              <a:t>Outils marketing &amp; IA</a:t>
            </a:r>
            <a:endParaRPr lang="en-US" sz="1000" dirty="0"/>
          </a:p>
        </p:txBody>
      </p:sp>
      <p:sp>
        <p:nvSpPr>
          <p:cNvPr id="28" name="Text 21"/>
          <p:cNvSpPr/>
          <p:nvPr/>
        </p:nvSpPr>
        <p:spPr>
          <a:xfrm>
            <a:off x="7247534" y="2606040"/>
            <a:ext cx="1393546" cy="868680"/>
          </a:xfrm>
          <a:prstGeom prst="rect">
            <a:avLst/>
          </a:prstGeom>
          <a:noFill/>
          <a:ln/>
        </p:spPr>
        <p:txBody>
          <a:bodyPr wrap="square" lIns="0" tIns="0" rIns="0" bIns="0" rtlCol="0" anchor="t"/>
          <a:lstStyle/>
          <a:p>
            <a:pPr algn="ctr" indent="0" marL="0">
              <a:lnSpc>
                <a:spcPct val="115000"/>
              </a:lnSpc>
              <a:buNone/>
            </a:pPr>
            <a:r>
              <a:rPr lang="en-US" sz="800" dirty="0">
                <a:solidFill>
                  <a:srgbClr val="5B6B73"/>
                </a:solidFill>
                <a:latin typeface="Arial" pitchFamily="34" charset="0"/>
                <a:ea typeface="Arial" pitchFamily="34" charset="-122"/>
                <a:cs typeface="Arial" pitchFamily="34" charset="-120"/>
              </a:rPr>
              <a:t>Brevo, GA4, Meta, Vercel, Make, Claude, Antigravity</a:t>
            </a:r>
            <a:endParaRPr lang="en-US" sz="800" dirty="0"/>
          </a:p>
        </p:txBody>
      </p:sp>
      <p:sp>
        <p:nvSpPr>
          <p:cNvPr id="29" name="Shape 22"/>
          <p:cNvSpPr/>
          <p:nvPr/>
        </p:nvSpPr>
        <p:spPr>
          <a:xfrm>
            <a:off x="411480" y="3749040"/>
            <a:ext cx="8321040" cy="868680"/>
          </a:xfrm>
          <a:prstGeom prst="roundRect">
            <a:avLst>
              <a:gd name="adj" fmla="val 7368"/>
            </a:avLst>
          </a:prstGeom>
          <a:solidFill>
            <a:srgbClr val="FBE9DD"/>
          </a:solidFill>
          <a:ln/>
        </p:spPr>
      </p:sp>
      <p:sp>
        <p:nvSpPr>
          <p:cNvPr id="30" name="Shape 23"/>
          <p:cNvSpPr/>
          <p:nvPr/>
        </p:nvSpPr>
        <p:spPr>
          <a:xfrm>
            <a:off x="566928" y="3904488"/>
            <a:ext cx="457200" cy="457200"/>
          </a:xfrm>
          <a:prstGeom prst="ellipse">
            <a:avLst/>
          </a:prstGeom>
          <a:solidFill>
            <a:srgbClr val="E8743B"/>
          </a:solidFill>
          <a:ln/>
        </p:spPr>
      </p:sp>
      <p:pic>
        <p:nvPicPr>
          <p:cNvPr id="31" name="Image 5" descr="preencoded.png">    </p:cNvPr>
          <p:cNvPicPr>
            <a:picLocks noChangeAspect="1"/>
          </p:cNvPicPr>
          <p:nvPr/>
        </p:nvPicPr>
        <p:blipFill>
          <a:blip r:embed="rId6"/>
          <a:stretch>
            <a:fillRect/>
          </a:stretch>
        </p:blipFill>
        <p:spPr>
          <a:xfrm>
            <a:off x="685800" y="4023360"/>
            <a:ext cx="219456" cy="219456"/>
          </a:xfrm>
          <a:prstGeom prst="rect">
            <a:avLst/>
          </a:prstGeom>
        </p:spPr>
      </p:pic>
      <p:sp>
        <p:nvSpPr>
          <p:cNvPr id="32" name="Text 24"/>
          <p:cNvSpPr/>
          <p:nvPr/>
        </p:nvSpPr>
        <p:spPr>
          <a:xfrm>
            <a:off x="1188720" y="3749040"/>
            <a:ext cx="7406640" cy="868680"/>
          </a:xfrm>
          <a:prstGeom prst="rect">
            <a:avLst/>
          </a:prstGeom>
          <a:noFill/>
          <a:ln/>
        </p:spPr>
        <p:txBody>
          <a:bodyPr wrap="square" lIns="0" tIns="0" rIns="0" bIns="0" rtlCol="0" anchor="ctr"/>
          <a:lstStyle/>
          <a:p>
            <a:pPr indent="0" marL="0">
              <a:lnSpc>
                <a:spcPct val="120000"/>
              </a:lnSpc>
              <a:buNone/>
            </a:pPr>
            <a:r>
              <a:rPr lang="en-US" sz="1000" dirty="0">
                <a:solidFill>
                  <a:srgbClr val="7A3A1A"/>
                </a:solidFill>
                <a:latin typeface="Arial" pitchFamily="34" charset="0"/>
                <a:ea typeface="Arial" pitchFamily="34" charset="-122"/>
                <a:cs typeface="Arial" pitchFamily="34" charset="-120"/>
              </a:rPr>
              <a:t>Bilan humain — Face au départ des deux bizdev et au scepticisme initial de mon tuteur sur la capacité à vendre du service marketing à des clubs de sport, j’ai choisi de le démontrer par les faits plutôt que de le subir.</a:t>
            </a:r>
            <a:endParaRPr lang="en-US" sz="1000" dirty="0"/>
          </a:p>
        </p:txBody>
      </p:sp>
      <p:sp>
        <p:nvSpPr>
          <p:cNvPr id="33" name="Text 25"/>
          <p:cNvSpPr/>
          <p:nvPr/>
        </p:nvSpPr>
        <p:spPr>
          <a:xfrm>
            <a:off x="411480" y="4864608"/>
            <a:ext cx="4114800" cy="228600"/>
          </a:xfrm>
          <a:prstGeom prst="rect">
            <a:avLst/>
          </a:prstGeom>
          <a:noFill/>
          <a:ln/>
        </p:spPr>
        <p:txBody>
          <a:bodyPr wrap="square" lIns="0" tIns="0" rIns="0" bIns="0" rtlCol="0" anchor="ctr"/>
          <a:lstStyle/>
          <a:p>
            <a:pPr algn="l" indent="0" marL="0">
              <a:buNone/>
            </a:pPr>
            <a:r>
              <a:rPr lang="en-US" sz="800" dirty="0">
                <a:solidFill>
                  <a:srgbClr val="9AA9AE"/>
                </a:solidFill>
                <a:latin typeface="Arial" pitchFamily="34" charset="0"/>
                <a:ea typeface="Arial" pitchFamily="34" charset="-122"/>
                <a:cs typeface="Arial" pitchFamily="34" charset="-120"/>
              </a:rPr>
              <a:t>Rapport de mission — SPOUTNIK S62 — Pascal Varomme</a:t>
            </a:r>
            <a:endParaRPr lang="en-US" sz="800" dirty="0"/>
          </a:p>
        </p:txBody>
      </p:sp>
      <p:sp>
        <p:nvSpPr>
          <p:cNvPr id="34" name="Text 26"/>
          <p:cNvSpPr/>
          <p:nvPr/>
        </p:nvSpPr>
        <p:spPr>
          <a:xfrm>
            <a:off x="8366760" y="4864608"/>
            <a:ext cx="365760" cy="228600"/>
          </a:xfrm>
          <a:prstGeom prst="rect">
            <a:avLst/>
          </a:prstGeom>
          <a:noFill/>
          <a:ln/>
        </p:spPr>
        <p:txBody>
          <a:bodyPr wrap="square" lIns="0" tIns="0" rIns="0" bIns="0" rtlCol="0" anchor="ctr"/>
          <a:lstStyle/>
          <a:p>
            <a:pPr algn="r" indent="0" marL="0">
              <a:buNone/>
            </a:pPr>
            <a:r>
              <a:rPr lang="en-US" sz="800" dirty="0">
                <a:solidFill>
                  <a:srgbClr val="9AA9AE"/>
                </a:solidFill>
                <a:latin typeface="Arial" pitchFamily="34" charset="0"/>
                <a:ea typeface="Arial" pitchFamily="34" charset="-122"/>
                <a:cs typeface="Arial" pitchFamily="34" charset="-120"/>
              </a:rPr>
              <a:t>16</a:t>
            </a:r>
            <a:endParaRPr lang="en-US" sz="800" dirty="0"/>
          </a:p>
        </p:txBody>
      </p:sp>
      <p:sp>
        <p:nvSpPr>
          <p:cNvPr id="35" name="Shape 27"/>
          <p:cNvSpPr/>
          <p:nvPr/>
        </p:nvSpPr>
        <p:spPr>
          <a:xfrm>
            <a:off x="6583680" y="406908"/>
            <a:ext cx="82296" cy="82296"/>
          </a:xfrm>
          <a:prstGeom prst="ellipse">
            <a:avLst/>
          </a:prstGeom>
          <a:solidFill>
            <a:srgbClr val="C7D6DB"/>
          </a:solidFill>
          <a:ln/>
        </p:spPr>
      </p:sp>
      <p:sp>
        <p:nvSpPr>
          <p:cNvPr id="36" name="Shape 28"/>
          <p:cNvSpPr/>
          <p:nvPr/>
        </p:nvSpPr>
        <p:spPr>
          <a:xfrm>
            <a:off x="6624828" y="448056"/>
            <a:ext cx="434340" cy="0"/>
          </a:xfrm>
          <a:prstGeom prst="line">
            <a:avLst/>
          </a:prstGeom>
          <a:noFill/>
          <a:ln w="12700">
            <a:solidFill>
              <a:srgbClr val="C7D6DB"/>
            </a:solidFill>
            <a:prstDash val="solid"/>
          </a:ln>
        </p:spPr>
      </p:sp>
      <p:sp>
        <p:nvSpPr>
          <p:cNvPr id="37" name="Shape 29"/>
          <p:cNvSpPr/>
          <p:nvPr/>
        </p:nvSpPr>
        <p:spPr>
          <a:xfrm>
            <a:off x="7100316" y="406908"/>
            <a:ext cx="82296" cy="82296"/>
          </a:xfrm>
          <a:prstGeom prst="ellipse">
            <a:avLst/>
          </a:prstGeom>
          <a:solidFill>
            <a:srgbClr val="C7D6DB"/>
          </a:solidFill>
          <a:ln/>
        </p:spPr>
      </p:sp>
      <p:sp>
        <p:nvSpPr>
          <p:cNvPr id="38" name="Shape 30"/>
          <p:cNvSpPr/>
          <p:nvPr/>
        </p:nvSpPr>
        <p:spPr>
          <a:xfrm>
            <a:off x="7141464" y="448056"/>
            <a:ext cx="434340" cy="0"/>
          </a:xfrm>
          <a:prstGeom prst="line">
            <a:avLst/>
          </a:prstGeom>
          <a:noFill/>
          <a:ln w="12700">
            <a:solidFill>
              <a:srgbClr val="C7D6DB"/>
            </a:solidFill>
            <a:prstDash val="solid"/>
          </a:ln>
        </p:spPr>
      </p:sp>
      <p:sp>
        <p:nvSpPr>
          <p:cNvPr id="39" name="Shape 31"/>
          <p:cNvSpPr/>
          <p:nvPr/>
        </p:nvSpPr>
        <p:spPr>
          <a:xfrm>
            <a:off x="7616952" y="406908"/>
            <a:ext cx="82296" cy="82296"/>
          </a:xfrm>
          <a:prstGeom prst="ellipse">
            <a:avLst/>
          </a:prstGeom>
          <a:solidFill>
            <a:srgbClr val="C7D6DB"/>
          </a:solidFill>
          <a:ln/>
        </p:spPr>
      </p:sp>
      <p:sp>
        <p:nvSpPr>
          <p:cNvPr id="40" name="Shape 32"/>
          <p:cNvSpPr/>
          <p:nvPr/>
        </p:nvSpPr>
        <p:spPr>
          <a:xfrm>
            <a:off x="7658100" y="448056"/>
            <a:ext cx="434340" cy="0"/>
          </a:xfrm>
          <a:prstGeom prst="line">
            <a:avLst/>
          </a:prstGeom>
          <a:noFill/>
          <a:ln w="12700">
            <a:solidFill>
              <a:srgbClr val="C7D6DB"/>
            </a:solidFill>
            <a:prstDash val="solid"/>
          </a:ln>
        </p:spPr>
      </p:sp>
      <p:sp>
        <p:nvSpPr>
          <p:cNvPr id="41" name="Shape 33"/>
          <p:cNvSpPr/>
          <p:nvPr/>
        </p:nvSpPr>
        <p:spPr>
          <a:xfrm>
            <a:off x="8133588" y="406908"/>
            <a:ext cx="82296" cy="82296"/>
          </a:xfrm>
          <a:prstGeom prst="ellipse">
            <a:avLst/>
          </a:prstGeom>
          <a:solidFill>
            <a:srgbClr val="C7D6DB"/>
          </a:solidFill>
          <a:ln/>
        </p:spPr>
      </p:sp>
      <p:sp>
        <p:nvSpPr>
          <p:cNvPr id="42" name="Shape 34"/>
          <p:cNvSpPr/>
          <p:nvPr/>
        </p:nvSpPr>
        <p:spPr>
          <a:xfrm>
            <a:off x="8174736" y="448056"/>
            <a:ext cx="434340" cy="0"/>
          </a:xfrm>
          <a:prstGeom prst="line">
            <a:avLst/>
          </a:prstGeom>
          <a:noFill/>
          <a:ln w="12700">
            <a:solidFill>
              <a:srgbClr val="C7D6DB"/>
            </a:solidFill>
            <a:prstDash val="solid"/>
          </a:ln>
        </p:spPr>
      </p:sp>
      <p:sp>
        <p:nvSpPr>
          <p:cNvPr id="43" name="Shape 35"/>
          <p:cNvSpPr/>
          <p:nvPr/>
        </p:nvSpPr>
        <p:spPr>
          <a:xfrm>
            <a:off x="8650224" y="406908"/>
            <a:ext cx="82296" cy="82296"/>
          </a:xfrm>
          <a:prstGeom prst="ellipse">
            <a:avLst/>
          </a:prstGeom>
          <a:solidFill>
            <a:srgbClr val="E8743B"/>
          </a:solidFill>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11480" y="292608"/>
            <a:ext cx="8321040" cy="256032"/>
          </a:xfrm>
          <a:prstGeom prst="rect">
            <a:avLst/>
          </a:prstGeom>
          <a:noFill/>
          <a:ln/>
        </p:spPr>
        <p:txBody>
          <a:bodyPr wrap="square" lIns="0" tIns="0" rIns="0" bIns="0" rtlCol="0" anchor="ctr"/>
          <a:lstStyle/>
          <a:p>
            <a:pPr indent="0" marL="0">
              <a:buNone/>
            </a:pPr>
            <a:r>
              <a:rPr lang="en-US" sz="1100" b="1" spc="150" kern="0" dirty="0">
                <a:solidFill>
                  <a:srgbClr val="E8743B"/>
                </a:solidFill>
                <a:latin typeface="Arial" pitchFamily="34" charset="0"/>
                <a:ea typeface="Arial" pitchFamily="34" charset="-122"/>
                <a:cs typeface="Arial" pitchFamily="34" charset="-120"/>
              </a:rPr>
              <a:t>PARTIE 5 — CONCLUSION</a:t>
            </a:r>
            <a:endParaRPr lang="en-US" sz="1100" dirty="0"/>
          </a:p>
        </p:txBody>
      </p:sp>
      <p:sp>
        <p:nvSpPr>
          <p:cNvPr id="3" name="Text 1"/>
          <p:cNvSpPr/>
          <p:nvPr/>
        </p:nvSpPr>
        <p:spPr>
          <a:xfrm>
            <a:off x="411480" y="530352"/>
            <a:ext cx="8321040" cy="566928"/>
          </a:xfrm>
          <a:prstGeom prst="rect">
            <a:avLst/>
          </a:prstGeom>
          <a:noFill/>
          <a:ln/>
        </p:spPr>
        <p:txBody>
          <a:bodyPr wrap="square" lIns="0" tIns="0" rIns="0" bIns="0" rtlCol="0" anchor="t"/>
          <a:lstStyle/>
          <a:p>
            <a:pPr indent="0" marL="0">
              <a:buNone/>
            </a:pPr>
            <a:r>
              <a:rPr lang="en-US" sz="2500" b="1" dirty="0">
                <a:solidFill>
                  <a:srgbClr val="0B3D5C"/>
                </a:solidFill>
                <a:latin typeface="Arial" pitchFamily="34" charset="0"/>
                <a:ea typeface="Arial" pitchFamily="34" charset="-122"/>
                <a:cs typeface="Arial" pitchFamily="34" charset="-120"/>
              </a:rPr>
              <a:t>Différenciation validée, acquisition à construire</a:t>
            </a:r>
            <a:endParaRPr lang="en-US" sz="2500" dirty="0"/>
          </a:p>
        </p:txBody>
      </p:sp>
      <p:sp>
        <p:nvSpPr>
          <p:cNvPr id="4" name="Text 2"/>
          <p:cNvSpPr/>
          <p:nvPr/>
        </p:nvSpPr>
        <p:spPr>
          <a:xfrm>
            <a:off x="411480" y="1078992"/>
            <a:ext cx="8321040" cy="502920"/>
          </a:xfrm>
          <a:prstGeom prst="rect">
            <a:avLst/>
          </a:prstGeom>
          <a:noFill/>
          <a:ln/>
        </p:spPr>
        <p:txBody>
          <a:bodyPr wrap="square" lIns="0" tIns="0" rIns="0" bIns="0" rtlCol="0" anchor="ctr"/>
          <a:lstStyle/>
          <a:p>
            <a:pPr indent="0" marL="0">
              <a:lnSpc>
                <a:spcPct val="120000"/>
              </a:lnSpc>
              <a:buNone/>
            </a:pPr>
            <a:r>
              <a:rPr lang="en-US" sz="1100" i="1" dirty="0">
                <a:solidFill>
                  <a:srgbClr val="5B6B73"/>
                </a:solidFill>
                <a:latin typeface="Arial" pitchFamily="34" charset="0"/>
                <a:ea typeface="Arial" pitchFamily="34" charset="-122"/>
                <a:cs typeface="Arial" pitchFamily="34" charset="-120"/>
              </a:rPr>
              <a:t>Rappel — « Dans quelle mesure l’élargissement vers le marketing opérationnel constitue-t-il un levier de différenciation et d’acquisition durable ? »</a:t>
            </a:r>
            <a:endParaRPr lang="en-US" sz="1100" dirty="0"/>
          </a:p>
        </p:txBody>
      </p:sp>
      <p:sp>
        <p:nvSpPr>
          <p:cNvPr id="5" name="Shape 3"/>
          <p:cNvSpPr/>
          <p:nvPr/>
        </p:nvSpPr>
        <p:spPr>
          <a:xfrm>
            <a:off x="411480" y="1645920"/>
            <a:ext cx="4069080" cy="1920240"/>
          </a:xfrm>
          <a:prstGeom prst="roundRect">
            <a:avLst>
              <a:gd name="adj" fmla="val 3810"/>
            </a:avLst>
          </a:prstGeom>
          <a:solidFill>
            <a:srgbClr val="DCEEF2"/>
          </a:solidFill>
          <a:ln/>
          <a:effectLst>
            <a:outerShdw sx="100000" sy="100000" kx="0" ky="0" algn="bl" rotWithShape="0" blurRad="88900" dist="25400" dir="5400000">
              <a:srgbClr val="0B3D5C">
                <a:alpha val="12000"/>
              </a:srgbClr>
            </a:outerShdw>
          </a:effectLst>
        </p:spPr>
      </p:sp>
      <p:sp>
        <p:nvSpPr>
          <p:cNvPr id="6" name="Shape 4"/>
          <p:cNvSpPr/>
          <p:nvPr/>
        </p:nvSpPr>
        <p:spPr>
          <a:xfrm>
            <a:off x="594360" y="1810512"/>
            <a:ext cx="438912" cy="438912"/>
          </a:xfrm>
          <a:prstGeom prst="ellipse">
            <a:avLst/>
          </a:prstGeom>
          <a:solidFill>
            <a:srgbClr val="1C7293"/>
          </a:solidFill>
          <a:ln/>
        </p:spPr>
      </p:sp>
      <p:pic>
        <p:nvPicPr>
          <p:cNvPr id="7" name="Image 0" descr="preencoded.png">    </p:cNvPr>
          <p:cNvPicPr>
            <a:picLocks noChangeAspect="1"/>
          </p:cNvPicPr>
          <p:nvPr/>
        </p:nvPicPr>
        <p:blipFill>
          <a:blip r:embed="rId1"/>
          <a:stretch>
            <a:fillRect/>
          </a:stretch>
        </p:blipFill>
        <p:spPr>
          <a:xfrm>
            <a:off x="708477" y="1924629"/>
            <a:ext cx="210678" cy="210678"/>
          </a:xfrm>
          <a:prstGeom prst="rect">
            <a:avLst/>
          </a:prstGeom>
        </p:spPr>
      </p:pic>
      <p:sp>
        <p:nvSpPr>
          <p:cNvPr id="8" name="Text 5"/>
          <p:cNvSpPr/>
          <p:nvPr/>
        </p:nvSpPr>
        <p:spPr>
          <a:xfrm>
            <a:off x="1143000" y="1792224"/>
            <a:ext cx="3200400" cy="365760"/>
          </a:xfrm>
          <a:prstGeom prst="rect">
            <a:avLst/>
          </a:prstGeom>
          <a:noFill/>
          <a:ln/>
        </p:spPr>
        <p:txBody>
          <a:bodyPr wrap="square" lIns="0" tIns="0" rIns="0" bIns="0" rtlCol="0" anchor="ctr"/>
          <a:lstStyle/>
          <a:p>
            <a:pPr indent="0" marL="0">
              <a:buNone/>
            </a:pPr>
            <a:r>
              <a:rPr lang="en-US" sz="1350" b="1" dirty="0">
                <a:solidFill>
                  <a:srgbClr val="0B3D5C"/>
                </a:solidFill>
                <a:latin typeface="Arial" pitchFamily="34" charset="0"/>
                <a:ea typeface="Arial" pitchFamily="34" charset="-122"/>
                <a:cs typeface="Arial" pitchFamily="34" charset="-120"/>
              </a:rPr>
              <a:t>Différenciation : OUI</a:t>
            </a:r>
            <a:endParaRPr lang="en-US" sz="1350" dirty="0"/>
          </a:p>
        </p:txBody>
      </p:sp>
      <p:sp>
        <p:nvSpPr>
          <p:cNvPr id="9" name="Text 6"/>
          <p:cNvSpPr/>
          <p:nvPr/>
        </p:nvSpPr>
        <p:spPr>
          <a:xfrm>
            <a:off x="594360" y="2286000"/>
            <a:ext cx="3703320" cy="1188720"/>
          </a:xfrm>
          <a:prstGeom prst="rect">
            <a:avLst/>
          </a:prstGeom>
          <a:noFill/>
          <a:ln/>
        </p:spPr>
        <p:txBody>
          <a:bodyPr wrap="square" lIns="0" tIns="0" rIns="0" bIns="0" rtlCol="0" anchor="t"/>
          <a:lstStyle/>
          <a:p>
            <a:pPr indent="0" marL="0">
              <a:lnSpc>
                <a:spcPct val="120000"/>
              </a:lnSpc>
              <a:buNone/>
            </a:pPr>
            <a:r>
              <a:rPr lang="en-US" sz="1000" dirty="0">
                <a:solidFill>
                  <a:srgbClr val="5B6B73"/>
                </a:solidFill>
                <a:latin typeface="Arial" pitchFamily="34" charset="0"/>
                <a:ea typeface="Arial" pitchFamily="34" charset="-122"/>
                <a:cs typeface="Arial" pitchFamily="34" charset="-120"/>
              </a:rPr>
              <a:t>Aucun concurrent (Deciplus, B-Sport, Reservio) n’accompagne opérationnellement ses clients. Les 2 contrats signés, chez des clients de logiciels concurrents, le confirment.</a:t>
            </a:r>
            <a:endParaRPr lang="en-US" sz="1000" dirty="0"/>
          </a:p>
        </p:txBody>
      </p:sp>
      <p:sp>
        <p:nvSpPr>
          <p:cNvPr id="10" name="Shape 7"/>
          <p:cNvSpPr/>
          <p:nvPr/>
        </p:nvSpPr>
        <p:spPr>
          <a:xfrm>
            <a:off x="4663440" y="1645920"/>
            <a:ext cx="4069080" cy="1920240"/>
          </a:xfrm>
          <a:prstGeom prst="roundRect">
            <a:avLst>
              <a:gd name="adj" fmla="val 3810"/>
            </a:avLst>
          </a:prstGeom>
          <a:solidFill>
            <a:srgbClr val="FBE9DD"/>
          </a:solidFill>
          <a:ln/>
          <a:effectLst>
            <a:outerShdw sx="100000" sy="100000" kx="0" ky="0" algn="bl" rotWithShape="0" blurRad="88900" dist="25400" dir="5400000">
              <a:srgbClr val="0B3D5C">
                <a:alpha val="12000"/>
              </a:srgbClr>
            </a:outerShdw>
          </a:effectLst>
        </p:spPr>
      </p:sp>
      <p:sp>
        <p:nvSpPr>
          <p:cNvPr id="11" name="Shape 8"/>
          <p:cNvSpPr/>
          <p:nvPr/>
        </p:nvSpPr>
        <p:spPr>
          <a:xfrm>
            <a:off x="4846320" y="1810512"/>
            <a:ext cx="438912" cy="438912"/>
          </a:xfrm>
          <a:prstGeom prst="ellipse">
            <a:avLst/>
          </a:prstGeom>
          <a:solidFill>
            <a:srgbClr val="E8743B"/>
          </a:solidFill>
          <a:ln/>
        </p:spPr>
      </p:sp>
      <p:pic>
        <p:nvPicPr>
          <p:cNvPr id="12" name="Image 1" descr="preencoded.png">    </p:cNvPr>
          <p:cNvPicPr>
            <a:picLocks noChangeAspect="1"/>
          </p:cNvPicPr>
          <p:nvPr/>
        </p:nvPicPr>
        <p:blipFill>
          <a:blip r:embed="rId2"/>
          <a:stretch>
            <a:fillRect/>
          </a:stretch>
        </p:blipFill>
        <p:spPr>
          <a:xfrm>
            <a:off x="4960437" y="1924629"/>
            <a:ext cx="210678" cy="210678"/>
          </a:xfrm>
          <a:prstGeom prst="rect">
            <a:avLst/>
          </a:prstGeom>
        </p:spPr>
      </p:pic>
      <p:sp>
        <p:nvSpPr>
          <p:cNvPr id="13" name="Text 9"/>
          <p:cNvSpPr/>
          <p:nvPr/>
        </p:nvSpPr>
        <p:spPr>
          <a:xfrm>
            <a:off x="5394960" y="1755648"/>
            <a:ext cx="3200400" cy="502920"/>
          </a:xfrm>
          <a:prstGeom prst="rect">
            <a:avLst/>
          </a:prstGeom>
          <a:noFill/>
          <a:ln/>
        </p:spPr>
        <p:txBody>
          <a:bodyPr wrap="square" lIns="0" tIns="0" rIns="0" bIns="0" rtlCol="0" anchor="ctr"/>
          <a:lstStyle/>
          <a:p>
            <a:pPr indent="0" marL="0">
              <a:lnSpc>
                <a:spcPct val="105000"/>
              </a:lnSpc>
              <a:buNone/>
            </a:pPr>
            <a:r>
              <a:rPr lang="en-US" sz="1300" b="1" dirty="0">
                <a:solidFill>
                  <a:srgbClr val="0B3D5C"/>
                </a:solidFill>
                <a:latin typeface="Arial" pitchFamily="34" charset="0"/>
                <a:ea typeface="Arial" pitchFamily="34" charset="-122"/>
                <a:cs typeface="Arial" pitchFamily="34" charset="-120"/>
              </a:rPr>
              <a:t>Acquisition durable : en construction</a:t>
            </a:r>
            <a:endParaRPr lang="en-US" sz="1300" dirty="0"/>
          </a:p>
        </p:txBody>
      </p:sp>
      <p:sp>
        <p:nvSpPr>
          <p:cNvPr id="14" name="Text 10"/>
          <p:cNvSpPr/>
          <p:nvPr/>
        </p:nvSpPr>
        <p:spPr>
          <a:xfrm>
            <a:off x="4846320" y="2331720"/>
            <a:ext cx="3703320" cy="1143000"/>
          </a:xfrm>
          <a:prstGeom prst="rect">
            <a:avLst/>
          </a:prstGeom>
          <a:noFill/>
          <a:ln/>
        </p:spPr>
        <p:txBody>
          <a:bodyPr wrap="square" lIns="0" tIns="0" rIns="0" bIns="0" rtlCol="0" anchor="t"/>
          <a:lstStyle/>
          <a:p>
            <a:pPr indent="0" marL="0">
              <a:lnSpc>
                <a:spcPct val="120000"/>
              </a:lnSpc>
              <a:buNone/>
            </a:pPr>
            <a:r>
              <a:rPr lang="en-US" sz="1000" dirty="0">
                <a:solidFill>
                  <a:srgbClr val="7A3A1A"/>
                </a:solidFill>
                <a:latin typeface="Arial" pitchFamily="34" charset="0"/>
                <a:ea typeface="Arial" pitchFamily="34" charset="-122"/>
                <a:cs typeface="Arial" pitchFamily="34" charset="-120"/>
              </a:rPr>
              <a:t>Les fondations sont posées (résultats mesurés, offre formalisée) ; 3 leviers — consolider, ajuster le pricing, activer la synergie MSS — restent à exécuter.</a:t>
            </a:r>
            <a:endParaRPr lang="en-US" sz="1000" dirty="0"/>
          </a:p>
        </p:txBody>
      </p:sp>
      <p:sp>
        <p:nvSpPr>
          <p:cNvPr id="15" name="Shape 11"/>
          <p:cNvSpPr/>
          <p:nvPr/>
        </p:nvSpPr>
        <p:spPr>
          <a:xfrm>
            <a:off x="429768" y="3822192"/>
            <a:ext cx="8284464" cy="0"/>
          </a:xfrm>
          <a:prstGeom prst="line">
            <a:avLst/>
          </a:prstGeom>
          <a:noFill/>
          <a:ln w="12700">
            <a:solidFill>
              <a:srgbClr val="D7E2E5"/>
            </a:solidFill>
            <a:prstDash val="solid"/>
          </a:ln>
        </p:spPr>
      </p:sp>
      <p:sp>
        <p:nvSpPr>
          <p:cNvPr id="16" name="Text 12"/>
          <p:cNvSpPr/>
          <p:nvPr/>
        </p:nvSpPr>
        <p:spPr>
          <a:xfrm>
            <a:off x="411480" y="3950208"/>
            <a:ext cx="1371600" cy="365760"/>
          </a:xfrm>
          <a:prstGeom prst="rect">
            <a:avLst/>
          </a:prstGeom>
          <a:noFill/>
          <a:ln/>
        </p:spPr>
        <p:txBody>
          <a:bodyPr wrap="square" lIns="0" tIns="0" rIns="0" bIns="0" rtlCol="0" anchor="ctr"/>
          <a:lstStyle/>
          <a:p>
            <a:pPr indent="0" marL="0">
              <a:buNone/>
            </a:pPr>
            <a:r>
              <a:rPr lang="en-US" sz="1150" b="1" dirty="0">
                <a:solidFill>
                  <a:srgbClr val="E8743B"/>
                </a:solidFill>
                <a:latin typeface="Arial" pitchFamily="34" charset="0"/>
                <a:ea typeface="Arial" pitchFamily="34" charset="-122"/>
                <a:cs typeface="Arial" pitchFamily="34" charset="-120"/>
              </a:rPr>
              <a:t>Perspective — </a:t>
            </a:r>
            <a:endParaRPr lang="en-US" sz="1150" dirty="0"/>
          </a:p>
        </p:txBody>
      </p:sp>
      <p:sp>
        <p:nvSpPr>
          <p:cNvPr id="17" name="Text 13"/>
          <p:cNvSpPr/>
          <p:nvPr/>
        </p:nvSpPr>
        <p:spPr>
          <a:xfrm>
            <a:off x="411480" y="4160520"/>
            <a:ext cx="8321040" cy="594360"/>
          </a:xfrm>
          <a:prstGeom prst="rect">
            <a:avLst/>
          </a:prstGeom>
          <a:noFill/>
          <a:ln/>
        </p:spPr>
        <p:txBody>
          <a:bodyPr wrap="square" lIns="0" tIns="0" rIns="0" bIns="0" rtlCol="0" anchor="t"/>
          <a:lstStyle/>
          <a:p>
            <a:pPr indent="0" marL="0">
              <a:lnSpc>
                <a:spcPct val="120000"/>
              </a:lnSpc>
              <a:buNone/>
            </a:pPr>
            <a:r>
              <a:rPr lang="en-US" sz="1100" dirty="0">
                <a:solidFill>
                  <a:srgbClr val="5B6B73"/>
                </a:solidFill>
                <a:latin typeface="Arial" pitchFamily="34" charset="0"/>
                <a:ea typeface="Arial" pitchFamily="34" charset="-122"/>
                <a:cs typeface="Arial" pitchFamily="34" charset="-120"/>
              </a:rPr>
              <a:t>à titre personnel, je poursuis cette activité en agence externe pour My Sport Session, avec l’ambition de l’étendre aux TPE/PME locales (artisanat, services, B2C) qui manquent d’un accompagnement marketing accessible et orienté résultats.</a:t>
            </a:r>
            <a:endParaRPr lang="en-US" sz="1100" dirty="0"/>
          </a:p>
        </p:txBody>
      </p:sp>
      <p:sp>
        <p:nvSpPr>
          <p:cNvPr id="18" name="Text 14"/>
          <p:cNvSpPr/>
          <p:nvPr/>
        </p:nvSpPr>
        <p:spPr>
          <a:xfrm>
            <a:off x="411480" y="4864608"/>
            <a:ext cx="4114800" cy="228600"/>
          </a:xfrm>
          <a:prstGeom prst="rect">
            <a:avLst/>
          </a:prstGeom>
          <a:noFill/>
          <a:ln/>
        </p:spPr>
        <p:txBody>
          <a:bodyPr wrap="square" lIns="0" tIns="0" rIns="0" bIns="0" rtlCol="0" anchor="ctr"/>
          <a:lstStyle/>
          <a:p>
            <a:pPr algn="l" indent="0" marL="0">
              <a:buNone/>
            </a:pPr>
            <a:r>
              <a:rPr lang="en-US" sz="800" dirty="0">
                <a:solidFill>
                  <a:srgbClr val="9AA9AE"/>
                </a:solidFill>
                <a:latin typeface="Arial" pitchFamily="34" charset="0"/>
                <a:ea typeface="Arial" pitchFamily="34" charset="-122"/>
                <a:cs typeface="Arial" pitchFamily="34" charset="-120"/>
              </a:rPr>
              <a:t>Rapport de mission — SPOUTNIK S62 — Pascal Varomme</a:t>
            </a:r>
            <a:endParaRPr lang="en-US" sz="800" dirty="0"/>
          </a:p>
        </p:txBody>
      </p:sp>
      <p:sp>
        <p:nvSpPr>
          <p:cNvPr id="19" name="Text 15"/>
          <p:cNvSpPr/>
          <p:nvPr/>
        </p:nvSpPr>
        <p:spPr>
          <a:xfrm>
            <a:off x="8366760" y="4864608"/>
            <a:ext cx="365760" cy="228600"/>
          </a:xfrm>
          <a:prstGeom prst="rect">
            <a:avLst/>
          </a:prstGeom>
          <a:noFill/>
          <a:ln/>
        </p:spPr>
        <p:txBody>
          <a:bodyPr wrap="square" lIns="0" tIns="0" rIns="0" bIns="0" rtlCol="0" anchor="ctr"/>
          <a:lstStyle/>
          <a:p>
            <a:pPr algn="r" indent="0" marL="0">
              <a:buNone/>
            </a:pPr>
            <a:r>
              <a:rPr lang="en-US" sz="800" dirty="0">
                <a:solidFill>
                  <a:srgbClr val="9AA9AE"/>
                </a:solidFill>
                <a:latin typeface="Arial" pitchFamily="34" charset="0"/>
                <a:ea typeface="Arial" pitchFamily="34" charset="-122"/>
                <a:cs typeface="Arial" pitchFamily="34" charset="-120"/>
              </a:rPr>
              <a:t>17</a:t>
            </a:r>
            <a:endParaRPr lang="en-US" sz="800" dirty="0"/>
          </a:p>
        </p:txBody>
      </p:sp>
      <p:sp>
        <p:nvSpPr>
          <p:cNvPr id="20" name="Shape 16"/>
          <p:cNvSpPr/>
          <p:nvPr/>
        </p:nvSpPr>
        <p:spPr>
          <a:xfrm>
            <a:off x="6583680" y="406908"/>
            <a:ext cx="82296" cy="82296"/>
          </a:xfrm>
          <a:prstGeom prst="ellipse">
            <a:avLst/>
          </a:prstGeom>
          <a:solidFill>
            <a:srgbClr val="C7D6DB"/>
          </a:solidFill>
          <a:ln/>
        </p:spPr>
      </p:sp>
      <p:sp>
        <p:nvSpPr>
          <p:cNvPr id="21" name="Shape 17"/>
          <p:cNvSpPr/>
          <p:nvPr/>
        </p:nvSpPr>
        <p:spPr>
          <a:xfrm>
            <a:off x="6624828" y="448056"/>
            <a:ext cx="434340" cy="0"/>
          </a:xfrm>
          <a:prstGeom prst="line">
            <a:avLst/>
          </a:prstGeom>
          <a:noFill/>
          <a:ln w="12700">
            <a:solidFill>
              <a:srgbClr val="C7D6DB"/>
            </a:solidFill>
            <a:prstDash val="solid"/>
          </a:ln>
        </p:spPr>
      </p:sp>
      <p:sp>
        <p:nvSpPr>
          <p:cNvPr id="22" name="Shape 18"/>
          <p:cNvSpPr/>
          <p:nvPr/>
        </p:nvSpPr>
        <p:spPr>
          <a:xfrm>
            <a:off x="7100316" y="406908"/>
            <a:ext cx="82296" cy="82296"/>
          </a:xfrm>
          <a:prstGeom prst="ellipse">
            <a:avLst/>
          </a:prstGeom>
          <a:solidFill>
            <a:srgbClr val="C7D6DB"/>
          </a:solidFill>
          <a:ln/>
        </p:spPr>
      </p:sp>
      <p:sp>
        <p:nvSpPr>
          <p:cNvPr id="23" name="Shape 19"/>
          <p:cNvSpPr/>
          <p:nvPr/>
        </p:nvSpPr>
        <p:spPr>
          <a:xfrm>
            <a:off x="7141464" y="448056"/>
            <a:ext cx="434340" cy="0"/>
          </a:xfrm>
          <a:prstGeom prst="line">
            <a:avLst/>
          </a:prstGeom>
          <a:noFill/>
          <a:ln w="12700">
            <a:solidFill>
              <a:srgbClr val="C7D6DB"/>
            </a:solidFill>
            <a:prstDash val="solid"/>
          </a:ln>
        </p:spPr>
      </p:sp>
      <p:sp>
        <p:nvSpPr>
          <p:cNvPr id="24" name="Shape 20"/>
          <p:cNvSpPr/>
          <p:nvPr/>
        </p:nvSpPr>
        <p:spPr>
          <a:xfrm>
            <a:off x="7616952" y="406908"/>
            <a:ext cx="82296" cy="82296"/>
          </a:xfrm>
          <a:prstGeom prst="ellipse">
            <a:avLst/>
          </a:prstGeom>
          <a:solidFill>
            <a:srgbClr val="C7D6DB"/>
          </a:solidFill>
          <a:ln/>
        </p:spPr>
      </p:sp>
      <p:sp>
        <p:nvSpPr>
          <p:cNvPr id="25" name="Shape 21"/>
          <p:cNvSpPr/>
          <p:nvPr/>
        </p:nvSpPr>
        <p:spPr>
          <a:xfrm>
            <a:off x="7658100" y="448056"/>
            <a:ext cx="434340" cy="0"/>
          </a:xfrm>
          <a:prstGeom prst="line">
            <a:avLst/>
          </a:prstGeom>
          <a:noFill/>
          <a:ln w="12700">
            <a:solidFill>
              <a:srgbClr val="C7D6DB"/>
            </a:solidFill>
            <a:prstDash val="solid"/>
          </a:ln>
        </p:spPr>
      </p:sp>
      <p:sp>
        <p:nvSpPr>
          <p:cNvPr id="26" name="Shape 22"/>
          <p:cNvSpPr/>
          <p:nvPr/>
        </p:nvSpPr>
        <p:spPr>
          <a:xfrm>
            <a:off x="8133588" y="406908"/>
            <a:ext cx="82296" cy="82296"/>
          </a:xfrm>
          <a:prstGeom prst="ellipse">
            <a:avLst/>
          </a:prstGeom>
          <a:solidFill>
            <a:srgbClr val="C7D6DB"/>
          </a:solidFill>
          <a:ln/>
        </p:spPr>
      </p:sp>
      <p:sp>
        <p:nvSpPr>
          <p:cNvPr id="27" name="Shape 23"/>
          <p:cNvSpPr/>
          <p:nvPr/>
        </p:nvSpPr>
        <p:spPr>
          <a:xfrm>
            <a:off x="8174736" y="448056"/>
            <a:ext cx="434340" cy="0"/>
          </a:xfrm>
          <a:prstGeom prst="line">
            <a:avLst/>
          </a:prstGeom>
          <a:noFill/>
          <a:ln w="12700">
            <a:solidFill>
              <a:srgbClr val="C7D6DB"/>
            </a:solidFill>
            <a:prstDash val="solid"/>
          </a:ln>
        </p:spPr>
      </p:sp>
      <p:sp>
        <p:nvSpPr>
          <p:cNvPr id="28" name="Shape 24"/>
          <p:cNvSpPr/>
          <p:nvPr/>
        </p:nvSpPr>
        <p:spPr>
          <a:xfrm>
            <a:off x="8650224" y="406908"/>
            <a:ext cx="82296" cy="82296"/>
          </a:xfrm>
          <a:prstGeom prst="ellipse">
            <a:avLst/>
          </a:prstGeom>
          <a:solidFill>
            <a:srgbClr val="E8743B"/>
          </a:solidFill>
          <a:ln/>
        </p:spPr>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82A40"/>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3D5C">
              <a:alpha val="70000"/>
            </a:srgbClr>
          </a:solidFill>
          <a:ln/>
        </p:spPr>
      </p:sp>
      <p:sp>
        <p:nvSpPr>
          <p:cNvPr id="3" name="Shape 1"/>
          <p:cNvSpPr/>
          <p:nvPr/>
        </p:nvSpPr>
        <p:spPr>
          <a:xfrm>
            <a:off x="6675120" y="-1463040"/>
            <a:ext cx="4114800" cy="4114800"/>
          </a:xfrm>
          <a:prstGeom prst="ellipse">
            <a:avLst/>
          </a:prstGeom>
          <a:solidFill>
            <a:srgbClr val="1C7293">
              <a:alpha val="22000"/>
            </a:srgbClr>
          </a:solidFill>
          <a:ln/>
        </p:spPr>
      </p:sp>
      <p:sp>
        <p:nvSpPr>
          <p:cNvPr id="4" name="Shape 2"/>
          <p:cNvSpPr/>
          <p:nvPr/>
        </p:nvSpPr>
        <p:spPr>
          <a:xfrm>
            <a:off x="-1463040" y="3291840"/>
            <a:ext cx="3291840" cy="3291840"/>
          </a:xfrm>
          <a:prstGeom prst="ellipse">
            <a:avLst/>
          </a:prstGeom>
          <a:solidFill>
            <a:srgbClr val="E8743B">
              <a:alpha val="15000"/>
            </a:srgbClr>
          </a:solidFill>
          <a:ln/>
        </p:spPr>
      </p:sp>
      <p:sp>
        <p:nvSpPr>
          <p:cNvPr id="5" name="Shape 3"/>
          <p:cNvSpPr/>
          <p:nvPr/>
        </p:nvSpPr>
        <p:spPr>
          <a:xfrm>
            <a:off x="4160520" y="1371600"/>
            <a:ext cx="822960" cy="822960"/>
          </a:xfrm>
          <a:prstGeom prst="ellipse">
            <a:avLst/>
          </a:prstGeom>
          <a:solidFill>
            <a:srgbClr val="1C7293"/>
          </a:solidFill>
          <a:ln/>
        </p:spPr>
      </p:sp>
      <p:pic>
        <p:nvPicPr>
          <p:cNvPr id="6" name="Image 0" descr="preencoded.png">    </p:cNvPr>
          <p:cNvPicPr>
            <a:picLocks noChangeAspect="1"/>
          </p:cNvPicPr>
          <p:nvPr/>
        </p:nvPicPr>
        <p:blipFill>
          <a:blip r:embed="rId1"/>
          <a:stretch>
            <a:fillRect/>
          </a:stretch>
        </p:blipFill>
        <p:spPr>
          <a:xfrm>
            <a:off x="4374490" y="1585570"/>
            <a:ext cx="395021" cy="395021"/>
          </a:xfrm>
          <a:prstGeom prst="rect">
            <a:avLst/>
          </a:prstGeom>
        </p:spPr>
      </p:pic>
      <p:sp>
        <p:nvSpPr>
          <p:cNvPr id="7" name="Text 4"/>
          <p:cNvSpPr/>
          <p:nvPr/>
        </p:nvSpPr>
        <p:spPr>
          <a:xfrm>
            <a:off x="640080" y="2423160"/>
            <a:ext cx="7863840" cy="685800"/>
          </a:xfrm>
          <a:prstGeom prst="rect">
            <a:avLst/>
          </a:prstGeom>
          <a:noFill/>
          <a:ln/>
        </p:spPr>
        <p:txBody>
          <a:bodyPr wrap="square" lIns="0" tIns="0" rIns="0" bIns="0"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Merci de votre attention</a:t>
            </a:r>
            <a:endParaRPr lang="en-US" sz="3000" dirty="0"/>
          </a:p>
        </p:txBody>
      </p:sp>
      <p:sp>
        <p:nvSpPr>
          <p:cNvPr id="8" name="Text 5"/>
          <p:cNvSpPr/>
          <p:nvPr/>
        </p:nvSpPr>
        <p:spPr>
          <a:xfrm>
            <a:off x="640080" y="3108960"/>
            <a:ext cx="7863840" cy="457200"/>
          </a:xfrm>
          <a:prstGeom prst="rect">
            <a:avLst/>
          </a:prstGeom>
          <a:noFill/>
          <a:ln/>
        </p:spPr>
        <p:txBody>
          <a:bodyPr wrap="square" lIns="0" tIns="0" rIns="0" bIns="0" rtlCol="0" anchor="ctr"/>
          <a:lstStyle/>
          <a:p>
            <a:pPr algn="ctr" indent="0" marL="0">
              <a:buNone/>
            </a:pPr>
            <a:r>
              <a:rPr lang="en-US" sz="1600" b="1" dirty="0">
                <a:solidFill>
                  <a:srgbClr val="E8743B"/>
                </a:solidFill>
                <a:latin typeface="Arial" pitchFamily="34" charset="0"/>
                <a:ea typeface="Arial" pitchFamily="34" charset="-122"/>
                <a:cs typeface="Arial" pitchFamily="34" charset="-120"/>
              </a:rPr>
              <a:t>Questions ?</a:t>
            </a:r>
            <a:endParaRPr lang="en-US" sz="1600" dirty="0"/>
          </a:p>
        </p:txBody>
      </p:sp>
      <p:sp>
        <p:nvSpPr>
          <p:cNvPr id="9" name="Text 6"/>
          <p:cNvSpPr/>
          <p:nvPr/>
        </p:nvSpPr>
        <p:spPr>
          <a:xfrm>
            <a:off x="640080" y="4297680"/>
            <a:ext cx="7863840" cy="320040"/>
          </a:xfrm>
          <a:prstGeom prst="rect">
            <a:avLst/>
          </a:prstGeom>
          <a:noFill/>
          <a:ln/>
        </p:spPr>
        <p:txBody>
          <a:bodyPr wrap="square" lIns="0" tIns="0" rIns="0" bIns="0" rtlCol="0" anchor="ctr"/>
          <a:lstStyle/>
          <a:p>
            <a:pPr algn="ctr" indent="0" marL="0">
              <a:buNone/>
            </a:pPr>
            <a:r>
              <a:rPr lang="en-US" sz="1100" dirty="0">
                <a:solidFill>
                  <a:srgbClr val="9AB7C2"/>
                </a:solidFill>
                <a:latin typeface="Arial" pitchFamily="34" charset="0"/>
                <a:ea typeface="Arial" pitchFamily="34" charset="-122"/>
                <a:cs typeface="Arial" pitchFamily="34" charset="-120"/>
              </a:rPr>
              <a:t>Pascal Varomme · Promotion SPOUTNIK S62 · Rocket School · My Sport Session</a:t>
            </a:r>
            <a:endParaRPr lang="en-US" sz="1100" dirty="0"/>
          </a:p>
        </p:txBody>
      </p:sp>
      <p:sp>
        <p:nvSpPr>
          <p:cNvPr id="10" name="Text 7"/>
          <p:cNvSpPr/>
          <p:nvPr/>
        </p:nvSpPr>
        <p:spPr>
          <a:xfrm>
            <a:off x="411480" y="4864608"/>
            <a:ext cx="4114800" cy="228600"/>
          </a:xfrm>
          <a:prstGeom prst="rect">
            <a:avLst/>
          </a:prstGeom>
          <a:noFill/>
          <a:ln/>
        </p:spPr>
        <p:txBody>
          <a:bodyPr wrap="square" lIns="0" tIns="0" rIns="0" bIns="0" rtlCol="0" anchor="ctr"/>
          <a:lstStyle/>
          <a:p>
            <a:pPr algn="l" indent="0" marL="0">
              <a:buNone/>
            </a:pPr>
            <a:r>
              <a:rPr lang="en-US" sz="800" dirty="0">
                <a:solidFill>
                  <a:srgbClr val="7E97A0"/>
                </a:solidFill>
                <a:latin typeface="Arial" pitchFamily="34" charset="0"/>
                <a:ea typeface="Arial" pitchFamily="34" charset="-122"/>
                <a:cs typeface="Arial" pitchFamily="34" charset="-120"/>
              </a:rPr>
              <a:t>Rapport de mission — SPOUTNIK S62 — Pascal Varomme</a:t>
            </a:r>
            <a:endParaRPr lang="en-US" sz="800" dirty="0"/>
          </a:p>
        </p:txBody>
      </p:sp>
      <p:sp>
        <p:nvSpPr>
          <p:cNvPr id="11" name="Text 8"/>
          <p:cNvSpPr/>
          <p:nvPr/>
        </p:nvSpPr>
        <p:spPr>
          <a:xfrm>
            <a:off x="8366760" y="4864608"/>
            <a:ext cx="365760" cy="228600"/>
          </a:xfrm>
          <a:prstGeom prst="rect">
            <a:avLst/>
          </a:prstGeom>
          <a:noFill/>
          <a:ln/>
        </p:spPr>
        <p:txBody>
          <a:bodyPr wrap="square" lIns="0" tIns="0" rIns="0" bIns="0" rtlCol="0" anchor="ctr"/>
          <a:lstStyle/>
          <a:p>
            <a:pPr algn="r" indent="0" marL="0">
              <a:buNone/>
            </a:pPr>
            <a:r>
              <a:rPr lang="en-US" sz="800" dirty="0">
                <a:solidFill>
                  <a:srgbClr val="7E97A0"/>
                </a:solidFill>
                <a:latin typeface="Arial" pitchFamily="34" charset="0"/>
                <a:ea typeface="Arial" pitchFamily="34" charset="-122"/>
                <a:cs typeface="Arial" pitchFamily="34" charset="-120"/>
              </a:rPr>
              <a:t>18</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Rapport de mission – SPOUTNIK S62</dc:title>
  <dc:subject>PptxGenJS Presentation</dc:subject>
  <dc:creator>Pascal Varomme</dc:creator>
  <cp:lastModifiedBy>Pascal Varomme</cp:lastModifiedBy>
  <cp:revision>1</cp:revision>
  <dcterms:created xsi:type="dcterms:W3CDTF">2026-06-25T13:06:30Z</dcterms:created>
  <dcterms:modified xsi:type="dcterms:W3CDTF">2026-06-25T13:06:30Z</dcterms:modified>
</cp:coreProperties>
</file>